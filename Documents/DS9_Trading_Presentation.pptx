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 want to walk you through something I've been developing over the past several weeks — a system for managing our Diamond Money Press positions using Claude, Anthropic's AI assistant.
This isn't a theoretical exercise. What I'm going to show you is an actual trading session from February 10th, 2026 — a real Tuesday morning where we processed Alex's daily update, executed an Iron Condor, made some mistakes, caught them, and fixed them.
The goal is to show how a properly configured Claude Project can serve as a knowledgeable trading assistant that understands our strategy, tracks our positions, and helps manage the daily complexity of running Money Press Diamonds. And just as importantly, I want to be honest about where it works well and where the human still needs to stay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fundamental challenge. When you look at your TastyTrade account, the broker sees a flat list of puts and calls. It has no idea that three of those puts are your core Money Press income positions, five others are your protective anchors, and six more form a Gap Insurance spread.
But the Diamond Money Press system requires you to understand these categories. You need to know your core-to-anchor ratio — the Sacred Rule of one-to-one. You need to know whether your hedges are properly sized. You need to understand how your Gap Insurance relates to your overall delta.
This categorical understanding is what separates organized trading from just holding a bag of options. And it's exactly the kind of structured thinking that a properly trained AI assistant can help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Claude Project is more than just a chat window. Think of it as a persistent workspace that retains its configuration across every session.
For my trading, it has four key components. First, custom instructions — a detailed protocol that tells Claude how to run each trading session. Second, twenty-seven reference documents including our Strategy Guide, FAQ knowledge bases, and Alex's training materials. Third, connected tools including a persistent memory system and a position database. And fourth, the living Strategy Guide that Claude and I have built together over weeks of trading — capturing every conversion rule, every position management procedure, and every lesson learned.
The result is an assistant that doesn't start from scratch each morning. It knows the strategy, knows my account, and follows a consistent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trading session follows a four-phase protocol. This consistency is one of the biggest advantages of the system.
Phase one is Context Loading — Claude recalls recent journals, reads uploaded CSVs, queries the database, and immediately saves a snapshot. That last step is critical because file uploads don't persist between sessions.
Phase two is Intelligence Gathering — processing Alex's daily update, digesting the Insiders Chat, and assessing market conditions.
Phase three is Execution — building the trade plan with formal tickets, verifying orders through screenshot review, and updating the database on fills.
Phase four is Documentation — capturing lessons, saving the journal, and updating the Strategy Guide.
This same protocol runs every single session. No steps get skipped, no positions get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when I say "Good Morning, let's get started" and upload my two CSV files.
Claude runs through five automated steps — workspace verification, journal recall, CSV parsing, database cross-reference, and an immediate snapshot save. All five complete, and the output is a clean morning briefing showing every position, current Greeks, working GTC orders, and what needs to happen today.
All of this from a single message and two file uploads.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 the source of truth hierarchy.
At the top is TastyTrade — the broker. This is where actual positions and money live. The broker's view is reality.
Second is broker CSV exports — point-in-time snapshots of the broker's truth in portable format.
Third is our Neon database — our organizational layer that adds categories, tickets, and relationships. When it disagrees with the broker, we fix the database.
Fourth is Context Vault — our historical record, invaluable for continuity but subordinate to current broker data.
The database doesn't replace the broker — it enriches it. The broker knows you have fifteen short puts. The database knows which are core, which roll cadence they follow, and which order created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begins when I paste Alex's morning email. On February 10th, Alex put on an Iron Condor for tomorrow's expiration.
Claude immediately converts SPX strikes to XSP — divide by ten, round up. Then it generates a formal Trade Ticket with the specific legs, target credit, GTC closer, and source attribution. Every trade has a paper trail before execution even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 Ticket System captures intent before execution. Each ticket has a category, source attribution, expected legs, and target pricing. The flow: Plan, Execute with verification, Record in the database. Every entry traces back to a documented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order execution. I upload a screenshot before submitting. Claude checks strikes, direction, pricing, TIF, credit/debit — five of six checks pass. But quantity was 1 instead of 10, and neither of us caught it. Five out of six isn't good enough when the miss is 90% of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recovery timeline. Error detected at 6:56, fully resolved by 7:10. Fourteen minutes. And the 9 remaining contracts filled at a better price — 73 cents vs 55 cents. Total premium: $712 on 10 contracts. The system didn't prevent the error, but it caught it quickly and recovered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system working perfectly. When placing the GTC closer, my screenshot showed $0.80 debit — the current mid price. Claude immediately flagged it: that would close at a loss. The correct price is $0.10. Quick catch that prevented an expensive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processed 100+ chat messages into 7 actionable items. Key lesson: source authority matters. Alex's analysis drives decisions, member data is supplementary context. Claude initially gave both equal weight — I challenged it, and it self-corrected.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estimated +83 delta. TastyTrade showed -441. A 500+ point swing that tells opposite stories about risk. Claude only counted short puts and omitted everything else. Rule: always use the broker's live dashboard for portfolio Greeks.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AI-assisted trading is a dialogue, not delegation. Four patterns work: "How's this look?" for checkpoints, short fill confirmations, challenging the numbers, and direct feedback on errors. The relationship improves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strengths: consistent process, persistent memory, position categorization, automatic SPX-to-XSP translation, trade documentation with full audit trail, and information filtering that saves enormous time. When managing 30+ positions across five categories, this systematic support is the difference between organized trading and chaos.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ranked by priority. Two high: quantity verification and portfolio Greeks calculation. Two medium: source authority hierarchy and the inherent need for human verification. None are dealbreakers — they're rough edges smoothed out through the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five Excellent ratings, two Mixed/Corrected. Net result: 10-contract IC placed for $712 premium, all documented, three process lessons captured. Not perfect, but the system caught its errors and documented everything for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core tools. The Claude Project is the workspace itself. Context Vault is persistent memory that survives across conversations. The Neon database adds position categories the broker can't see. And the Trade Ticket System documents intent before every trade. Implementation details are a separate discussion — here I just want you to understand what each piece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sources: TastyTrade is the broker and ultimate source of truth. CSV exports are point-in-time snapshots that do NOT persist between sessions. The Strategy Guide is our living playbook. And Project Knowledge is the full 27-file reference library. They all work together in a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Strategy Guide is the backbone. It captures conversion tables, the Sacred Rule, position management procedures, Gap Insurance triggers, and Alex's principles. It evolves continuously: Alex teaches something, we add it. We discover a pattern, we document it. We make a mistake, we capture the lesson. Next session, Claude has it all. This is institutional knowledge building in real time. Over thirty pages and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virtuous cycle. Trade with tickets and verification. Document everything to database and vault. Learn by capturing errors and refining rules. Improve by updating the guide and instructions. Apply it all next session. Each revolution makes the system better. The quantity miss becomes a permanent check. The Greeks error becomes a permanent rule. Nothing is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five key takeaways.
First, the broker is always the source of truth. Your TastyTrade account holds the real positions and real money. Everything else serves that reality.
Second, the database enriches what the broker can't see. It adds the categorical understanding — core, anchor, hedge, gap insurance — that makes strategic management possible.
Third, document intent before execution, not after. The Trade Ticket System captures why you're making a trade at the moment you plan it, not retroactively from transaction data.
Fourth, AI-assisted trading is dialogue, not delegation. The human stays in the loop, challenges the AI when numbers don't match, and provides the judgment that the system can't.
And fifth, every error is a lesson that improves the system. The quantity miss, the Greeks calculation, the attribution issue — none of those were wasted. Each one made the next session better.
The value of this system isn't perfection. It's the ability to catch mistakes, learn from them, and continuously improve the process. That's what we're building here — one session at a time.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2011680" cy="548640"/>
          </a:xfrm>
          <a:prstGeom prst="rect">
            <a:avLst/>
          </a:prstGeom>
          <a:solidFill>
            <a:srgbClr val="FF9900"/>
          </a:solidFill>
          <a:ln/>
        </p:spPr>
      </p:sp>
      <p:sp>
        <p:nvSpPr>
          <p:cNvPr id="3" name="Shape 1"/>
          <p:cNvSpPr/>
          <p:nvPr/>
        </p:nvSpPr>
        <p:spPr>
          <a:xfrm>
            <a:off x="0" y="0"/>
            <a:ext cx="548640" cy="5143500"/>
          </a:xfrm>
          <a:prstGeom prst="rect">
            <a:avLst/>
          </a:prstGeom>
          <a:solidFill>
            <a:srgbClr val="FF9900"/>
          </a:solidFill>
          <a:ln/>
        </p:spPr>
      </p:sp>
      <p:sp>
        <p:nvSpPr>
          <p:cNvPr id="4" name="Shape 2"/>
          <p:cNvSpPr/>
          <p:nvPr/>
        </p:nvSpPr>
        <p:spPr>
          <a:xfrm>
            <a:off x="0" y="4594860"/>
            <a:ext cx="2011680" cy="548640"/>
          </a:xfrm>
          <a:prstGeom prst="rect">
            <a:avLst/>
          </a:prstGeom>
          <a:solidFill>
            <a:srgbClr val="CC99CC"/>
          </a:solidFill>
          <a:ln/>
        </p:spPr>
      </p:sp>
      <p:sp>
        <p:nvSpPr>
          <p:cNvPr id="5" name="Shape 3"/>
          <p:cNvSpPr/>
          <p:nvPr/>
        </p:nvSpPr>
        <p:spPr>
          <a:xfrm>
            <a:off x="457200" y="365760"/>
            <a:ext cx="1691640" cy="731520"/>
          </a:xfrm>
          <a:prstGeom prst="roundRect">
            <a:avLst>
              <a:gd name="adj" fmla="val 31250"/>
            </a:avLst>
          </a:prstGeom>
          <a:solidFill>
            <a:srgbClr val="0A0A12"/>
          </a:solidFill>
          <a:ln/>
        </p:spPr>
      </p:sp>
      <p:sp>
        <p:nvSpPr>
          <p:cNvPr id="6" name="Shape 4"/>
          <p:cNvSpPr/>
          <p:nvPr/>
        </p:nvSpPr>
        <p:spPr>
          <a:xfrm>
            <a:off x="457200" y="4069080"/>
            <a:ext cx="1691640" cy="731520"/>
          </a:xfrm>
          <a:prstGeom prst="roundRect">
            <a:avLst>
              <a:gd name="adj" fmla="val 31250"/>
            </a:avLst>
          </a:prstGeom>
          <a:solidFill>
            <a:srgbClr val="0A0A12"/>
          </a:solidFill>
          <a:ln/>
        </p:spPr>
      </p:sp>
      <p:sp>
        <p:nvSpPr>
          <p:cNvPr id="7" name="Shape 5"/>
          <p:cNvSpPr/>
          <p:nvPr/>
        </p:nvSpPr>
        <p:spPr>
          <a:xfrm>
            <a:off x="91440" y="1371600"/>
            <a:ext cx="365760" cy="228600"/>
          </a:xfrm>
          <a:prstGeom prst="rect">
            <a:avLst/>
          </a:prstGeom>
          <a:solidFill>
            <a:srgbClr val="FFCC99"/>
          </a:solidFill>
          <a:ln/>
        </p:spPr>
      </p:sp>
      <p:sp>
        <p:nvSpPr>
          <p:cNvPr id="8" name="Shape 6"/>
          <p:cNvSpPr/>
          <p:nvPr/>
        </p:nvSpPr>
        <p:spPr>
          <a:xfrm>
            <a:off x="91440" y="1691640"/>
            <a:ext cx="365760" cy="182880"/>
          </a:xfrm>
          <a:prstGeom prst="rect">
            <a:avLst/>
          </a:prstGeom>
          <a:solidFill>
            <a:srgbClr val="9999FF"/>
          </a:solidFill>
          <a:ln/>
        </p:spPr>
      </p:sp>
      <p:sp>
        <p:nvSpPr>
          <p:cNvPr id="9" name="Shape 7"/>
          <p:cNvSpPr/>
          <p:nvPr/>
        </p:nvSpPr>
        <p:spPr>
          <a:xfrm>
            <a:off x="91440" y="1965960"/>
            <a:ext cx="365760" cy="274320"/>
          </a:xfrm>
          <a:prstGeom prst="rect">
            <a:avLst/>
          </a:prstGeom>
          <a:solidFill>
            <a:srgbClr val="CC99CC"/>
          </a:solidFill>
          <a:ln/>
        </p:spPr>
      </p:sp>
      <p:sp>
        <p:nvSpPr>
          <p:cNvPr id="10" name="Shape 8"/>
          <p:cNvSpPr/>
          <p:nvPr/>
        </p:nvSpPr>
        <p:spPr>
          <a:xfrm>
            <a:off x="91440" y="2331720"/>
            <a:ext cx="365760" cy="137160"/>
          </a:xfrm>
          <a:prstGeom prst="rect">
            <a:avLst/>
          </a:prstGeom>
          <a:solidFill>
            <a:srgbClr val="66CCCC"/>
          </a:solidFill>
          <a:ln/>
        </p:spPr>
      </p:sp>
      <p:sp>
        <p:nvSpPr>
          <p:cNvPr id="11" name="Shape 9"/>
          <p:cNvSpPr/>
          <p:nvPr/>
        </p:nvSpPr>
        <p:spPr>
          <a:xfrm>
            <a:off x="91440" y="2560320"/>
            <a:ext cx="365760" cy="228600"/>
          </a:xfrm>
          <a:prstGeom prst="rect">
            <a:avLst/>
          </a:prstGeom>
          <a:solidFill>
            <a:srgbClr val="FFAA00"/>
          </a:solidFill>
          <a:ln/>
        </p:spPr>
      </p:sp>
      <p:sp>
        <p:nvSpPr>
          <p:cNvPr id="12" name="Shape 10"/>
          <p:cNvSpPr/>
          <p:nvPr/>
        </p:nvSpPr>
        <p:spPr>
          <a:xfrm>
            <a:off x="91440" y="2880360"/>
            <a:ext cx="365760" cy="182880"/>
          </a:xfrm>
          <a:prstGeom prst="rect">
            <a:avLst/>
          </a:prstGeom>
          <a:solidFill>
            <a:srgbClr val="9999FF"/>
          </a:solidFill>
          <a:ln/>
        </p:spPr>
      </p:sp>
      <p:sp>
        <p:nvSpPr>
          <p:cNvPr id="13" name="Shape 11"/>
          <p:cNvSpPr/>
          <p:nvPr/>
        </p:nvSpPr>
        <p:spPr>
          <a:xfrm>
            <a:off x="91440" y="3154680"/>
            <a:ext cx="365760" cy="137160"/>
          </a:xfrm>
          <a:prstGeom prst="rect">
            <a:avLst/>
          </a:prstGeom>
          <a:solidFill>
            <a:srgbClr val="FFCC99"/>
          </a:solidFill>
          <a:ln/>
        </p:spPr>
      </p:sp>
      <p:sp>
        <p:nvSpPr>
          <p:cNvPr id="14" name="Text 12"/>
          <p:cNvSpPr/>
          <p:nvPr/>
        </p:nvSpPr>
        <p:spPr>
          <a:xfrm>
            <a:off x="2286000" y="731520"/>
            <a:ext cx="6400800" cy="1280160"/>
          </a:xfrm>
          <a:prstGeom prst="rect">
            <a:avLst/>
          </a:prstGeom>
          <a:noFill/>
          <a:ln/>
        </p:spPr>
        <p:txBody>
          <a:bodyPr wrap="square" lIns="0" tIns="0" rIns="0" bIns="0" rtlCol="0" anchor="ctr"/>
          <a:lstStyle/>
          <a:p>
            <a:pPr indent="0" marL="0">
              <a:lnSpc>
                <a:spcPct val="115000"/>
              </a:lnSpc>
              <a:buNone/>
            </a:pPr>
            <a:r>
              <a:rPr lang="en-US" sz="2800" b="1" dirty="0">
                <a:solidFill>
                  <a:srgbClr val="FF9900"/>
                </a:solidFill>
                <a:latin typeface="Trebuchet MS" pitchFamily="34" charset="0"/>
                <a:ea typeface="Trebuchet MS" pitchFamily="34" charset="-122"/>
                <a:cs typeface="Trebuchet MS" pitchFamily="34" charset="-120"/>
              </a:rPr>
              <a:t>HOW I USE CLAUDE PROJECTS</a:t>
            </a:r>
            <a:endParaRPr lang="en-US" sz="2800" dirty="0"/>
          </a:p>
          <a:p>
            <a:pPr indent="0" marL="0">
              <a:lnSpc>
                <a:spcPct val="115000"/>
              </a:lnSpc>
              <a:buNone/>
            </a:pPr>
            <a:r>
              <a:rPr lang="en-US" sz="2800" b="1" dirty="0">
                <a:solidFill>
                  <a:srgbClr val="FF9900"/>
                </a:solidFill>
                <a:latin typeface="Trebuchet MS" pitchFamily="34" charset="0"/>
                <a:ea typeface="Trebuchet MS" pitchFamily="34" charset="-122"/>
                <a:cs typeface="Trebuchet MS" pitchFamily="34" charset="-120"/>
              </a:rPr>
              <a:t>TO MANAGE MY OPTIONS TRADING</a:t>
            </a:r>
            <a:endParaRPr lang="en-US" sz="2800" dirty="0"/>
          </a:p>
        </p:txBody>
      </p:sp>
      <p:sp>
        <p:nvSpPr>
          <p:cNvPr id="15" name="Text 13"/>
          <p:cNvSpPr/>
          <p:nvPr/>
        </p:nvSpPr>
        <p:spPr>
          <a:xfrm>
            <a:off x="2286000" y="2194560"/>
            <a:ext cx="6400800" cy="457200"/>
          </a:xfrm>
          <a:prstGeom prst="rect">
            <a:avLst/>
          </a:prstGeom>
          <a:noFill/>
          <a:ln/>
        </p:spPr>
        <p:txBody>
          <a:bodyPr wrap="square" lIns="0" tIns="0" rIns="0" bIns="0" rtlCol="0" anchor="ctr"/>
          <a:lstStyle/>
          <a:p>
            <a:pPr indent="0" marL="0">
              <a:buNone/>
            </a:pPr>
            <a:r>
              <a:rPr lang="en-US" sz="2000" dirty="0">
                <a:solidFill>
                  <a:srgbClr val="FFCC99"/>
                </a:solidFill>
                <a:latin typeface="Trebuchet MS" pitchFamily="34" charset="0"/>
                <a:ea typeface="Trebuchet MS" pitchFamily="34" charset="-122"/>
                <a:cs typeface="Trebuchet MS" pitchFamily="34" charset="-120"/>
              </a:rPr>
              <a:t>A Real Session Walkthrough</a:t>
            </a:r>
            <a:endParaRPr lang="en-US" sz="2000" dirty="0"/>
          </a:p>
        </p:txBody>
      </p:sp>
      <p:sp>
        <p:nvSpPr>
          <p:cNvPr id="16" name="Text 14"/>
          <p:cNvSpPr/>
          <p:nvPr/>
        </p:nvSpPr>
        <p:spPr>
          <a:xfrm>
            <a:off x="2286000" y="2743200"/>
            <a:ext cx="6400800" cy="365760"/>
          </a:xfrm>
          <a:prstGeom prst="rect">
            <a:avLst/>
          </a:prstGeom>
          <a:noFill/>
          <a:ln/>
        </p:spPr>
        <p:txBody>
          <a:bodyPr wrap="square" lIns="0" tIns="0" rIns="0" bIns="0" rtlCol="0" anchor="ctr"/>
          <a:lstStyle/>
          <a:p>
            <a:pPr indent="0" marL="0">
              <a:buNone/>
            </a:pPr>
            <a:r>
              <a:rPr lang="en-US" sz="1400" dirty="0">
                <a:solidFill>
                  <a:srgbClr val="9999AA"/>
                </a:solidFill>
                <a:latin typeface="Trebuchet MS" pitchFamily="34" charset="0"/>
                <a:ea typeface="Trebuchet MS" pitchFamily="34" charset="-122"/>
                <a:cs typeface="Trebuchet MS" pitchFamily="34" charset="-120"/>
              </a:rPr>
              <a:t>Diamond Money Press Strategy  •  February 10, 2026</a:t>
            </a:r>
            <a:endParaRPr lang="en-US" sz="1400" dirty="0"/>
          </a:p>
        </p:txBody>
      </p:sp>
      <p:sp>
        <p:nvSpPr>
          <p:cNvPr id="17" name="Shape 15"/>
          <p:cNvSpPr/>
          <p:nvPr/>
        </p:nvSpPr>
        <p:spPr>
          <a:xfrm>
            <a:off x="2011680" y="4434840"/>
            <a:ext cx="7132320" cy="457200"/>
          </a:xfrm>
          <a:prstGeom prst="rect">
            <a:avLst/>
          </a:prstGeom>
          <a:solidFill>
            <a:srgbClr val="111122"/>
          </a:solidFill>
          <a:ln/>
        </p:spPr>
      </p:sp>
      <p:sp>
        <p:nvSpPr>
          <p:cNvPr id="18" name="Text 16"/>
          <p:cNvSpPr/>
          <p:nvPr/>
        </p:nvSpPr>
        <p:spPr>
          <a:xfrm>
            <a:off x="2103120" y="4462272"/>
            <a:ext cx="6949440" cy="402336"/>
          </a:xfrm>
          <a:prstGeom prst="rect">
            <a:avLst/>
          </a:prstGeom>
          <a:noFill/>
          <a:ln/>
        </p:spPr>
        <p:txBody>
          <a:bodyPr wrap="square" lIns="0" tIns="0" rIns="0" bIns="0" rtlCol="0" anchor="ctr"/>
          <a:lstStyle/>
          <a:p>
            <a:pPr algn="ctr" indent="0" marL="0">
              <a:buNone/>
            </a:pPr>
            <a:r>
              <a:rPr lang="en-US" sz="1100" dirty="0">
                <a:solidFill>
                  <a:srgbClr val="66CCCC"/>
                </a:solidFill>
                <a:latin typeface="Trebuchet MS" pitchFamily="34" charset="0"/>
                <a:ea typeface="Trebuchet MS" pitchFamily="34" charset="-122"/>
                <a:cs typeface="Trebuchet MS" pitchFamily="34" charset="-120"/>
              </a:rPr>
              <a:t>STARDATE 2026.041  •  TRADING SESSION LOG  •  TASTYTRADE XSP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THE CHALLENGE</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Why Trading Needs a System</a:t>
            </a:r>
            <a:endParaRPr lang="en-US" sz="2400" dirty="0"/>
          </a:p>
        </p:txBody>
      </p:sp>
      <p:sp>
        <p:nvSpPr>
          <p:cNvPr id="15" name="Shape 13"/>
          <p:cNvSpPr/>
          <p:nvPr/>
        </p:nvSpPr>
        <p:spPr>
          <a:xfrm>
            <a:off x="1463040" y="1280160"/>
            <a:ext cx="3383280" cy="3108960"/>
          </a:xfrm>
          <a:prstGeom prst="rect">
            <a:avLst/>
          </a:prstGeom>
          <a:solidFill>
            <a:srgbClr val="1A1A2E"/>
          </a:solidFill>
          <a:ln w="19050">
            <a:solidFill>
              <a:srgbClr val="CC4444"/>
            </a:solidFill>
            <a:prstDash val="solid"/>
          </a:ln>
        </p:spPr>
      </p:sp>
      <p:sp>
        <p:nvSpPr>
          <p:cNvPr id="16" name="Shape 14"/>
          <p:cNvSpPr/>
          <p:nvPr/>
        </p:nvSpPr>
        <p:spPr>
          <a:xfrm>
            <a:off x="1463040" y="1280160"/>
            <a:ext cx="3383280" cy="54864"/>
          </a:xfrm>
          <a:prstGeom prst="rect">
            <a:avLst/>
          </a:prstGeom>
          <a:solidFill>
            <a:srgbClr val="CC4444"/>
          </a:solidFill>
          <a:ln/>
        </p:spPr>
      </p:sp>
      <p:sp>
        <p:nvSpPr>
          <p:cNvPr id="17" name="Text 15"/>
          <p:cNvSpPr/>
          <p:nvPr/>
        </p:nvSpPr>
        <p:spPr>
          <a:xfrm>
            <a:off x="1645920" y="1417320"/>
            <a:ext cx="3017520" cy="320040"/>
          </a:xfrm>
          <a:prstGeom prst="rect">
            <a:avLst/>
          </a:prstGeom>
          <a:noFill/>
          <a:ln/>
        </p:spPr>
        <p:txBody>
          <a:bodyPr wrap="square" lIns="0" tIns="0" rIns="0" bIns="0" rtlCol="0" anchor="ctr"/>
          <a:lstStyle/>
          <a:p>
            <a:pPr indent="0" marL="0">
              <a:buNone/>
            </a:pPr>
            <a:r>
              <a:rPr lang="en-US" sz="1300" b="1" dirty="0">
                <a:solidFill>
                  <a:srgbClr val="CC4444"/>
                </a:solidFill>
                <a:latin typeface="Trebuchet MS" pitchFamily="34" charset="0"/>
                <a:ea typeface="Trebuchet MS" pitchFamily="34" charset="-122"/>
                <a:cs typeface="Trebuchet MS" pitchFamily="34" charset="-120"/>
              </a:rPr>
              <a:t>WHAT THE BROKER SEES</a:t>
            </a:r>
            <a:endParaRPr lang="en-US" sz="1300" dirty="0"/>
          </a:p>
        </p:txBody>
      </p:sp>
      <p:sp>
        <p:nvSpPr>
          <p:cNvPr id="18" name="Text 16"/>
          <p:cNvSpPr/>
          <p:nvPr/>
        </p:nvSpPr>
        <p:spPr>
          <a:xfrm>
            <a:off x="1645920" y="1874520"/>
            <a:ext cx="3017520" cy="2286000"/>
          </a:xfrm>
          <a:prstGeom prst="rect">
            <a:avLst/>
          </a:prstGeom>
          <a:noFill/>
          <a:ln/>
        </p:spPr>
        <p:txBody>
          <a:bodyPr wrap="square" lIns="0" tIns="0" rIns="0" bIns="0" rtlCol="0" anchor="ctr"/>
          <a:lstStyle/>
          <a:p>
            <a:pPr indent="0" marL="0">
              <a:lnSpc>
                <a:spcPct val="130000"/>
              </a:lnSpc>
              <a:buNone/>
            </a:pPr>
            <a:r>
              <a:rPr lang="en-US" sz="1300" dirty="0">
                <a:solidFill>
                  <a:srgbClr val="FFCC99"/>
                </a:solidFill>
                <a:latin typeface="Trebuchet MS" pitchFamily="34" charset="0"/>
                <a:ea typeface="Trebuchet MS" pitchFamily="34" charset="-122"/>
                <a:cs typeface="Trebuchet MS" pitchFamily="34" charset="-120"/>
              </a:rPr>
              <a:t>15 Short Puts</a:t>
            </a:r>
            <a:endParaRPr lang="en-US" sz="1300" dirty="0"/>
          </a:p>
          <a:p>
            <a:pPr indent="0" marL="0">
              <a:lnSpc>
                <a:spcPct val="130000"/>
              </a:lnSpc>
              <a:buNone/>
            </a:pPr>
            <a:r>
              <a:rPr lang="en-US" sz="1300" dirty="0">
                <a:solidFill>
                  <a:srgbClr val="FFCC99"/>
                </a:solidFill>
                <a:latin typeface="Trebuchet MS" pitchFamily="34" charset="0"/>
                <a:ea typeface="Trebuchet MS" pitchFamily="34" charset="-122"/>
                <a:cs typeface="Trebuchet MS" pitchFamily="34" charset="-120"/>
              </a:rPr>
              <a:t>17 Long Puts</a:t>
            </a:r>
            <a:endParaRPr lang="en-US" sz="1300" dirty="0"/>
          </a:p>
          <a:p>
            <a:pPr indent="0" marL="0">
              <a:lnSpc>
                <a:spcPct val="130000"/>
              </a:lnSpc>
              <a:buNone/>
            </a:pPr>
            <a:r>
              <a:rPr lang="en-US" sz="1300" dirty="0">
                <a:solidFill>
                  <a:srgbClr val="FFCC99"/>
                </a:solidFill>
                <a:latin typeface="Trebuchet MS" pitchFamily="34" charset="0"/>
                <a:ea typeface="Trebuchet MS" pitchFamily="34" charset="-122"/>
                <a:cs typeface="Trebuchet MS" pitchFamily="34" charset="-120"/>
              </a:rPr>
              <a:t>15 Call Spreads</a:t>
            </a:r>
            <a:endParaRPr lang="en-US" sz="1300" dirty="0"/>
          </a:p>
          <a:p>
            <a:pPr indent="0" marL="0">
              <a:lnSpc>
                <a:spcPct val="130000"/>
              </a:lnSpc>
              <a:buNone/>
            </a:pPr>
            <a:r>
              <a:rPr lang="en-US" sz="1300" dirty="0">
                <a:solidFill>
                  <a:srgbClr val="FFCC99"/>
                </a:solidFill>
                <a:latin typeface="Trebuchet MS" pitchFamily="34" charset="0"/>
                <a:ea typeface="Trebuchet MS" pitchFamily="34" charset="-122"/>
                <a:cs typeface="Trebuchet MS" pitchFamily="34" charset="-120"/>
              </a:rPr>
              <a:t>6 Put Spreads</a:t>
            </a:r>
            <a:endParaRPr lang="en-US" sz="1300" dirty="0"/>
          </a:p>
          <a:p>
            <a:pPr indent="0" marL="0">
              <a:lnSpc>
                <a:spcPct val="130000"/>
              </a:lnSpc>
              <a:buNone/>
            </a:pPr>
            <a:r>
              <a:rPr lang="en-US" sz="1300" dirty="0">
                <a:solidFill>
                  <a:srgbClr val="FFCC99"/>
                </a:solidFill>
                <a:latin typeface="Trebuchet MS" pitchFamily="34" charset="0"/>
                <a:ea typeface="Trebuchet MS" pitchFamily="34" charset="-122"/>
                <a:cs typeface="Trebuchet MS" pitchFamily="34" charset="-120"/>
              </a:rPr>
              <a:t>40 Iron Condor Legs</a:t>
            </a:r>
            <a:endParaRPr lang="en-US" sz="1300" dirty="0"/>
          </a:p>
          <a:p>
            <a:pPr indent="0" marL="0">
              <a:lnSpc>
                <a:spcPct val="130000"/>
              </a:lnSpc>
              <a:buNone/>
            </a:pPr>
            <a:endParaRPr lang="en-US" sz="1300" dirty="0"/>
          </a:p>
          <a:p>
            <a:pPr indent="0" marL="0">
              <a:lnSpc>
                <a:spcPct val="130000"/>
              </a:lnSpc>
              <a:buNone/>
            </a:pPr>
            <a:r>
              <a:rPr lang="en-US" sz="1200" i="1" dirty="0">
                <a:solidFill>
                  <a:srgbClr val="9999AA"/>
                </a:solidFill>
                <a:latin typeface="Trebuchet MS" pitchFamily="34" charset="0"/>
                <a:ea typeface="Trebuchet MS" pitchFamily="34" charset="-122"/>
                <a:cs typeface="Trebuchet MS" pitchFamily="34" charset="-120"/>
              </a:rPr>
              <a:t>= A flat list of puts and calls</a:t>
            </a:r>
            <a:endParaRPr lang="en-US" sz="1300" dirty="0"/>
          </a:p>
        </p:txBody>
      </p:sp>
      <p:sp>
        <p:nvSpPr>
          <p:cNvPr id="19" name="Shape 17"/>
          <p:cNvSpPr/>
          <p:nvPr/>
        </p:nvSpPr>
        <p:spPr>
          <a:xfrm>
            <a:off x="5120640" y="1280160"/>
            <a:ext cx="3657600" cy="3108960"/>
          </a:xfrm>
          <a:prstGeom prst="rect">
            <a:avLst/>
          </a:prstGeom>
          <a:solidFill>
            <a:srgbClr val="1A1A2E"/>
          </a:solidFill>
          <a:ln w="19050">
            <a:solidFill>
              <a:srgbClr val="44CC66"/>
            </a:solidFill>
            <a:prstDash val="solid"/>
          </a:ln>
        </p:spPr>
      </p:sp>
      <p:sp>
        <p:nvSpPr>
          <p:cNvPr id="20" name="Shape 18"/>
          <p:cNvSpPr/>
          <p:nvPr/>
        </p:nvSpPr>
        <p:spPr>
          <a:xfrm>
            <a:off x="5120640" y="1280160"/>
            <a:ext cx="3657600" cy="54864"/>
          </a:xfrm>
          <a:prstGeom prst="rect">
            <a:avLst/>
          </a:prstGeom>
          <a:solidFill>
            <a:srgbClr val="44CC66"/>
          </a:solidFill>
          <a:ln/>
        </p:spPr>
      </p:sp>
      <p:sp>
        <p:nvSpPr>
          <p:cNvPr id="21" name="Text 19"/>
          <p:cNvSpPr/>
          <p:nvPr/>
        </p:nvSpPr>
        <p:spPr>
          <a:xfrm>
            <a:off x="5303520" y="1417320"/>
            <a:ext cx="3291840" cy="320040"/>
          </a:xfrm>
          <a:prstGeom prst="rect">
            <a:avLst/>
          </a:prstGeom>
          <a:noFill/>
          <a:ln/>
        </p:spPr>
        <p:txBody>
          <a:bodyPr wrap="square" lIns="0" tIns="0" rIns="0" bIns="0" rtlCol="0" anchor="ctr"/>
          <a:lstStyle/>
          <a:p>
            <a:pPr indent="0" marL="0">
              <a:buNone/>
            </a:pPr>
            <a:r>
              <a:rPr lang="en-US" sz="1300" b="1" dirty="0">
                <a:solidFill>
                  <a:srgbClr val="44CC66"/>
                </a:solidFill>
                <a:latin typeface="Trebuchet MS" pitchFamily="34" charset="0"/>
                <a:ea typeface="Trebuchet MS" pitchFamily="34" charset="-122"/>
                <a:cs typeface="Trebuchet MS" pitchFamily="34" charset="-120"/>
              </a:rPr>
              <a:t>WHAT THE STRATEGY REQUIRES</a:t>
            </a:r>
            <a:endParaRPr lang="en-US" sz="1300" dirty="0"/>
          </a:p>
        </p:txBody>
      </p:sp>
      <p:sp>
        <p:nvSpPr>
          <p:cNvPr id="22" name="Text 20"/>
          <p:cNvSpPr/>
          <p:nvPr/>
        </p:nvSpPr>
        <p:spPr>
          <a:xfrm>
            <a:off x="5303520" y="1874520"/>
            <a:ext cx="3291840" cy="2377440"/>
          </a:xfrm>
          <a:prstGeom prst="rect">
            <a:avLst/>
          </a:prstGeom>
          <a:noFill/>
          <a:ln/>
        </p:spPr>
        <p:txBody>
          <a:bodyPr wrap="square" lIns="0" tIns="0" rIns="0" bIns="0" rtlCol="0" anchor="ctr"/>
          <a:lstStyle/>
          <a:p>
            <a:pPr indent="0" marL="0">
              <a:lnSpc>
                <a:spcPct val="110000"/>
              </a:lnSpc>
              <a:buNone/>
            </a:pPr>
            <a:r>
              <a:rPr lang="en-US" sz="1300" b="1" dirty="0">
                <a:solidFill>
                  <a:srgbClr val="FF9900"/>
                </a:solidFill>
                <a:latin typeface="Trebuchet MS" pitchFamily="34" charset="0"/>
                <a:ea typeface="Trebuchet MS" pitchFamily="34" charset="-122"/>
                <a:cs typeface="Trebuchet MS" pitchFamily="34" charset="-120"/>
              </a:rPr>
              <a:t>Money Press Core</a:t>
            </a:r>
            <a:endParaRPr lang="en-US" sz="1300" dirty="0"/>
          </a:p>
          <a:p>
            <a:pPr indent="0" marL="0">
              <a:lnSpc>
                <a:spcPct val="110000"/>
              </a:lnSpc>
              <a:buNone/>
            </a:pPr>
            <a:r>
              <a:rPr lang="en-US" sz="1100" dirty="0">
                <a:solidFill>
                  <a:srgbClr val="9999AA"/>
                </a:solidFill>
                <a:latin typeface="Trebuchet MS" pitchFamily="34" charset="0"/>
                <a:ea typeface="Trebuchet MS" pitchFamily="34" charset="-122"/>
                <a:cs typeface="Trebuchet MS" pitchFamily="34" charset="-120"/>
              </a:rPr>
              <a:t>  Income-generating short puts</a:t>
            </a:r>
            <a:endParaRPr lang="en-US" sz="1300" dirty="0"/>
          </a:p>
          <a:p>
            <a:pPr indent="0" marL="0">
              <a:lnSpc>
                <a:spcPct val="110000"/>
              </a:lnSpc>
              <a:buNone/>
            </a:pPr>
            <a:r>
              <a:rPr lang="en-US" sz="1300" b="1" dirty="0">
                <a:solidFill>
                  <a:srgbClr val="9999FF"/>
                </a:solidFill>
                <a:latin typeface="Trebuchet MS" pitchFamily="34" charset="0"/>
                <a:ea typeface="Trebuchet MS" pitchFamily="34" charset="-122"/>
                <a:cs typeface="Trebuchet MS" pitchFamily="34" charset="-120"/>
              </a:rPr>
              <a:t>Protective Anchors</a:t>
            </a:r>
            <a:endParaRPr lang="en-US" sz="1300" dirty="0"/>
          </a:p>
          <a:p>
            <a:pPr indent="0" marL="0">
              <a:lnSpc>
                <a:spcPct val="110000"/>
              </a:lnSpc>
              <a:buNone/>
            </a:pPr>
            <a:r>
              <a:rPr lang="en-US" sz="1100" dirty="0">
                <a:solidFill>
                  <a:srgbClr val="9999AA"/>
                </a:solidFill>
                <a:latin typeface="Trebuchet MS" pitchFamily="34" charset="0"/>
                <a:ea typeface="Trebuchet MS" pitchFamily="34" charset="-122"/>
                <a:cs typeface="Trebuchet MS" pitchFamily="34" charset="-120"/>
              </a:rPr>
              <a:t>  Long puts guarding the core</a:t>
            </a:r>
            <a:endParaRPr lang="en-US" sz="1300" dirty="0"/>
          </a:p>
          <a:p>
            <a:pPr indent="0" marL="0">
              <a:lnSpc>
                <a:spcPct val="110000"/>
              </a:lnSpc>
              <a:buNone/>
            </a:pPr>
            <a:r>
              <a:rPr lang="en-US" sz="1300" b="1" dirty="0">
                <a:solidFill>
                  <a:srgbClr val="CC99CC"/>
                </a:solidFill>
                <a:latin typeface="Trebuchet MS" pitchFamily="34" charset="0"/>
                <a:ea typeface="Trebuchet MS" pitchFamily="34" charset="-122"/>
                <a:cs typeface="Trebuchet MS" pitchFamily="34" charset="-120"/>
              </a:rPr>
              <a:t>Bear Call Hedges</a:t>
            </a:r>
            <a:endParaRPr lang="en-US" sz="1300" dirty="0"/>
          </a:p>
          <a:p>
            <a:pPr indent="0" marL="0">
              <a:lnSpc>
                <a:spcPct val="110000"/>
              </a:lnSpc>
              <a:buNone/>
            </a:pPr>
            <a:r>
              <a:rPr lang="en-US" sz="1100" dirty="0">
                <a:solidFill>
                  <a:srgbClr val="9999AA"/>
                </a:solidFill>
                <a:latin typeface="Trebuchet MS" pitchFamily="34" charset="0"/>
                <a:ea typeface="Trebuchet MS" pitchFamily="34" charset="-122"/>
                <a:cs typeface="Trebuchet MS" pitchFamily="34" charset="-120"/>
              </a:rPr>
              <a:t>  Delta management layer</a:t>
            </a:r>
            <a:endParaRPr lang="en-US" sz="1300" dirty="0"/>
          </a:p>
          <a:p>
            <a:pPr indent="0" marL="0">
              <a:lnSpc>
                <a:spcPct val="110000"/>
              </a:lnSpc>
              <a:buNone/>
            </a:pPr>
            <a:r>
              <a:rPr lang="en-US" sz="1300" b="1" dirty="0">
                <a:solidFill>
                  <a:srgbClr val="66CCCC"/>
                </a:solidFill>
                <a:latin typeface="Trebuchet MS" pitchFamily="34" charset="0"/>
                <a:ea typeface="Trebuchet MS" pitchFamily="34" charset="-122"/>
                <a:cs typeface="Trebuchet MS" pitchFamily="34" charset="-120"/>
              </a:rPr>
              <a:t>Gap Insurance</a:t>
            </a:r>
            <a:endParaRPr lang="en-US" sz="1300" dirty="0"/>
          </a:p>
          <a:p>
            <a:pPr indent="0" marL="0">
              <a:lnSpc>
                <a:spcPct val="110000"/>
              </a:lnSpc>
              <a:buNone/>
            </a:pPr>
            <a:r>
              <a:rPr lang="en-US" sz="1100" dirty="0">
                <a:solidFill>
                  <a:srgbClr val="9999AA"/>
                </a:solidFill>
                <a:latin typeface="Trebuchet MS" pitchFamily="34" charset="0"/>
                <a:ea typeface="Trebuchet MS" pitchFamily="34" charset="-122"/>
                <a:cs typeface="Trebuchet MS" pitchFamily="34" charset="-120"/>
              </a:rPr>
              <a:t>  Catastrophic protection</a:t>
            </a:r>
            <a:endParaRPr lang="en-US" sz="1300" dirty="0"/>
          </a:p>
          <a:p>
            <a:pPr indent="0" marL="0">
              <a:lnSpc>
                <a:spcPct val="110000"/>
              </a:lnSpc>
              <a:buNone/>
            </a:pPr>
            <a:r>
              <a:rPr lang="en-US" sz="1300" b="1" dirty="0">
                <a:solidFill>
                  <a:srgbClr val="FFAA00"/>
                </a:solidFill>
                <a:latin typeface="Trebuchet MS" pitchFamily="34" charset="0"/>
                <a:ea typeface="Trebuchet MS" pitchFamily="34" charset="-122"/>
                <a:cs typeface="Trebuchet MS" pitchFamily="34" charset="-120"/>
              </a:rPr>
              <a:t>Iron Condors</a:t>
            </a:r>
            <a:endParaRPr lang="en-US" sz="1300" dirty="0"/>
          </a:p>
          <a:p>
            <a:pPr indent="0" marL="0">
              <a:lnSpc>
                <a:spcPct val="110000"/>
              </a:lnSpc>
              <a:buNone/>
            </a:pPr>
            <a:r>
              <a:rPr lang="en-US" sz="1100" dirty="0">
                <a:solidFill>
                  <a:srgbClr val="9999AA"/>
                </a:solidFill>
                <a:latin typeface="Trebuchet MS" pitchFamily="34" charset="0"/>
                <a:ea typeface="Trebuchet MS" pitchFamily="34" charset="-122"/>
                <a:cs typeface="Trebuchet MS" pitchFamily="34" charset="-120"/>
              </a:rPr>
              <a:t>  Daily bonus income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WHAT IS A CLAUDE PROJECT?</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 Persistent, Trained Trading Workspace</a:t>
            </a:r>
            <a:endParaRPr lang="en-US" sz="2200" dirty="0"/>
          </a:p>
        </p:txBody>
      </p:sp>
      <p:sp>
        <p:nvSpPr>
          <p:cNvPr id="15" name="Shape 13"/>
          <p:cNvSpPr/>
          <p:nvPr/>
        </p:nvSpPr>
        <p:spPr>
          <a:xfrm>
            <a:off x="1463040" y="1280160"/>
            <a:ext cx="3291840" cy="1371600"/>
          </a:xfrm>
          <a:prstGeom prst="rect">
            <a:avLst/>
          </a:prstGeom>
          <a:solidFill>
            <a:srgbClr val="1A1A2E"/>
          </a:solidFill>
          <a:ln w="19050">
            <a:solidFill>
              <a:srgbClr val="FF9900"/>
            </a:solidFill>
            <a:prstDash val="solid"/>
          </a:ln>
        </p:spPr>
      </p:sp>
      <p:sp>
        <p:nvSpPr>
          <p:cNvPr id="16" name="Shape 14"/>
          <p:cNvSpPr/>
          <p:nvPr/>
        </p:nvSpPr>
        <p:spPr>
          <a:xfrm>
            <a:off x="1463040" y="1280160"/>
            <a:ext cx="3291840" cy="54864"/>
          </a:xfrm>
          <a:prstGeom prst="rect">
            <a:avLst/>
          </a:prstGeom>
          <a:solidFill>
            <a:srgbClr val="FF9900"/>
          </a:solidFill>
          <a:ln/>
        </p:spPr>
      </p:sp>
      <p:sp>
        <p:nvSpPr>
          <p:cNvPr id="17" name="Text 15"/>
          <p:cNvSpPr/>
          <p:nvPr/>
        </p:nvSpPr>
        <p:spPr>
          <a:xfrm>
            <a:off x="1645920" y="1463040"/>
            <a:ext cx="292608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CUSTOM INSTRUCTIONS</a:t>
            </a:r>
            <a:endParaRPr lang="en-US" sz="1200" dirty="0"/>
          </a:p>
        </p:txBody>
      </p:sp>
      <p:sp>
        <p:nvSpPr>
          <p:cNvPr id="18" name="Text 16"/>
          <p:cNvSpPr/>
          <p:nvPr/>
        </p:nvSpPr>
        <p:spPr>
          <a:xfrm>
            <a:off x="1645920" y="1783080"/>
            <a:ext cx="2926080" cy="731520"/>
          </a:xfrm>
          <a:prstGeom prst="rect">
            <a:avLst/>
          </a:prstGeom>
          <a:noFill/>
          <a:ln/>
        </p:spPr>
        <p:txBody>
          <a:bodyPr wrap="square" lIns="0" tIns="0" rIns="0" bIns="0" rtlCol="0" anchor="ctr"/>
          <a:lstStyle/>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Daily workflow protocol,</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trade ticket procedures,</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documentation standards</a:t>
            </a:r>
            <a:endParaRPr lang="en-US" sz="1200" dirty="0"/>
          </a:p>
        </p:txBody>
      </p:sp>
      <p:sp>
        <p:nvSpPr>
          <p:cNvPr id="19" name="Shape 17"/>
          <p:cNvSpPr/>
          <p:nvPr/>
        </p:nvSpPr>
        <p:spPr>
          <a:xfrm>
            <a:off x="5029200" y="1280160"/>
            <a:ext cx="3291840" cy="1371600"/>
          </a:xfrm>
          <a:prstGeom prst="rect">
            <a:avLst/>
          </a:prstGeom>
          <a:solidFill>
            <a:srgbClr val="1A1A2E"/>
          </a:solidFill>
          <a:ln w="19050">
            <a:solidFill>
              <a:srgbClr val="9999FF"/>
            </a:solidFill>
            <a:prstDash val="solid"/>
          </a:ln>
        </p:spPr>
      </p:sp>
      <p:sp>
        <p:nvSpPr>
          <p:cNvPr id="20" name="Shape 18"/>
          <p:cNvSpPr/>
          <p:nvPr/>
        </p:nvSpPr>
        <p:spPr>
          <a:xfrm>
            <a:off x="5029200" y="1280160"/>
            <a:ext cx="3291840" cy="54864"/>
          </a:xfrm>
          <a:prstGeom prst="rect">
            <a:avLst/>
          </a:prstGeom>
          <a:solidFill>
            <a:srgbClr val="9999FF"/>
          </a:solidFill>
          <a:ln/>
        </p:spPr>
      </p:sp>
      <p:sp>
        <p:nvSpPr>
          <p:cNvPr id="21" name="Text 19"/>
          <p:cNvSpPr/>
          <p:nvPr/>
        </p:nvSpPr>
        <p:spPr>
          <a:xfrm>
            <a:off x="5212080" y="1463040"/>
            <a:ext cx="2926080" cy="274320"/>
          </a:xfrm>
          <a:prstGeom prst="rect">
            <a:avLst/>
          </a:prstGeom>
          <a:noFill/>
          <a:ln/>
        </p:spPr>
        <p:txBody>
          <a:bodyPr wrap="square" lIns="0" tIns="0" rIns="0" bIns="0" rtlCol="0" anchor="ctr"/>
          <a:lstStyle/>
          <a:p>
            <a:pPr indent="0" marL="0">
              <a:buNone/>
            </a:pPr>
            <a:r>
              <a:rPr lang="en-US" sz="1200" b="1" dirty="0">
                <a:solidFill>
                  <a:srgbClr val="9999FF"/>
                </a:solidFill>
                <a:latin typeface="Trebuchet MS" pitchFamily="34" charset="0"/>
                <a:ea typeface="Trebuchet MS" pitchFamily="34" charset="-122"/>
                <a:cs typeface="Trebuchet MS" pitchFamily="34" charset="-120"/>
              </a:rPr>
              <a:t>27 REFERENCE DOCUMENTS</a:t>
            </a:r>
            <a:endParaRPr lang="en-US" sz="1200" dirty="0"/>
          </a:p>
        </p:txBody>
      </p:sp>
      <p:sp>
        <p:nvSpPr>
          <p:cNvPr id="22" name="Text 20"/>
          <p:cNvSpPr/>
          <p:nvPr/>
        </p:nvSpPr>
        <p:spPr>
          <a:xfrm>
            <a:off x="5212080" y="1783080"/>
            <a:ext cx="2926080" cy="731520"/>
          </a:xfrm>
          <a:prstGeom prst="rect">
            <a:avLst/>
          </a:prstGeom>
          <a:noFill/>
          <a:ln/>
        </p:spPr>
        <p:txBody>
          <a:bodyPr wrap="square" lIns="0" tIns="0" rIns="0" bIns="0" rtlCol="0" anchor="ctr"/>
          <a:lstStyle/>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Strategy guides, FAQs,</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conversion tables,</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reconciliation frameworks</a:t>
            </a:r>
            <a:endParaRPr lang="en-US" sz="1200" dirty="0"/>
          </a:p>
        </p:txBody>
      </p:sp>
      <p:sp>
        <p:nvSpPr>
          <p:cNvPr id="23" name="Shape 21"/>
          <p:cNvSpPr/>
          <p:nvPr/>
        </p:nvSpPr>
        <p:spPr>
          <a:xfrm>
            <a:off x="1463040" y="2926080"/>
            <a:ext cx="3291840" cy="1371600"/>
          </a:xfrm>
          <a:prstGeom prst="rect">
            <a:avLst/>
          </a:prstGeom>
          <a:solidFill>
            <a:srgbClr val="1A1A2E"/>
          </a:solidFill>
          <a:ln w="19050">
            <a:solidFill>
              <a:srgbClr val="CC99CC"/>
            </a:solidFill>
            <a:prstDash val="solid"/>
          </a:ln>
        </p:spPr>
      </p:sp>
      <p:sp>
        <p:nvSpPr>
          <p:cNvPr id="24" name="Shape 22"/>
          <p:cNvSpPr/>
          <p:nvPr/>
        </p:nvSpPr>
        <p:spPr>
          <a:xfrm>
            <a:off x="1463040" y="2926080"/>
            <a:ext cx="3291840" cy="54864"/>
          </a:xfrm>
          <a:prstGeom prst="rect">
            <a:avLst/>
          </a:prstGeom>
          <a:solidFill>
            <a:srgbClr val="CC99CC"/>
          </a:solidFill>
          <a:ln/>
        </p:spPr>
      </p:sp>
      <p:sp>
        <p:nvSpPr>
          <p:cNvPr id="25" name="Text 23"/>
          <p:cNvSpPr/>
          <p:nvPr/>
        </p:nvSpPr>
        <p:spPr>
          <a:xfrm>
            <a:off x="1645920" y="3108960"/>
            <a:ext cx="2926080" cy="274320"/>
          </a:xfrm>
          <a:prstGeom prst="rect">
            <a:avLst/>
          </a:prstGeom>
          <a:noFill/>
          <a:ln/>
        </p:spPr>
        <p:txBody>
          <a:bodyPr wrap="square" lIns="0" tIns="0" rIns="0" bIns="0" rtlCol="0" anchor="ctr"/>
          <a:lstStyle/>
          <a:p>
            <a:pPr indent="0" marL="0">
              <a:buNone/>
            </a:pPr>
            <a:r>
              <a:rPr lang="en-US" sz="1200" b="1" dirty="0">
                <a:solidFill>
                  <a:srgbClr val="CC99CC"/>
                </a:solidFill>
                <a:latin typeface="Trebuchet MS" pitchFamily="34" charset="0"/>
                <a:ea typeface="Trebuchet MS" pitchFamily="34" charset="-122"/>
                <a:cs typeface="Trebuchet MS" pitchFamily="34" charset="-120"/>
              </a:rPr>
              <a:t>CONNECTED TOOLS</a:t>
            </a:r>
            <a:endParaRPr lang="en-US" sz="1200" dirty="0"/>
          </a:p>
        </p:txBody>
      </p:sp>
      <p:sp>
        <p:nvSpPr>
          <p:cNvPr id="26" name="Text 24"/>
          <p:cNvSpPr/>
          <p:nvPr/>
        </p:nvSpPr>
        <p:spPr>
          <a:xfrm>
            <a:off x="1645920" y="3429000"/>
            <a:ext cx="2926080" cy="731520"/>
          </a:xfrm>
          <a:prstGeom prst="rect">
            <a:avLst/>
          </a:prstGeom>
          <a:noFill/>
          <a:ln/>
        </p:spPr>
        <p:txBody>
          <a:bodyPr wrap="square" lIns="0" tIns="0" rIns="0" bIns="0" rtlCol="0" anchor="ctr"/>
          <a:lstStyle/>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Context Vault, Neon DB,</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Google Drive,</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web search</a:t>
            </a:r>
            <a:endParaRPr lang="en-US" sz="1200" dirty="0"/>
          </a:p>
        </p:txBody>
      </p:sp>
      <p:sp>
        <p:nvSpPr>
          <p:cNvPr id="27" name="Shape 25"/>
          <p:cNvSpPr/>
          <p:nvPr/>
        </p:nvSpPr>
        <p:spPr>
          <a:xfrm>
            <a:off x="5029200" y="2926080"/>
            <a:ext cx="3291840" cy="1371600"/>
          </a:xfrm>
          <a:prstGeom prst="rect">
            <a:avLst/>
          </a:prstGeom>
          <a:solidFill>
            <a:srgbClr val="1A1A2E"/>
          </a:solidFill>
          <a:ln w="19050">
            <a:solidFill>
              <a:srgbClr val="66CCCC"/>
            </a:solidFill>
            <a:prstDash val="solid"/>
          </a:ln>
        </p:spPr>
      </p:sp>
      <p:sp>
        <p:nvSpPr>
          <p:cNvPr id="28" name="Shape 26"/>
          <p:cNvSpPr/>
          <p:nvPr/>
        </p:nvSpPr>
        <p:spPr>
          <a:xfrm>
            <a:off x="5029200" y="2926080"/>
            <a:ext cx="3291840" cy="54864"/>
          </a:xfrm>
          <a:prstGeom prst="rect">
            <a:avLst/>
          </a:prstGeom>
          <a:solidFill>
            <a:srgbClr val="66CCCC"/>
          </a:solidFill>
          <a:ln/>
        </p:spPr>
      </p:sp>
      <p:sp>
        <p:nvSpPr>
          <p:cNvPr id="29" name="Text 27"/>
          <p:cNvSpPr/>
          <p:nvPr/>
        </p:nvSpPr>
        <p:spPr>
          <a:xfrm>
            <a:off x="5212080" y="3108960"/>
            <a:ext cx="2926080" cy="274320"/>
          </a:xfrm>
          <a:prstGeom prst="rect">
            <a:avLst/>
          </a:prstGeom>
          <a:noFill/>
          <a:ln/>
        </p:spPr>
        <p:txBody>
          <a:bodyPr wrap="square" lIns="0" tIns="0" rIns="0" bIns="0" rtlCol="0" anchor="ctr"/>
          <a:lstStyle/>
          <a:p>
            <a:pPr indent="0" marL="0">
              <a:buNone/>
            </a:pPr>
            <a:r>
              <a:rPr lang="en-US" sz="1200" b="1" dirty="0">
                <a:solidFill>
                  <a:srgbClr val="66CCCC"/>
                </a:solidFill>
                <a:latin typeface="Trebuchet MS" pitchFamily="34" charset="0"/>
                <a:ea typeface="Trebuchet MS" pitchFamily="34" charset="-122"/>
                <a:cs typeface="Trebuchet MS" pitchFamily="34" charset="-120"/>
              </a:rPr>
              <a:t>LIVING STRATEGY GUIDE</a:t>
            </a:r>
            <a:endParaRPr lang="en-US" sz="1200" dirty="0"/>
          </a:p>
        </p:txBody>
      </p:sp>
      <p:sp>
        <p:nvSpPr>
          <p:cNvPr id="30" name="Text 28"/>
          <p:cNvSpPr/>
          <p:nvPr/>
        </p:nvSpPr>
        <p:spPr>
          <a:xfrm>
            <a:off x="5212080" y="3429000"/>
            <a:ext cx="2926080" cy="731520"/>
          </a:xfrm>
          <a:prstGeom prst="rect">
            <a:avLst/>
          </a:prstGeom>
          <a:noFill/>
          <a:ln/>
        </p:spPr>
        <p:txBody>
          <a:bodyPr wrap="square" lIns="0" tIns="0" rIns="0" bIns="0" rtlCol="0" anchor="ctr"/>
          <a:lstStyle/>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Collaboratively built rules,</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procedures, and lessons</a:t>
            </a:r>
            <a:endParaRPr lang="en-US" sz="1200" dirty="0"/>
          </a:p>
          <a:p>
            <a:pPr indent="0" marL="0">
              <a:lnSpc>
                <a:spcPct val="120000"/>
              </a:lnSpc>
              <a:buNone/>
            </a:pPr>
            <a:r>
              <a:rPr lang="en-US" sz="1200" dirty="0">
                <a:solidFill>
                  <a:srgbClr val="FFCC99"/>
                </a:solidFill>
                <a:latin typeface="Trebuchet MS" pitchFamily="34" charset="0"/>
                <a:ea typeface="Trebuchet MS" pitchFamily="34" charset="-122"/>
                <a:cs typeface="Trebuchet MS" pitchFamily="34" charset="-120"/>
              </a:rPr>
              <a:t>that evolve each session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DAILY WORKFLOW</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Four-Phase Trading Protocol</a:t>
            </a:r>
            <a:endParaRPr lang="en-US" sz="2200" dirty="0"/>
          </a:p>
        </p:txBody>
      </p:sp>
      <p:sp>
        <p:nvSpPr>
          <p:cNvPr id="15" name="Shape 13"/>
          <p:cNvSpPr/>
          <p:nvPr/>
        </p:nvSpPr>
        <p:spPr>
          <a:xfrm>
            <a:off x="1554480" y="1280160"/>
            <a:ext cx="502920" cy="502920"/>
          </a:xfrm>
          <a:prstGeom prst="ellipse">
            <a:avLst/>
          </a:prstGeom>
          <a:solidFill>
            <a:srgbClr val="FF9900"/>
          </a:solidFill>
          <a:ln/>
        </p:spPr>
      </p:sp>
      <p:sp>
        <p:nvSpPr>
          <p:cNvPr id="16" name="Text 14"/>
          <p:cNvSpPr/>
          <p:nvPr/>
        </p:nvSpPr>
        <p:spPr>
          <a:xfrm>
            <a:off x="1554480" y="1280160"/>
            <a:ext cx="502920" cy="50292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01</a:t>
            </a:r>
            <a:endParaRPr lang="en-US" sz="1600" dirty="0"/>
          </a:p>
        </p:txBody>
      </p:sp>
      <p:sp>
        <p:nvSpPr>
          <p:cNvPr id="17" name="Text 15"/>
          <p:cNvSpPr/>
          <p:nvPr/>
        </p:nvSpPr>
        <p:spPr>
          <a:xfrm>
            <a:off x="2240280" y="1234440"/>
            <a:ext cx="2286000" cy="320040"/>
          </a:xfrm>
          <a:prstGeom prst="rect">
            <a:avLst/>
          </a:prstGeom>
          <a:noFill/>
          <a:ln/>
        </p:spPr>
        <p:txBody>
          <a:bodyPr wrap="square" lIns="0" tIns="0" rIns="0" bIns="0" rtlCol="0" anchor="ctr"/>
          <a:lstStyle/>
          <a:p>
            <a:pPr indent="0" marL="0">
              <a:buNone/>
            </a:pPr>
            <a:r>
              <a:rPr lang="en-US" sz="1500" b="1" dirty="0">
                <a:solidFill>
                  <a:srgbClr val="FF9900"/>
                </a:solidFill>
                <a:latin typeface="Trebuchet MS" pitchFamily="34" charset="0"/>
                <a:ea typeface="Trebuchet MS" pitchFamily="34" charset="-122"/>
                <a:cs typeface="Trebuchet MS" pitchFamily="34" charset="-120"/>
              </a:rPr>
              <a:t>CONTEXT LOADING</a:t>
            </a:r>
            <a:endParaRPr lang="en-US" sz="1500" dirty="0"/>
          </a:p>
        </p:txBody>
      </p:sp>
      <p:sp>
        <p:nvSpPr>
          <p:cNvPr id="18" name="Text 16"/>
          <p:cNvSpPr/>
          <p:nvPr/>
        </p:nvSpPr>
        <p:spPr>
          <a:xfrm>
            <a:off x="2240280" y="1527048"/>
            <a:ext cx="3200400" cy="502920"/>
          </a:xfrm>
          <a:prstGeom prst="rect">
            <a:avLst/>
          </a:prstGeom>
          <a:noFill/>
          <a:ln/>
        </p:spPr>
        <p:txBody>
          <a:bodyPr wrap="square" lIns="0" tIns="0" rIns="0" bIns="0" rtlCol="0" anchor="ctr"/>
          <a:lstStyle/>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Recall journals, read CSV uploads,</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query database, save snapshot</a:t>
            </a:r>
            <a:endParaRPr lang="en-US" sz="1100" dirty="0"/>
          </a:p>
        </p:txBody>
      </p:sp>
      <p:sp>
        <p:nvSpPr>
          <p:cNvPr id="19" name="Shape 17"/>
          <p:cNvSpPr/>
          <p:nvPr/>
        </p:nvSpPr>
        <p:spPr>
          <a:xfrm>
            <a:off x="1783080" y="1783080"/>
            <a:ext cx="36576" cy="365760"/>
          </a:xfrm>
          <a:prstGeom prst="rect">
            <a:avLst/>
          </a:prstGeom>
          <a:solidFill>
            <a:srgbClr val="FF9900">
              <a:alpha val="40000"/>
            </a:srgbClr>
          </a:solidFill>
          <a:ln/>
        </p:spPr>
      </p:sp>
      <p:sp>
        <p:nvSpPr>
          <p:cNvPr id="20" name="Shape 18"/>
          <p:cNvSpPr/>
          <p:nvPr/>
        </p:nvSpPr>
        <p:spPr>
          <a:xfrm>
            <a:off x="1554480" y="2194560"/>
            <a:ext cx="502920" cy="502920"/>
          </a:xfrm>
          <a:prstGeom prst="ellipse">
            <a:avLst/>
          </a:prstGeom>
          <a:solidFill>
            <a:srgbClr val="9999FF"/>
          </a:solidFill>
          <a:ln/>
        </p:spPr>
      </p:sp>
      <p:sp>
        <p:nvSpPr>
          <p:cNvPr id="21" name="Text 19"/>
          <p:cNvSpPr/>
          <p:nvPr/>
        </p:nvSpPr>
        <p:spPr>
          <a:xfrm>
            <a:off x="1554480" y="2194560"/>
            <a:ext cx="502920" cy="50292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02</a:t>
            </a:r>
            <a:endParaRPr lang="en-US" sz="1600" dirty="0"/>
          </a:p>
        </p:txBody>
      </p:sp>
      <p:sp>
        <p:nvSpPr>
          <p:cNvPr id="22" name="Text 20"/>
          <p:cNvSpPr/>
          <p:nvPr/>
        </p:nvSpPr>
        <p:spPr>
          <a:xfrm>
            <a:off x="2240280" y="2148840"/>
            <a:ext cx="2286000" cy="320040"/>
          </a:xfrm>
          <a:prstGeom prst="rect">
            <a:avLst/>
          </a:prstGeom>
          <a:noFill/>
          <a:ln/>
        </p:spPr>
        <p:txBody>
          <a:bodyPr wrap="square" lIns="0" tIns="0" rIns="0" bIns="0" rtlCol="0" anchor="ctr"/>
          <a:lstStyle/>
          <a:p>
            <a:pPr indent="0" marL="0">
              <a:buNone/>
            </a:pPr>
            <a:r>
              <a:rPr lang="en-US" sz="1500" b="1" dirty="0">
                <a:solidFill>
                  <a:srgbClr val="9999FF"/>
                </a:solidFill>
                <a:latin typeface="Trebuchet MS" pitchFamily="34" charset="0"/>
                <a:ea typeface="Trebuchet MS" pitchFamily="34" charset="-122"/>
                <a:cs typeface="Trebuchet MS" pitchFamily="34" charset="-120"/>
              </a:rPr>
              <a:t>INTELLIGENCE</a:t>
            </a:r>
            <a:endParaRPr lang="en-US" sz="1500" dirty="0"/>
          </a:p>
        </p:txBody>
      </p:sp>
      <p:sp>
        <p:nvSpPr>
          <p:cNvPr id="23" name="Text 21"/>
          <p:cNvSpPr/>
          <p:nvPr/>
        </p:nvSpPr>
        <p:spPr>
          <a:xfrm>
            <a:off x="2240280" y="2441448"/>
            <a:ext cx="3200400" cy="502920"/>
          </a:xfrm>
          <a:prstGeom prst="rect">
            <a:avLst/>
          </a:prstGeom>
          <a:noFill/>
          <a:ln/>
        </p:spPr>
        <p:txBody>
          <a:bodyPr wrap="square" lIns="0" tIns="0" rIns="0" bIns="0" rtlCol="0" anchor="ctr"/>
          <a:lstStyle/>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Process Alex's update,</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digest Insiders Chat,</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assess market conditions</a:t>
            </a:r>
            <a:endParaRPr lang="en-US" sz="1100" dirty="0"/>
          </a:p>
        </p:txBody>
      </p:sp>
      <p:sp>
        <p:nvSpPr>
          <p:cNvPr id="24" name="Shape 22"/>
          <p:cNvSpPr/>
          <p:nvPr/>
        </p:nvSpPr>
        <p:spPr>
          <a:xfrm>
            <a:off x="1783080" y="2697480"/>
            <a:ext cx="36576" cy="365760"/>
          </a:xfrm>
          <a:prstGeom prst="rect">
            <a:avLst/>
          </a:prstGeom>
          <a:solidFill>
            <a:srgbClr val="9999FF">
              <a:alpha val="40000"/>
            </a:srgbClr>
          </a:solidFill>
          <a:ln/>
        </p:spPr>
      </p:sp>
      <p:sp>
        <p:nvSpPr>
          <p:cNvPr id="25" name="Shape 23"/>
          <p:cNvSpPr/>
          <p:nvPr/>
        </p:nvSpPr>
        <p:spPr>
          <a:xfrm>
            <a:off x="1554480" y="3108960"/>
            <a:ext cx="502920" cy="502920"/>
          </a:xfrm>
          <a:prstGeom prst="ellipse">
            <a:avLst/>
          </a:prstGeom>
          <a:solidFill>
            <a:srgbClr val="66CCCC"/>
          </a:solidFill>
          <a:ln/>
        </p:spPr>
      </p:sp>
      <p:sp>
        <p:nvSpPr>
          <p:cNvPr id="26" name="Text 24"/>
          <p:cNvSpPr/>
          <p:nvPr/>
        </p:nvSpPr>
        <p:spPr>
          <a:xfrm>
            <a:off x="1554480" y="3108960"/>
            <a:ext cx="502920" cy="50292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03</a:t>
            </a:r>
            <a:endParaRPr lang="en-US" sz="1600" dirty="0"/>
          </a:p>
        </p:txBody>
      </p:sp>
      <p:sp>
        <p:nvSpPr>
          <p:cNvPr id="27" name="Text 25"/>
          <p:cNvSpPr/>
          <p:nvPr/>
        </p:nvSpPr>
        <p:spPr>
          <a:xfrm>
            <a:off x="2240280" y="3063240"/>
            <a:ext cx="2286000" cy="320040"/>
          </a:xfrm>
          <a:prstGeom prst="rect">
            <a:avLst/>
          </a:prstGeom>
          <a:noFill/>
          <a:ln/>
        </p:spPr>
        <p:txBody>
          <a:bodyPr wrap="square" lIns="0" tIns="0" rIns="0" bIns="0" rtlCol="0" anchor="ctr"/>
          <a:lstStyle/>
          <a:p>
            <a:pPr indent="0" marL="0">
              <a:buNone/>
            </a:pPr>
            <a:r>
              <a:rPr lang="en-US" sz="1500" b="1" dirty="0">
                <a:solidFill>
                  <a:srgbClr val="66CCCC"/>
                </a:solidFill>
                <a:latin typeface="Trebuchet MS" pitchFamily="34" charset="0"/>
                <a:ea typeface="Trebuchet MS" pitchFamily="34" charset="-122"/>
                <a:cs typeface="Trebuchet MS" pitchFamily="34" charset="-120"/>
              </a:rPr>
              <a:t>EXECUTION</a:t>
            </a:r>
            <a:endParaRPr lang="en-US" sz="1500" dirty="0"/>
          </a:p>
        </p:txBody>
      </p:sp>
      <p:sp>
        <p:nvSpPr>
          <p:cNvPr id="28" name="Text 26"/>
          <p:cNvSpPr/>
          <p:nvPr/>
        </p:nvSpPr>
        <p:spPr>
          <a:xfrm>
            <a:off x="2240280" y="3355848"/>
            <a:ext cx="3200400" cy="502920"/>
          </a:xfrm>
          <a:prstGeom prst="rect">
            <a:avLst/>
          </a:prstGeom>
          <a:noFill/>
          <a:ln/>
        </p:spPr>
        <p:txBody>
          <a:bodyPr wrap="square" lIns="0" tIns="0" rIns="0" bIns="0" rtlCol="0" anchor="ctr"/>
          <a:lstStyle/>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Generate trade plan with tickets,</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verify orders, confirm fills,</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update database</a:t>
            </a:r>
            <a:endParaRPr lang="en-US" sz="1100" dirty="0"/>
          </a:p>
        </p:txBody>
      </p:sp>
      <p:sp>
        <p:nvSpPr>
          <p:cNvPr id="29" name="Shape 27"/>
          <p:cNvSpPr/>
          <p:nvPr/>
        </p:nvSpPr>
        <p:spPr>
          <a:xfrm>
            <a:off x="1783080" y="3611880"/>
            <a:ext cx="36576" cy="365760"/>
          </a:xfrm>
          <a:prstGeom prst="rect">
            <a:avLst/>
          </a:prstGeom>
          <a:solidFill>
            <a:srgbClr val="66CCCC">
              <a:alpha val="40000"/>
            </a:srgbClr>
          </a:solidFill>
          <a:ln/>
        </p:spPr>
      </p:sp>
      <p:sp>
        <p:nvSpPr>
          <p:cNvPr id="30" name="Shape 28"/>
          <p:cNvSpPr/>
          <p:nvPr/>
        </p:nvSpPr>
        <p:spPr>
          <a:xfrm>
            <a:off x="1554480" y="4023360"/>
            <a:ext cx="502920" cy="502920"/>
          </a:xfrm>
          <a:prstGeom prst="ellipse">
            <a:avLst/>
          </a:prstGeom>
          <a:solidFill>
            <a:srgbClr val="CC99CC"/>
          </a:solidFill>
          <a:ln/>
        </p:spPr>
      </p:sp>
      <p:sp>
        <p:nvSpPr>
          <p:cNvPr id="31" name="Text 29"/>
          <p:cNvSpPr/>
          <p:nvPr/>
        </p:nvSpPr>
        <p:spPr>
          <a:xfrm>
            <a:off x="1554480" y="4023360"/>
            <a:ext cx="502920" cy="50292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04</a:t>
            </a:r>
            <a:endParaRPr lang="en-US" sz="1600" dirty="0"/>
          </a:p>
        </p:txBody>
      </p:sp>
      <p:sp>
        <p:nvSpPr>
          <p:cNvPr id="32" name="Text 30"/>
          <p:cNvSpPr/>
          <p:nvPr/>
        </p:nvSpPr>
        <p:spPr>
          <a:xfrm>
            <a:off x="2240280" y="3977640"/>
            <a:ext cx="2286000" cy="320040"/>
          </a:xfrm>
          <a:prstGeom prst="rect">
            <a:avLst/>
          </a:prstGeom>
          <a:noFill/>
          <a:ln/>
        </p:spPr>
        <p:txBody>
          <a:bodyPr wrap="square" lIns="0" tIns="0" rIns="0" bIns="0" rtlCol="0" anchor="ctr"/>
          <a:lstStyle/>
          <a:p>
            <a:pPr indent="0" marL="0">
              <a:buNone/>
            </a:pPr>
            <a:r>
              <a:rPr lang="en-US" sz="1500" b="1" dirty="0">
                <a:solidFill>
                  <a:srgbClr val="CC99CC"/>
                </a:solidFill>
                <a:latin typeface="Trebuchet MS" pitchFamily="34" charset="0"/>
                <a:ea typeface="Trebuchet MS" pitchFamily="34" charset="-122"/>
                <a:cs typeface="Trebuchet MS" pitchFamily="34" charset="-120"/>
              </a:rPr>
              <a:t>DOCUMENTATION</a:t>
            </a:r>
            <a:endParaRPr lang="en-US" sz="1500" dirty="0"/>
          </a:p>
        </p:txBody>
      </p:sp>
      <p:sp>
        <p:nvSpPr>
          <p:cNvPr id="33" name="Text 31"/>
          <p:cNvSpPr/>
          <p:nvPr/>
        </p:nvSpPr>
        <p:spPr>
          <a:xfrm>
            <a:off x="2240280" y="4270248"/>
            <a:ext cx="3200400" cy="502920"/>
          </a:xfrm>
          <a:prstGeom prst="rect">
            <a:avLst/>
          </a:prstGeom>
          <a:noFill/>
          <a:ln/>
        </p:spPr>
        <p:txBody>
          <a:bodyPr wrap="square" lIns="0" tIns="0" rIns="0" bIns="0" rtlCol="0" anchor="ctr"/>
          <a:lstStyle/>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Capture lessons, save journal,</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update Strategy Guide,</a:t>
            </a:r>
            <a:endParaRPr lang="en-US" sz="1100" dirty="0"/>
          </a:p>
          <a:p>
            <a:pPr indent="0" marL="0">
              <a:lnSpc>
                <a:spcPct val="115000"/>
              </a:lnSpc>
              <a:buNone/>
            </a:pPr>
            <a:r>
              <a:rPr lang="en-US" sz="1100" dirty="0">
                <a:solidFill>
                  <a:srgbClr val="9999AA"/>
                </a:solidFill>
                <a:latin typeface="Trebuchet MS" pitchFamily="34" charset="0"/>
                <a:ea typeface="Trebuchet MS" pitchFamily="34" charset="-122"/>
                <a:cs typeface="Trebuchet MS" pitchFamily="34" charset="-120"/>
              </a:rPr>
              <a:t>store to Context Vault</a:t>
            </a:r>
            <a:endParaRPr lang="en-US" sz="1100" dirty="0"/>
          </a:p>
        </p:txBody>
      </p:sp>
      <p:sp>
        <p:nvSpPr>
          <p:cNvPr id="34" name="Shape 32"/>
          <p:cNvSpPr/>
          <p:nvPr/>
        </p:nvSpPr>
        <p:spPr>
          <a:xfrm>
            <a:off x="5669280" y="1234440"/>
            <a:ext cx="3108960" cy="3291840"/>
          </a:xfrm>
          <a:prstGeom prst="rect">
            <a:avLst/>
          </a:prstGeom>
          <a:solidFill>
            <a:srgbClr val="1A1A2E"/>
          </a:solidFill>
          <a:ln w="19050">
            <a:solidFill>
              <a:srgbClr val="FFAA00"/>
            </a:solidFill>
            <a:prstDash val="solid"/>
          </a:ln>
        </p:spPr>
      </p:sp>
      <p:sp>
        <p:nvSpPr>
          <p:cNvPr id="35" name="Shape 33"/>
          <p:cNvSpPr/>
          <p:nvPr/>
        </p:nvSpPr>
        <p:spPr>
          <a:xfrm>
            <a:off x="5669280" y="1234440"/>
            <a:ext cx="3108960" cy="54864"/>
          </a:xfrm>
          <a:prstGeom prst="rect">
            <a:avLst/>
          </a:prstGeom>
          <a:solidFill>
            <a:srgbClr val="FFAA00"/>
          </a:solidFill>
          <a:ln/>
        </p:spPr>
      </p:sp>
      <p:sp>
        <p:nvSpPr>
          <p:cNvPr id="36" name="Text 34"/>
          <p:cNvSpPr/>
          <p:nvPr/>
        </p:nvSpPr>
        <p:spPr>
          <a:xfrm>
            <a:off x="5852160" y="1371600"/>
            <a:ext cx="274320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KEY PRINCIPLE</a:t>
            </a:r>
            <a:endParaRPr lang="en-US" sz="1200" dirty="0"/>
          </a:p>
        </p:txBody>
      </p:sp>
      <p:sp>
        <p:nvSpPr>
          <p:cNvPr id="37" name="Text 35"/>
          <p:cNvSpPr/>
          <p:nvPr/>
        </p:nvSpPr>
        <p:spPr>
          <a:xfrm>
            <a:off x="5852160" y="1737360"/>
            <a:ext cx="2743200" cy="914400"/>
          </a:xfrm>
          <a:prstGeom prst="rect">
            <a:avLst/>
          </a:prstGeom>
          <a:noFill/>
          <a:ln/>
        </p:spPr>
        <p:txBody>
          <a:bodyPr wrap="square" lIns="0" tIns="0" rIns="0" bIns="0" rtlCol="0" anchor="ctr"/>
          <a:lstStyle/>
          <a:p>
            <a:pPr indent="0" marL="0">
              <a:lnSpc>
                <a:spcPct val="130000"/>
              </a:lnSpc>
              <a:buNone/>
            </a:pPr>
            <a:r>
              <a:rPr lang="en-US" sz="1200" dirty="0">
                <a:solidFill>
                  <a:srgbClr val="FFCC99"/>
                </a:solidFill>
                <a:latin typeface="Trebuchet MS" pitchFamily="34" charset="0"/>
                <a:ea typeface="Trebuchet MS" pitchFamily="34" charset="-122"/>
                <a:cs typeface="Trebuchet MS" pitchFamily="34" charset="-120"/>
              </a:rPr>
              <a:t>Every session follows the same protocol. This prevents the "what did I forget?" anxiety that comes with managing 30+ positions.</a:t>
            </a:r>
            <a:endParaRPr lang="en-US" sz="1200" dirty="0"/>
          </a:p>
        </p:txBody>
      </p:sp>
      <p:sp>
        <p:nvSpPr>
          <p:cNvPr id="38" name="Text 36"/>
          <p:cNvSpPr/>
          <p:nvPr/>
        </p:nvSpPr>
        <p:spPr>
          <a:xfrm>
            <a:off x="5852160" y="2834640"/>
            <a:ext cx="2743200" cy="548640"/>
          </a:xfrm>
          <a:prstGeom prst="rect">
            <a:avLst/>
          </a:prstGeom>
          <a:noFill/>
          <a:ln/>
        </p:spPr>
        <p:txBody>
          <a:bodyPr wrap="square" lIns="0" tIns="0" rIns="0" bIns="0" rtlCol="0" anchor="ctr"/>
          <a:lstStyle/>
          <a:p>
            <a:pPr indent="0" marL="0">
              <a:lnSpc>
                <a:spcPct val="120000"/>
              </a:lnSpc>
              <a:buNone/>
            </a:pPr>
            <a:r>
              <a:rPr lang="en-US" sz="1400" b="1" i="1" dirty="0">
                <a:solidFill>
                  <a:srgbClr val="FF9900"/>
                </a:solidFill>
                <a:latin typeface="Trebuchet MS" pitchFamily="34" charset="0"/>
                <a:ea typeface="Trebuchet MS" pitchFamily="34" charset="-122"/>
                <a:cs typeface="Trebuchet MS" pitchFamily="34" charset="-120"/>
              </a:rPr>
              <a:t>If it's not in Context Vault,</a:t>
            </a:r>
            <a:endParaRPr lang="en-US" sz="1400" dirty="0"/>
          </a:p>
          <a:p>
            <a:pPr indent="0" marL="0">
              <a:lnSpc>
                <a:spcPct val="120000"/>
              </a:lnSpc>
              <a:buNone/>
            </a:pPr>
            <a:r>
              <a:rPr lang="en-US" sz="1400" b="1" i="1" dirty="0">
                <a:solidFill>
                  <a:srgbClr val="FF9900"/>
                </a:solidFill>
                <a:latin typeface="Trebuchet MS" pitchFamily="34" charset="0"/>
                <a:ea typeface="Trebuchet MS" pitchFamily="34" charset="-122"/>
                <a:cs typeface="Trebuchet MS" pitchFamily="34" charset="-120"/>
              </a:rPr>
              <a:t>it's lost.</a:t>
            </a:r>
            <a:endParaRPr lang="en-US" sz="1400" dirty="0"/>
          </a:p>
        </p:txBody>
      </p:sp>
      <p:sp>
        <p:nvSpPr>
          <p:cNvPr id="39" name="Text 37"/>
          <p:cNvSpPr/>
          <p:nvPr/>
        </p:nvSpPr>
        <p:spPr>
          <a:xfrm>
            <a:off x="5852160" y="3474720"/>
            <a:ext cx="2743200" cy="731520"/>
          </a:xfrm>
          <a:prstGeom prst="rect">
            <a:avLst/>
          </a:prstGeom>
          <a:noFill/>
          <a:ln/>
        </p:spPr>
        <p:txBody>
          <a:bodyPr wrap="square" lIns="0" tIns="0" rIns="0" bIns="0" rtlCol="0" anchor="ctr"/>
          <a:lstStyle/>
          <a:p>
            <a:pPr indent="0" marL="0">
              <a:lnSpc>
                <a:spcPct val="130000"/>
              </a:lnSpc>
              <a:buNone/>
            </a:pPr>
            <a:r>
              <a:rPr lang="en-US" sz="1100" dirty="0">
                <a:solidFill>
                  <a:srgbClr val="9999AA"/>
                </a:solidFill>
                <a:latin typeface="Trebuchet MS" pitchFamily="34" charset="0"/>
                <a:ea typeface="Trebuchet MS" pitchFamily="34" charset="-122"/>
                <a:cs typeface="Trebuchet MS" pitchFamily="34" charset="-120"/>
              </a:rPr>
              <a:t>File uploads don't persist between sessions. Save early, save often.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PHASE 1: CONTEXT LOADING</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000" i="1" dirty="0">
                <a:solidFill>
                  <a:srgbClr val="FFCC99"/>
                </a:solidFill>
                <a:latin typeface="Trebuchet MS" pitchFamily="34" charset="0"/>
                <a:ea typeface="Trebuchet MS" pitchFamily="34" charset="-122"/>
                <a:cs typeface="Trebuchet MS" pitchFamily="34" charset="-120"/>
              </a:rPr>
              <a:t>"Good Morning. Let's get started."</a:t>
            </a:r>
            <a:endParaRPr lang="en-US" sz="2000" dirty="0"/>
          </a:p>
        </p:txBody>
      </p:sp>
      <p:sp>
        <p:nvSpPr>
          <p:cNvPr id="15" name="Text 13"/>
          <p:cNvSpPr/>
          <p:nvPr/>
        </p:nvSpPr>
        <p:spPr>
          <a:xfrm>
            <a:off x="1554480" y="1280160"/>
            <a:ext cx="22860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WORKSPACE VERIFY</a:t>
            </a:r>
            <a:endParaRPr lang="en-US" sz="1200" dirty="0"/>
          </a:p>
        </p:txBody>
      </p:sp>
      <p:sp>
        <p:nvSpPr>
          <p:cNvPr id="16" name="Text 14"/>
          <p:cNvSpPr/>
          <p:nvPr/>
        </p:nvSpPr>
        <p:spPr>
          <a:xfrm>
            <a:off x="3840480" y="1280160"/>
            <a:ext cx="3474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Confirm Context Vault → diamond_money_press</a:t>
            </a:r>
            <a:endParaRPr lang="en-US" sz="1200" dirty="0"/>
          </a:p>
        </p:txBody>
      </p:sp>
      <p:sp>
        <p:nvSpPr>
          <p:cNvPr id="17" name="Shape 15"/>
          <p:cNvSpPr/>
          <p:nvPr/>
        </p:nvSpPr>
        <p:spPr>
          <a:xfrm>
            <a:off x="7589520" y="1280160"/>
            <a:ext cx="1097280" cy="274320"/>
          </a:xfrm>
          <a:prstGeom prst="roundRect">
            <a:avLst>
              <a:gd name="adj" fmla="val 16667"/>
            </a:avLst>
          </a:prstGeom>
          <a:solidFill>
            <a:srgbClr val="44CC66"/>
          </a:solidFill>
          <a:ln/>
        </p:spPr>
      </p:sp>
      <p:sp>
        <p:nvSpPr>
          <p:cNvPr id="18" name="Text 16"/>
          <p:cNvSpPr/>
          <p:nvPr/>
        </p:nvSpPr>
        <p:spPr>
          <a:xfrm>
            <a:off x="7589520" y="1280160"/>
            <a:ext cx="109728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CONFIRMED</a:t>
            </a:r>
            <a:endParaRPr lang="en-US" sz="1000" dirty="0"/>
          </a:p>
        </p:txBody>
      </p:sp>
      <p:sp>
        <p:nvSpPr>
          <p:cNvPr id="19" name="Shape 17"/>
          <p:cNvSpPr/>
          <p:nvPr/>
        </p:nvSpPr>
        <p:spPr>
          <a:xfrm>
            <a:off x="1554480" y="1664208"/>
            <a:ext cx="7132320" cy="9144"/>
          </a:xfrm>
          <a:prstGeom prst="rect">
            <a:avLst/>
          </a:prstGeom>
          <a:solidFill>
            <a:srgbClr val="FF9900">
              <a:alpha val="25000"/>
            </a:srgbClr>
          </a:solidFill>
          <a:ln/>
        </p:spPr>
      </p:sp>
      <p:sp>
        <p:nvSpPr>
          <p:cNvPr id="20" name="Text 18"/>
          <p:cNvSpPr/>
          <p:nvPr/>
        </p:nvSpPr>
        <p:spPr>
          <a:xfrm>
            <a:off x="1554480" y="1938528"/>
            <a:ext cx="22860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JOURNAL RECALL</a:t>
            </a:r>
            <a:endParaRPr lang="en-US" sz="1200" dirty="0"/>
          </a:p>
        </p:txBody>
      </p:sp>
      <p:sp>
        <p:nvSpPr>
          <p:cNvPr id="21" name="Text 19"/>
          <p:cNvSpPr/>
          <p:nvPr/>
        </p:nvSpPr>
        <p:spPr>
          <a:xfrm>
            <a:off x="3840480" y="1938528"/>
            <a:ext cx="3474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Search recent Daily Trading Journals (Feb 2-6)</a:t>
            </a:r>
            <a:endParaRPr lang="en-US" sz="1200" dirty="0"/>
          </a:p>
        </p:txBody>
      </p:sp>
      <p:sp>
        <p:nvSpPr>
          <p:cNvPr id="22" name="Shape 20"/>
          <p:cNvSpPr/>
          <p:nvPr/>
        </p:nvSpPr>
        <p:spPr>
          <a:xfrm>
            <a:off x="7589520" y="1938528"/>
            <a:ext cx="1097280" cy="274320"/>
          </a:xfrm>
          <a:prstGeom prst="roundRect">
            <a:avLst>
              <a:gd name="adj" fmla="val 16667"/>
            </a:avLst>
          </a:prstGeom>
          <a:solidFill>
            <a:srgbClr val="44CC66"/>
          </a:solidFill>
          <a:ln/>
        </p:spPr>
      </p:sp>
      <p:sp>
        <p:nvSpPr>
          <p:cNvPr id="23" name="Text 21"/>
          <p:cNvSpPr/>
          <p:nvPr/>
        </p:nvSpPr>
        <p:spPr>
          <a:xfrm>
            <a:off x="7589520" y="1938528"/>
            <a:ext cx="109728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5 FOUND</a:t>
            </a:r>
            <a:endParaRPr lang="en-US" sz="1000" dirty="0"/>
          </a:p>
        </p:txBody>
      </p:sp>
      <p:sp>
        <p:nvSpPr>
          <p:cNvPr id="24" name="Shape 22"/>
          <p:cNvSpPr/>
          <p:nvPr/>
        </p:nvSpPr>
        <p:spPr>
          <a:xfrm>
            <a:off x="1554480" y="2322576"/>
            <a:ext cx="7132320" cy="9144"/>
          </a:xfrm>
          <a:prstGeom prst="rect">
            <a:avLst/>
          </a:prstGeom>
          <a:solidFill>
            <a:srgbClr val="FF9900">
              <a:alpha val="25000"/>
            </a:srgbClr>
          </a:solidFill>
          <a:ln/>
        </p:spPr>
      </p:sp>
      <p:sp>
        <p:nvSpPr>
          <p:cNvPr id="25" name="Text 23"/>
          <p:cNvSpPr/>
          <p:nvPr/>
        </p:nvSpPr>
        <p:spPr>
          <a:xfrm>
            <a:off x="1554480" y="2596896"/>
            <a:ext cx="22860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CSV PARSE</a:t>
            </a:r>
            <a:endParaRPr lang="en-US" sz="1200" dirty="0"/>
          </a:p>
        </p:txBody>
      </p:sp>
      <p:sp>
        <p:nvSpPr>
          <p:cNvPr id="26" name="Text 24"/>
          <p:cNvSpPr/>
          <p:nvPr/>
        </p:nvSpPr>
        <p:spPr>
          <a:xfrm>
            <a:off x="3840480" y="2596896"/>
            <a:ext cx="3474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Read position report + activity transactions</a:t>
            </a:r>
            <a:endParaRPr lang="en-US" sz="1200" dirty="0"/>
          </a:p>
        </p:txBody>
      </p:sp>
      <p:sp>
        <p:nvSpPr>
          <p:cNvPr id="27" name="Shape 25"/>
          <p:cNvSpPr/>
          <p:nvPr/>
        </p:nvSpPr>
        <p:spPr>
          <a:xfrm>
            <a:off x="7589520" y="2596896"/>
            <a:ext cx="1097280" cy="274320"/>
          </a:xfrm>
          <a:prstGeom prst="roundRect">
            <a:avLst>
              <a:gd name="adj" fmla="val 16667"/>
            </a:avLst>
          </a:prstGeom>
          <a:solidFill>
            <a:srgbClr val="44CC66"/>
          </a:solidFill>
          <a:ln/>
        </p:spPr>
      </p:sp>
      <p:sp>
        <p:nvSpPr>
          <p:cNvPr id="28" name="Text 26"/>
          <p:cNvSpPr/>
          <p:nvPr/>
        </p:nvSpPr>
        <p:spPr>
          <a:xfrm>
            <a:off x="7589520" y="2596896"/>
            <a:ext cx="109728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LOADED</a:t>
            </a:r>
            <a:endParaRPr lang="en-US" sz="1000" dirty="0"/>
          </a:p>
        </p:txBody>
      </p:sp>
      <p:sp>
        <p:nvSpPr>
          <p:cNvPr id="29" name="Shape 27"/>
          <p:cNvSpPr/>
          <p:nvPr/>
        </p:nvSpPr>
        <p:spPr>
          <a:xfrm>
            <a:off x="1554480" y="2980944"/>
            <a:ext cx="7132320" cy="9144"/>
          </a:xfrm>
          <a:prstGeom prst="rect">
            <a:avLst/>
          </a:prstGeom>
          <a:solidFill>
            <a:srgbClr val="FF9900">
              <a:alpha val="25000"/>
            </a:srgbClr>
          </a:solidFill>
          <a:ln/>
        </p:spPr>
      </p:sp>
      <p:sp>
        <p:nvSpPr>
          <p:cNvPr id="30" name="Text 28"/>
          <p:cNvSpPr/>
          <p:nvPr/>
        </p:nvSpPr>
        <p:spPr>
          <a:xfrm>
            <a:off x="1554480" y="3255264"/>
            <a:ext cx="22860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DATABASE QUERY</a:t>
            </a:r>
            <a:endParaRPr lang="en-US" sz="1200" dirty="0"/>
          </a:p>
        </p:txBody>
      </p:sp>
      <p:sp>
        <p:nvSpPr>
          <p:cNvPr id="31" name="Text 29"/>
          <p:cNvSpPr/>
          <p:nvPr/>
        </p:nvSpPr>
        <p:spPr>
          <a:xfrm>
            <a:off x="3840480" y="3255264"/>
            <a:ext cx="3474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Cross-reference Neon DB positions vs broker CSV</a:t>
            </a:r>
            <a:endParaRPr lang="en-US" sz="1200" dirty="0"/>
          </a:p>
        </p:txBody>
      </p:sp>
      <p:sp>
        <p:nvSpPr>
          <p:cNvPr id="32" name="Shape 30"/>
          <p:cNvSpPr/>
          <p:nvPr/>
        </p:nvSpPr>
        <p:spPr>
          <a:xfrm>
            <a:off x="7589520" y="3255264"/>
            <a:ext cx="1097280" cy="274320"/>
          </a:xfrm>
          <a:prstGeom prst="roundRect">
            <a:avLst>
              <a:gd name="adj" fmla="val 16667"/>
            </a:avLst>
          </a:prstGeom>
          <a:solidFill>
            <a:srgbClr val="44CC66"/>
          </a:solidFill>
          <a:ln/>
        </p:spPr>
      </p:sp>
      <p:sp>
        <p:nvSpPr>
          <p:cNvPr id="33" name="Text 31"/>
          <p:cNvSpPr/>
          <p:nvPr/>
        </p:nvSpPr>
        <p:spPr>
          <a:xfrm>
            <a:off x="7589520" y="3255264"/>
            <a:ext cx="109728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ALIGNED</a:t>
            </a:r>
            <a:endParaRPr lang="en-US" sz="1000" dirty="0"/>
          </a:p>
        </p:txBody>
      </p:sp>
      <p:sp>
        <p:nvSpPr>
          <p:cNvPr id="34" name="Shape 32"/>
          <p:cNvSpPr/>
          <p:nvPr/>
        </p:nvSpPr>
        <p:spPr>
          <a:xfrm>
            <a:off x="1554480" y="3639312"/>
            <a:ext cx="7132320" cy="9144"/>
          </a:xfrm>
          <a:prstGeom prst="rect">
            <a:avLst/>
          </a:prstGeom>
          <a:solidFill>
            <a:srgbClr val="FF9900">
              <a:alpha val="25000"/>
            </a:srgbClr>
          </a:solidFill>
          <a:ln/>
        </p:spPr>
      </p:sp>
      <p:sp>
        <p:nvSpPr>
          <p:cNvPr id="35" name="Text 33"/>
          <p:cNvSpPr/>
          <p:nvPr/>
        </p:nvSpPr>
        <p:spPr>
          <a:xfrm>
            <a:off x="1554480" y="3913632"/>
            <a:ext cx="22860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SNAPSHOT SAVE</a:t>
            </a:r>
            <a:endParaRPr lang="en-US" sz="1200" dirty="0"/>
          </a:p>
        </p:txBody>
      </p:sp>
      <p:sp>
        <p:nvSpPr>
          <p:cNvPr id="36" name="Text 34"/>
          <p:cNvSpPr/>
          <p:nvPr/>
        </p:nvSpPr>
        <p:spPr>
          <a:xfrm>
            <a:off x="3840480" y="3913632"/>
            <a:ext cx="3474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Store current state to Context Vault immediately</a:t>
            </a:r>
            <a:endParaRPr lang="en-US" sz="1200" dirty="0"/>
          </a:p>
        </p:txBody>
      </p:sp>
      <p:sp>
        <p:nvSpPr>
          <p:cNvPr id="37" name="Shape 35"/>
          <p:cNvSpPr/>
          <p:nvPr/>
        </p:nvSpPr>
        <p:spPr>
          <a:xfrm>
            <a:off x="7589520" y="3913632"/>
            <a:ext cx="1097280" cy="274320"/>
          </a:xfrm>
          <a:prstGeom prst="roundRect">
            <a:avLst>
              <a:gd name="adj" fmla="val 16667"/>
            </a:avLst>
          </a:prstGeom>
          <a:solidFill>
            <a:srgbClr val="44CC66"/>
          </a:solidFill>
          <a:ln/>
        </p:spPr>
      </p:sp>
      <p:sp>
        <p:nvSpPr>
          <p:cNvPr id="38" name="Text 36"/>
          <p:cNvSpPr/>
          <p:nvPr/>
        </p:nvSpPr>
        <p:spPr>
          <a:xfrm>
            <a:off x="7589520" y="3913632"/>
            <a:ext cx="109728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SAVED</a:t>
            </a:r>
            <a:endParaRPr lang="en-US" sz="1000" dirty="0"/>
          </a:p>
        </p:txBody>
      </p:sp>
      <p:sp>
        <p:nvSpPr>
          <p:cNvPr id="39" name="Shape 37"/>
          <p:cNvSpPr/>
          <p:nvPr/>
        </p:nvSpPr>
        <p:spPr>
          <a:xfrm>
            <a:off x="1554480" y="4297680"/>
            <a:ext cx="7132320" cy="594360"/>
          </a:xfrm>
          <a:prstGeom prst="rect">
            <a:avLst/>
          </a:prstGeom>
          <a:solidFill>
            <a:srgbClr val="1A1A2E"/>
          </a:solidFill>
          <a:ln w="19050">
            <a:solidFill>
              <a:srgbClr val="66CCCC"/>
            </a:solidFill>
            <a:prstDash val="solid"/>
          </a:ln>
        </p:spPr>
      </p:sp>
      <p:sp>
        <p:nvSpPr>
          <p:cNvPr id="40" name="Shape 38"/>
          <p:cNvSpPr/>
          <p:nvPr/>
        </p:nvSpPr>
        <p:spPr>
          <a:xfrm>
            <a:off x="1554480" y="4297680"/>
            <a:ext cx="7132320" cy="54864"/>
          </a:xfrm>
          <a:prstGeom prst="rect">
            <a:avLst/>
          </a:prstGeom>
          <a:solidFill>
            <a:srgbClr val="66CCCC"/>
          </a:solidFill>
          <a:ln/>
        </p:spPr>
      </p:sp>
      <p:sp>
        <p:nvSpPr>
          <p:cNvPr id="41" name="Text 39"/>
          <p:cNvSpPr/>
          <p:nvPr/>
        </p:nvSpPr>
        <p:spPr>
          <a:xfrm>
            <a:off x="1737360" y="4407408"/>
            <a:ext cx="6766560" cy="365760"/>
          </a:xfrm>
          <a:prstGeom prst="rect">
            <a:avLst/>
          </a:prstGeom>
          <a:noFill/>
          <a:ln/>
        </p:spPr>
        <p:txBody>
          <a:bodyPr wrap="square" lIns="0" tIns="0" rIns="0" bIns="0" rtlCol="0" anchor="ctr"/>
          <a:lstStyle/>
          <a:p>
            <a:pPr indent="0" marL="0">
              <a:buNone/>
            </a:pPr>
            <a:r>
              <a:rPr lang="en-US" sz="1200" dirty="0">
                <a:solidFill>
                  <a:srgbClr val="66CCCC"/>
                </a:solidFill>
                <a:latin typeface="Trebuchet MS" pitchFamily="34" charset="0"/>
                <a:ea typeface="Trebuchet MS" pitchFamily="34" charset="-122"/>
                <a:cs typeface="Trebuchet MS" pitchFamily="34" charset="-120"/>
              </a:rPr>
              <a:t>OUTPUT: Morning briefing with all positions, Greeks, working orders, and today's action items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SOURCE OF TRUTH</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The Data Authority Hierarchy</a:t>
            </a:r>
            <a:endParaRPr lang="en-US" sz="2200" dirty="0"/>
          </a:p>
        </p:txBody>
      </p:sp>
      <p:sp>
        <p:nvSpPr>
          <p:cNvPr id="15" name="Shape 13"/>
          <p:cNvSpPr/>
          <p:nvPr/>
        </p:nvSpPr>
        <p:spPr>
          <a:xfrm>
            <a:off x="1554480" y="1307592"/>
            <a:ext cx="411480" cy="411480"/>
          </a:xfrm>
          <a:prstGeom prst="ellipse">
            <a:avLst/>
          </a:prstGeom>
          <a:solidFill>
            <a:srgbClr val="FF9900"/>
          </a:solidFill>
          <a:ln/>
        </p:spPr>
      </p:sp>
      <p:sp>
        <p:nvSpPr>
          <p:cNvPr id="16" name="Text 14"/>
          <p:cNvSpPr/>
          <p:nvPr/>
        </p:nvSpPr>
        <p:spPr>
          <a:xfrm>
            <a:off x="1554480" y="1307592"/>
            <a:ext cx="411480" cy="41148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1</a:t>
            </a:r>
            <a:endParaRPr lang="en-US" sz="1600" dirty="0"/>
          </a:p>
        </p:txBody>
      </p:sp>
      <p:sp>
        <p:nvSpPr>
          <p:cNvPr id="17" name="Shape 15"/>
          <p:cNvSpPr/>
          <p:nvPr/>
        </p:nvSpPr>
        <p:spPr>
          <a:xfrm>
            <a:off x="2148840" y="1234440"/>
            <a:ext cx="7315200" cy="548640"/>
          </a:xfrm>
          <a:prstGeom prst="rect">
            <a:avLst/>
          </a:prstGeom>
          <a:solidFill>
            <a:srgbClr val="1A1A2E"/>
          </a:solidFill>
          <a:ln w="12700">
            <a:solidFill>
              <a:srgbClr val="FF9900"/>
            </a:solidFill>
            <a:prstDash val="solid"/>
          </a:ln>
        </p:spPr>
      </p:sp>
      <p:sp>
        <p:nvSpPr>
          <p:cNvPr id="18" name="Shape 16"/>
          <p:cNvSpPr/>
          <p:nvPr/>
        </p:nvSpPr>
        <p:spPr>
          <a:xfrm>
            <a:off x="2148840" y="1234440"/>
            <a:ext cx="73152" cy="548640"/>
          </a:xfrm>
          <a:prstGeom prst="rect">
            <a:avLst/>
          </a:prstGeom>
          <a:solidFill>
            <a:srgbClr val="FF9900"/>
          </a:solidFill>
          <a:ln/>
        </p:spPr>
      </p:sp>
      <p:sp>
        <p:nvSpPr>
          <p:cNvPr id="19" name="Text 17"/>
          <p:cNvSpPr/>
          <p:nvPr/>
        </p:nvSpPr>
        <p:spPr>
          <a:xfrm>
            <a:off x="2377440" y="1261872"/>
            <a:ext cx="4114800" cy="22860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TASTYTRADE (BROKER)</a:t>
            </a:r>
            <a:endParaRPr lang="en-US" sz="1200" dirty="0"/>
          </a:p>
        </p:txBody>
      </p:sp>
      <p:sp>
        <p:nvSpPr>
          <p:cNvPr id="20" name="Text 18"/>
          <p:cNvSpPr/>
          <p:nvPr/>
        </p:nvSpPr>
        <p:spPr>
          <a:xfrm>
            <a:off x="2377440" y="1508760"/>
            <a:ext cx="685800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Ultimate source of truth. Actual positions, live Greeks, real money.</a:t>
            </a:r>
            <a:endParaRPr lang="en-US" sz="1100" dirty="0"/>
          </a:p>
        </p:txBody>
      </p:sp>
      <p:sp>
        <p:nvSpPr>
          <p:cNvPr id="21" name="Shape 19"/>
          <p:cNvSpPr/>
          <p:nvPr/>
        </p:nvSpPr>
        <p:spPr>
          <a:xfrm>
            <a:off x="1554480" y="2176272"/>
            <a:ext cx="411480" cy="411480"/>
          </a:xfrm>
          <a:prstGeom prst="ellipse">
            <a:avLst/>
          </a:prstGeom>
          <a:solidFill>
            <a:srgbClr val="FFAA00"/>
          </a:solidFill>
          <a:ln/>
        </p:spPr>
      </p:sp>
      <p:sp>
        <p:nvSpPr>
          <p:cNvPr id="22" name="Text 20"/>
          <p:cNvSpPr/>
          <p:nvPr/>
        </p:nvSpPr>
        <p:spPr>
          <a:xfrm>
            <a:off x="1554480" y="2176272"/>
            <a:ext cx="411480" cy="41148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2</a:t>
            </a:r>
            <a:endParaRPr lang="en-US" sz="1600" dirty="0"/>
          </a:p>
        </p:txBody>
      </p:sp>
      <p:sp>
        <p:nvSpPr>
          <p:cNvPr id="23" name="Shape 21"/>
          <p:cNvSpPr/>
          <p:nvPr/>
        </p:nvSpPr>
        <p:spPr>
          <a:xfrm>
            <a:off x="2148840" y="2103120"/>
            <a:ext cx="6583680" cy="548640"/>
          </a:xfrm>
          <a:prstGeom prst="rect">
            <a:avLst/>
          </a:prstGeom>
          <a:solidFill>
            <a:srgbClr val="1A1A2E"/>
          </a:solidFill>
          <a:ln w="12700">
            <a:solidFill>
              <a:srgbClr val="FFAA00"/>
            </a:solidFill>
            <a:prstDash val="solid"/>
          </a:ln>
        </p:spPr>
      </p:sp>
      <p:sp>
        <p:nvSpPr>
          <p:cNvPr id="24" name="Shape 22"/>
          <p:cNvSpPr/>
          <p:nvPr/>
        </p:nvSpPr>
        <p:spPr>
          <a:xfrm>
            <a:off x="2148840" y="2103120"/>
            <a:ext cx="73152" cy="548640"/>
          </a:xfrm>
          <a:prstGeom prst="rect">
            <a:avLst/>
          </a:prstGeom>
          <a:solidFill>
            <a:srgbClr val="FFAA00"/>
          </a:solidFill>
          <a:ln/>
        </p:spPr>
      </p:sp>
      <p:sp>
        <p:nvSpPr>
          <p:cNvPr id="25" name="Text 23"/>
          <p:cNvSpPr/>
          <p:nvPr/>
        </p:nvSpPr>
        <p:spPr>
          <a:xfrm>
            <a:off x="2377440" y="2130552"/>
            <a:ext cx="4114800" cy="22860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BROKER CSV EXPORTS</a:t>
            </a:r>
            <a:endParaRPr lang="en-US" sz="1200" dirty="0"/>
          </a:p>
        </p:txBody>
      </p:sp>
      <p:sp>
        <p:nvSpPr>
          <p:cNvPr id="26" name="Text 24"/>
          <p:cNvSpPr/>
          <p:nvPr/>
        </p:nvSpPr>
        <p:spPr>
          <a:xfrm>
            <a:off x="2377440" y="2377440"/>
            <a:ext cx="612648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Point-in-time snapshots. The broker's truth in portable format.</a:t>
            </a:r>
            <a:endParaRPr lang="en-US" sz="1100" dirty="0"/>
          </a:p>
        </p:txBody>
      </p:sp>
      <p:sp>
        <p:nvSpPr>
          <p:cNvPr id="27" name="Shape 25"/>
          <p:cNvSpPr/>
          <p:nvPr/>
        </p:nvSpPr>
        <p:spPr>
          <a:xfrm>
            <a:off x="1554480" y="3044952"/>
            <a:ext cx="411480" cy="411480"/>
          </a:xfrm>
          <a:prstGeom prst="ellipse">
            <a:avLst/>
          </a:prstGeom>
          <a:solidFill>
            <a:srgbClr val="9999FF"/>
          </a:solidFill>
          <a:ln/>
        </p:spPr>
      </p:sp>
      <p:sp>
        <p:nvSpPr>
          <p:cNvPr id="28" name="Text 26"/>
          <p:cNvSpPr/>
          <p:nvPr/>
        </p:nvSpPr>
        <p:spPr>
          <a:xfrm>
            <a:off x="1554480" y="3044952"/>
            <a:ext cx="411480" cy="41148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3</a:t>
            </a:r>
            <a:endParaRPr lang="en-US" sz="1600" dirty="0"/>
          </a:p>
        </p:txBody>
      </p:sp>
      <p:sp>
        <p:nvSpPr>
          <p:cNvPr id="29" name="Shape 27"/>
          <p:cNvSpPr/>
          <p:nvPr/>
        </p:nvSpPr>
        <p:spPr>
          <a:xfrm>
            <a:off x="2148840" y="2971800"/>
            <a:ext cx="5852160" cy="548640"/>
          </a:xfrm>
          <a:prstGeom prst="rect">
            <a:avLst/>
          </a:prstGeom>
          <a:solidFill>
            <a:srgbClr val="1A1A2E"/>
          </a:solidFill>
          <a:ln w="12700">
            <a:solidFill>
              <a:srgbClr val="9999FF"/>
            </a:solidFill>
            <a:prstDash val="solid"/>
          </a:ln>
        </p:spPr>
      </p:sp>
      <p:sp>
        <p:nvSpPr>
          <p:cNvPr id="30" name="Shape 28"/>
          <p:cNvSpPr/>
          <p:nvPr/>
        </p:nvSpPr>
        <p:spPr>
          <a:xfrm>
            <a:off x="2148840" y="2971800"/>
            <a:ext cx="73152" cy="548640"/>
          </a:xfrm>
          <a:prstGeom prst="rect">
            <a:avLst/>
          </a:prstGeom>
          <a:solidFill>
            <a:srgbClr val="9999FF"/>
          </a:solidFill>
          <a:ln/>
        </p:spPr>
      </p:sp>
      <p:sp>
        <p:nvSpPr>
          <p:cNvPr id="31" name="Text 29"/>
          <p:cNvSpPr/>
          <p:nvPr/>
        </p:nvSpPr>
        <p:spPr>
          <a:xfrm>
            <a:off x="2377440" y="2999232"/>
            <a:ext cx="4114800" cy="228600"/>
          </a:xfrm>
          <a:prstGeom prst="rect">
            <a:avLst/>
          </a:prstGeom>
          <a:noFill/>
          <a:ln/>
        </p:spPr>
        <p:txBody>
          <a:bodyPr wrap="square" lIns="0" tIns="0" rIns="0" bIns="0" rtlCol="0" anchor="ctr"/>
          <a:lstStyle/>
          <a:p>
            <a:pPr indent="0" marL="0">
              <a:buNone/>
            </a:pPr>
            <a:r>
              <a:rPr lang="en-US" sz="1200" b="1" dirty="0">
                <a:solidFill>
                  <a:srgbClr val="9999FF"/>
                </a:solidFill>
                <a:latin typeface="Trebuchet MS" pitchFamily="34" charset="0"/>
                <a:ea typeface="Trebuchet MS" pitchFamily="34" charset="-122"/>
                <a:cs typeface="Trebuchet MS" pitchFamily="34" charset="-120"/>
              </a:rPr>
              <a:t>NEON DATABASE</a:t>
            </a:r>
            <a:endParaRPr lang="en-US" sz="1200" dirty="0"/>
          </a:p>
        </p:txBody>
      </p:sp>
      <p:sp>
        <p:nvSpPr>
          <p:cNvPr id="32" name="Text 30"/>
          <p:cNvSpPr/>
          <p:nvPr/>
        </p:nvSpPr>
        <p:spPr>
          <a:xfrm>
            <a:off x="2377440" y="3246120"/>
            <a:ext cx="539496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Our organizational layer. Adds categories, tickets, relationships.</a:t>
            </a:r>
            <a:endParaRPr lang="en-US" sz="1100" dirty="0"/>
          </a:p>
        </p:txBody>
      </p:sp>
      <p:sp>
        <p:nvSpPr>
          <p:cNvPr id="33" name="Shape 31"/>
          <p:cNvSpPr/>
          <p:nvPr/>
        </p:nvSpPr>
        <p:spPr>
          <a:xfrm>
            <a:off x="1554480" y="3913632"/>
            <a:ext cx="411480" cy="411480"/>
          </a:xfrm>
          <a:prstGeom prst="ellipse">
            <a:avLst/>
          </a:prstGeom>
          <a:solidFill>
            <a:srgbClr val="CC99CC"/>
          </a:solidFill>
          <a:ln/>
        </p:spPr>
      </p:sp>
      <p:sp>
        <p:nvSpPr>
          <p:cNvPr id="34" name="Text 32"/>
          <p:cNvSpPr/>
          <p:nvPr/>
        </p:nvSpPr>
        <p:spPr>
          <a:xfrm>
            <a:off x="1554480" y="3913632"/>
            <a:ext cx="411480" cy="411480"/>
          </a:xfrm>
          <a:prstGeom prst="rect">
            <a:avLst/>
          </a:prstGeom>
          <a:noFill/>
          <a:ln/>
        </p:spPr>
        <p:txBody>
          <a:bodyPr wrap="square" lIns="0" tIns="0" rIns="0" bIns="0" rtlCol="0" anchor="ctr"/>
          <a:lstStyle/>
          <a:p>
            <a:pPr algn="ctr" indent="0" marL="0">
              <a:buNone/>
            </a:pPr>
            <a:r>
              <a:rPr lang="en-US" sz="1600" b="1" dirty="0">
                <a:solidFill>
                  <a:srgbClr val="0A0A12"/>
                </a:solidFill>
                <a:latin typeface="Trebuchet MS" pitchFamily="34" charset="0"/>
                <a:ea typeface="Trebuchet MS" pitchFamily="34" charset="-122"/>
                <a:cs typeface="Trebuchet MS" pitchFamily="34" charset="-120"/>
              </a:rPr>
              <a:t>4</a:t>
            </a:r>
            <a:endParaRPr lang="en-US" sz="1600" dirty="0"/>
          </a:p>
        </p:txBody>
      </p:sp>
      <p:sp>
        <p:nvSpPr>
          <p:cNvPr id="35" name="Shape 33"/>
          <p:cNvSpPr/>
          <p:nvPr/>
        </p:nvSpPr>
        <p:spPr>
          <a:xfrm>
            <a:off x="2148840" y="3840480"/>
            <a:ext cx="5120640" cy="548640"/>
          </a:xfrm>
          <a:prstGeom prst="rect">
            <a:avLst/>
          </a:prstGeom>
          <a:solidFill>
            <a:srgbClr val="1A1A2E"/>
          </a:solidFill>
          <a:ln w="12700">
            <a:solidFill>
              <a:srgbClr val="CC99CC"/>
            </a:solidFill>
            <a:prstDash val="solid"/>
          </a:ln>
        </p:spPr>
      </p:sp>
      <p:sp>
        <p:nvSpPr>
          <p:cNvPr id="36" name="Shape 34"/>
          <p:cNvSpPr/>
          <p:nvPr/>
        </p:nvSpPr>
        <p:spPr>
          <a:xfrm>
            <a:off x="2148840" y="3840480"/>
            <a:ext cx="73152" cy="548640"/>
          </a:xfrm>
          <a:prstGeom prst="rect">
            <a:avLst/>
          </a:prstGeom>
          <a:solidFill>
            <a:srgbClr val="CC99CC"/>
          </a:solidFill>
          <a:ln/>
        </p:spPr>
      </p:sp>
      <p:sp>
        <p:nvSpPr>
          <p:cNvPr id="37" name="Text 35"/>
          <p:cNvSpPr/>
          <p:nvPr/>
        </p:nvSpPr>
        <p:spPr>
          <a:xfrm>
            <a:off x="2377440" y="3867912"/>
            <a:ext cx="4114800" cy="228600"/>
          </a:xfrm>
          <a:prstGeom prst="rect">
            <a:avLst/>
          </a:prstGeom>
          <a:noFill/>
          <a:ln/>
        </p:spPr>
        <p:txBody>
          <a:bodyPr wrap="square" lIns="0" tIns="0" rIns="0" bIns="0" rtlCol="0" anchor="ctr"/>
          <a:lstStyle/>
          <a:p>
            <a:pPr indent="0" marL="0">
              <a:buNone/>
            </a:pPr>
            <a:r>
              <a:rPr lang="en-US" sz="1200" b="1" dirty="0">
                <a:solidFill>
                  <a:srgbClr val="CC99CC"/>
                </a:solidFill>
                <a:latin typeface="Trebuchet MS" pitchFamily="34" charset="0"/>
                <a:ea typeface="Trebuchet MS" pitchFamily="34" charset="-122"/>
                <a:cs typeface="Trebuchet MS" pitchFamily="34" charset="-120"/>
              </a:rPr>
              <a:t>CONTEXT VAULT</a:t>
            </a:r>
            <a:endParaRPr lang="en-US" sz="1200" dirty="0"/>
          </a:p>
        </p:txBody>
      </p:sp>
      <p:sp>
        <p:nvSpPr>
          <p:cNvPr id="38" name="Text 36"/>
          <p:cNvSpPr/>
          <p:nvPr/>
        </p:nvSpPr>
        <p:spPr>
          <a:xfrm>
            <a:off x="2377440" y="4114800"/>
            <a:ext cx="466344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Historical record. Journals, snapshots, lessons from past sessions.</a:t>
            </a:r>
            <a:endParaRPr lang="en-US" sz="1100" dirty="0"/>
          </a:p>
        </p:txBody>
      </p:sp>
      <p:sp>
        <p:nvSpPr>
          <p:cNvPr id="39" name="Text 37"/>
          <p:cNvSpPr/>
          <p:nvPr/>
        </p:nvSpPr>
        <p:spPr>
          <a:xfrm>
            <a:off x="1554480" y="4572000"/>
            <a:ext cx="7315200" cy="320040"/>
          </a:xfrm>
          <a:prstGeom prst="rect">
            <a:avLst/>
          </a:prstGeom>
          <a:noFill/>
          <a:ln/>
        </p:spPr>
        <p:txBody>
          <a:bodyPr wrap="square" lIns="0" tIns="0" rIns="0" bIns="0" rtlCol="0" anchor="ctr"/>
          <a:lstStyle/>
          <a:p>
            <a:pPr indent="0" marL="0">
              <a:buNone/>
            </a:pPr>
            <a:r>
              <a:rPr lang="en-US" sz="1300" b="1" i="1" dirty="0">
                <a:solidFill>
                  <a:srgbClr val="FFCC99"/>
                </a:solidFill>
                <a:latin typeface="Trebuchet MS" pitchFamily="34" charset="0"/>
                <a:ea typeface="Trebuchet MS" pitchFamily="34" charset="-122"/>
                <a:cs typeface="Trebuchet MS" pitchFamily="34" charset="-120"/>
              </a:rPr>
              <a:t>The database doesn't replace the broker — it enriches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PHASE 2: ALEX'S DAILY UPDATE</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Processing the Morning Email</a:t>
            </a:r>
            <a:endParaRPr lang="en-US" sz="2200" dirty="0"/>
          </a:p>
        </p:txBody>
      </p:sp>
      <p:sp>
        <p:nvSpPr>
          <p:cNvPr id="15" name="Shape 13"/>
          <p:cNvSpPr/>
          <p:nvPr/>
        </p:nvSpPr>
        <p:spPr>
          <a:xfrm>
            <a:off x="1463040" y="1234440"/>
            <a:ext cx="4114800" cy="2011680"/>
          </a:xfrm>
          <a:prstGeom prst="rect">
            <a:avLst/>
          </a:prstGeom>
          <a:solidFill>
            <a:srgbClr val="1A1A2E"/>
          </a:solidFill>
          <a:ln w="19050">
            <a:solidFill>
              <a:srgbClr val="FFAA00"/>
            </a:solidFill>
            <a:prstDash val="solid"/>
          </a:ln>
        </p:spPr>
      </p:sp>
      <p:sp>
        <p:nvSpPr>
          <p:cNvPr id="16" name="Shape 14"/>
          <p:cNvSpPr/>
          <p:nvPr/>
        </p:nvSpPr>
        <p:spPr>
          <a:xfrm>
            <a:off x="1463040" y="1234440"/>
            <a:ext cx="4114800" cy="54864"/>
          </a:xfrm>
          <a:prstGeom prst="rect">
            <a:avLst/>
          </a:prstGeom>
          <a:solidFill>
            <a:srgbClr val="FFAA00"/>
          </a:solidFill>
          <a:ln/>
        </p:spPr>
      </p:sp>
      <p:sp>
        <p:nvSpPr>
          <p:cNvPr id="17" name="Text 15"/>
          <p:cNvSpPr/>
          <p:nvPr/>
        </p:nvSpPr>
        <p:spPr>
          <a:xfrm>
            <a:off x="1645920" y="1371600"/>
            <a:ext cx="374904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ALEX'S GUIDANCE — FEB 10</a:t>
            </a:r>
            <a:endParaRPr lang="en-US" sz="1200" dirty="0"/>
          </a:p>
        </p:txBody>
      </p:sp>
      <p:sp>
        <p:nvSpPr>
          <p:cNvPr id="18" name="Text 16"/>
          <p:cNvSpPr/>
          <p:nvPr/>
        </p:nvSpPr>
        <p:spPr>
          <a:xfrm>
            <a:off x="1645920" y="1783080"/>
            <a:ext cx="3749040" cy="1371600"/>
          </a:xfrm>
          <a:prstGeom prst="rect">
            <a:avLst/>
          </a:prstGeom>
          <a:noFill/>
          <a:ln/>
        </p:spPr>
        <p:txBody>
          <a:bodyPr wrap="square" lIns="0" tIns="0" rIns="0" bIns="0" rtlCol="0" anchor="ctr"/>
          <a:lstStyle/>
          <a:p>
            <a:pPr marL="342900" indent="-342900">
              <a:lnSpc>
                <a:spcPct val="135000"/>
              </a:lnSpc>
              <a:buSzPct val="100000"/>
              <a:buChar char="•"/>
            </a:pPr>
            <a:r>
              <a:rPr lang="en-US" sz="1200" dirty="0">
                <a:solidFill>
                  <a:srgbClr val="FFCC99"/>
                </a:solidFill>
                <a:latin typeface="Trebuchet MS" pitchFamily="34" charset="0"/>
                <a:ea typeface="Trebuchet MS" pitchFamily="34" charset="-122"/>
                <a:cs typeface="Trebuchet MS" pitchFamily="34" charset="-120"/>
              </a:rPr>
              <a:t>No expiring positions today</a:t>
            </a:r>
            <a:endParaRPr lang="en-US" sz="1200" dirty="0"/>
          </a:p>
          <a:p>
            <a:pPr marL="342900" indent="-342900">
              <a:lnSpc>
                <a:spcPct val="135000"/>
              </a:lnSpc>
              <a:buSzPct val="100000"/>
              <a:buChar char="•"/>
            </a:pPr>
            <a:r>
              <a:rPr lang="en-US" sz="1200" dirty="0">
                <a:solidFill>
                  <a:srgbClr val="FFCC99"/>
                </a:solidFill>
                <a:latin typeface="Trebuchet MS" pitchFamily="34" charset="0"/>
                <a:ea typeface="Trebuchet MS" pitchFamily="34" charset="-122"/>
                <a:cs typeface="Trebuchet MS" pitchFamily="34" charset="-120"/>
              </a:rPr>
              <a:t>New IC for tomorrow (Feb 11 exp)</a:t>
            </a:r>
            <a:endParaRPr lang="en-US" sz="1200" dirty="0"/>
          </a:p>
          <a:p>
            <a:pPr marL="342900" indent="-342900">
              <a:lnSpc>
                <a:spcPct val="135000"/>
              </a:lnSpc>
              <a:buSzPct val="100000"/>
              <a:buChar char="•"/>
            </a:pPr>
            <a:r>
              <a:rPr lang="en-US" sz="1200" dirty="0">
                <a:solidFill>
                  <a:srgbClr val="FFCC00"/>
                </a:solidFill>
                <a:latin typeface="Trebuchet MS" pitchFamily="34" charset="0"/>
                <a:ea typeface="Trebuchet MS" pitchFamily="34" charset="-122"/>
                <a:cs typeface="Trebuchet MS" pitchFamily="34" charset="-120"/>
              </a:rPr>
              <a:t>Preservation mode — removing MPs</a:t>
            </a:r>
            <a:endParaRPr lang="en-US" sz="1200" dirty="0"/>
          </a:p>
          <a:p>
            <a:pPr marL="342900" indent="-342900">
              <a:lnSpc>
                <a:spcPct val="135000"/>
              </a:lnSpc>
              <a:buSzPct val="100000"/>
              <a:buChar char="•"/>
            </a:pPr>
            <a:r>
              <a:rPr lang="en-US" sz="1200" dirty="0">
                <a:solidFill>
                  <a:srgbClr val="FFCC99"/>
                </a:solidFill>
                <a:latin typeface="Trebuchet MS" pitchFamily="34" charset="0"/>
                <a:ea typeface="Trebuchet MS" pitchFamily="34" charset="-122"/>
                <a:cs typeface="Trebuchet MS" pitchFamily="34" charset="-120"/>
              </a:rPr>
              <a:t>Market in 45-day channel</a:t>
            </a:r>
            <a:endParaRPr lang="en-US" sz="1200" dirty="0"/>
          </a:p>
          <a:p>
            <a:pPr marL="342900" indent="-342900">
              <a:lnSpc>
                <a:spcPct val="135000"/>
              </a:lnSpc>
              <a:buSzPct val="100000"/>
              <a:buChar char="•"/>
            </a:pPr>
            <a:r>
              <a:rPr lang="en-US" sz="1200" dirty="0">
                <a:solidFill>
                  <a:srgbClr val="FFCC99"/>
                </a:solidFill>
                <a:latin typeface="Trebuchet MS" pitchFamily="34" charset="0"/>
                <a:ea typeface="Trebuchet MS" pitchFamily="34" charset="-122"/>
                <a:cs typeface="Trebuchet MS" pitchFamily="34" charset="-120"/>
              </a:rPr>
              <a:t>Target: $5.00-$5.25 credit (SPX)</a:t>
            </a:r>
            <a:endParaRPr lang="en-US" sz="1200" dirty="0"/>
          </a:p>
        </p:txBody>
      </p:sp>
      <p:sp>
        <p:nvSpPr>
          <p:cNvPr id="19" name="Shape 17"/>
          <p:cNvSpPr/>
          <p:nvPr/>
        </p:nvSpPr>
        <p:spPr>
          <a:xfrm>
            <a:off x="5852160" y="1234440"/>
            <a:ext cx="2926080" cy="2011680"/>
          </a:xfrm>
          <a:prstGeom prst="rect">
            <a:avLst/>
          </a:prstGeom>
          <a:solidFill>
            <a:srgbClr val="1A1A2E"/>
          </a:solidFill>
          <a:ln w="19050">
            <a:solidFill>
              <a:srgbClr val="66CCCC"/>
            </a:solidFill>
            <a:prstDash val="solid"/>
          </a:ln>
        </p:spPr>
      </p:sp>
      <p:sp>
        <p:nvSpPr>
          <p:cNvPr id="20" name="Shape 18"/>
          <p:cNvSpPr/>
          <p:nvPr/>
        </p:nvSpPr>
        <p:spPr>
          <a:xfrm>
            <a:off x="5852160" y="1234440"/>
            <a:ext cx="2926080" cy="54864"/>
          </a:xfrm>
          <a:prstGeom prst="rect">
            <a:avLst/>
          </a:prstGeom>
          <a:solidFill>
            <a:srgbClr val="66CCCC"/>
          </a:solidFill>
          <a:ln/>
        </p:spPr>
      </p:sp>
      <p:sp>
        <p:nvSpPr>
          <p:cNvPr id="21" name="Text 19"/>
          <p:cNvSpPr/>
          <p:nvPr/>
        </p:nvSpPr>
        <p:spPr>
          <a:xfrm>
            <a:off x="6035040" y="1371600"/>
            <a:ext cx="2560320" cy="274320"/>
          </a:xfrm>
          <a:prstGeom prst="rect">
            <a:avLst/>
          </a:prstGeom>
          <a:noFill/>
          <a:ln/>
        </p:spPr>
        <p:txBody>
          <a:bodyPr wrap="square" lIns="0" tIns="0" rIns="0" bIns="0" rtlCol="0" anchor="ctr"/>
          <a:lstStyle/>
          <a:p>
            <a:pPr indent="0" marL="0">
              <a:buNone/>
            </a:pPr>
            <a:r>
              <a:rPr lang="en-US" sz="1200" b="1" dirty="0">
                <a:solidFill>
                  <a:srgbClr val="66CCCC"/>
                </a:solidFill>
                <a:latin typeface="Trebuchet MS" pitchFamily="34" charset="0"/>
                <a:ea typeface="Trebuchet MS" pitchFamily="34" charset="-122"/>
                <a:cs typeface="Trebuchet MS" pitchFamily="34" charset="-120"/>
              </a:rPr>
              <a:t>SPX → XSP CONVERSION</a:t>
            </a:r>
            <a:endParaRPr lang="en-US" sz="1200" dirty="0"/>
          </a:p>
        </p:txBody>
      </p:sp>
      <p:sp>
        <p:nvSpPr>
          <p:cNvPr id="22" name="Text 20"/>
          <p:cNvSpPr/>
          <p:nvPr/>
        </p:nvSpPr>
        <p:spPr>
          <a:xfrm>
            <a:off x="6035040" y="1783080"/>
            <a:ext cx="118872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SPX 6835P</a:t>
            </a:r>
            <a:endParaRPr lang="en-US" sz="1100" dirty="0"/>
          </a:p>
        </p:txBody>
      </p:sp>
      <p:sp>
        <p:nvSpPr>
          <p:cNvPr id="23" name="Text 21"/>
          <p:cNvSpPr/>
          <p:nvPr/>
        </p:nvSpPr>
        <p:spPr>
          <a:xfrm>
            <a:off x="7223760" y="1783080"/>
            <a:ext cx="1371600" cy="228600"/>
          </a:xfrm>
          <a:prstGeom prst="rect">
            <a:avLst/>
          </a:prstGeom>
          <a:noFill/>
          <a:ln/>
        </p:spPr>
        <p:txBody>
          <a:bodyPr wrap="square" lIns="0" tIns="0" rIns="0" bIns="0" rtlCol="0" anchor="ctr"/>
          <a:lstStyle/>
          <a:p>
            <a:pPr indent="0" marL="0">
              <a:buNone/>
            </a:pPr>
            <a:r>
              <a:rPr lang="en-US" sz="1100" b="1" dirty="0">
                <a:solidFill>
                  <a:srgbClr val="FF9900"/>
                </a:solidFill>
                <a:latin typeface="Trebuchet MS" pitchFamily="34" charset="0"/>
                <a:ea typeface="Trebuchet MS" pitchFamily="34" charset="-122"/>
                <a:cs typeface="Trebuchet MS" pitchFamily="34" charset="-120"/>
              </a:rPr>
              <a:t>→  XSP 684P</a:t>
            </a:r>
            <a:endParaRPr lang="en-US" sz="1100" dirty="0"/>
          </a:p>
        </p:txBody>
      </p:sp>
      <p:sp>
        <p:nvSpPr>
          <p:cNvPr id="24" name="Text 22"/>
          <p:cNvSpPr/>
          <p:nvPr/>
        </p:nvSpPr>
        <p:spPr>
          <a:xfrm>
            <a:off x="6035040" y="2039112"/>
            <a:ext cx="118872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SPX 6850P</a:t>
            </a:r>
            <a:endParaRPr lang="en-US" sz="1100" dirty="0"/>
          </a:p>
        </p:txBody>
      </p:sp>
      <p:sp>
        <p:nvSpPr>
          <p:cNvPr id="25" name="Text 23"/>
          <p:cNvSpPr/>
          <p:nvPr/>
        </p:nvSpPr>
        <p:spPr>
          <a:xfrm>
            <a:off x="7223760" y="2039112"/>
            <a:ext cx="1371600" cy="228600"/>
          </a:xfrm>
          <a:prstGeom prst="rect">
            <a:avLst/>
          </a:prstGeom>
          <a:noFill/>
          <a:ln/>
        </p:spPr>
        <p:txBody>
          <a:bodyPr wrap="square" lIns="0" tIns="0" rIns="0" bIns="0" rtlCol="0" anchor="ctr"/>
          <a:lstStyle/>
          <a:p>
            <a:pPr indent="0" marL="0">
              <a:buNone/>
            </a:pPr>
            <a:r>
              <a:rPr lang="en-US" sz="1100" b="1" dirty="0">
                <a:solidFill>
                  <a:srgbClr val="FF9900"/>
                </a:solidFill>
                <a:latin typeface="Trebuchet MS" pitchFamily="34" charset="0"/>
                <a:ea typeface="Trebuchet MS" pitchFamily="34" charset="-122"/>
                <a:cs typeface="Trebuchet MS" pitchFamily="34" charset="-120"/>
              </a:rPr>
              <a:t>→  XSP 685P</a:t>
            </a:r>
            <a:endParaRPr lang="en-US" sz="1100" dirty="0"/>
          </a:p>
        </p:txBody>
      </p:sp>
      <p:sp>
        <p:nvSpPr>
          <p:cNvPr id="26" name="Text 24"/>
          <p:cNvSpPr/>
          <p:nvPr/>
        </p:nvSpPr>
        <p:spPr>
          <a:xfrm>
            <a:off x="6035040" y="2295144"/>
            <a:ext cx="118872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SPX 7000C</a:t>
            </a:r>
            <a:endParaRPr lang="en-US" sz="1100" dirty="0"/>
          </a:p>
        </p:txBody>
      </p:sp>
      <p:sp>
        <p:nvSpPr>
          <p:cNvPr id="27" name="Text 25"/>
          <p:cNvSpPr/>
          <p:nvPr/>
        </p:nvSpPr>
        <p:spPr>
          <a:xfrm>
            <a:off x="7223760" y="2295144"/>
            <a:ext cx="1371600" cy="228600"/>
          </a:xfrm>
          <a:prstGeom prst="rect">
            <a:avLst/>
          </a:prstGeom>
          <a:noFill/>
          <a:ln/>
        </p:spPr>
        <p:txBody>
          <a:bodyPr wrap="square" lIns="0" tIns="0" rIns="0" bIns="0" rtlCol="0" anchor="ctr"/>
          <a:lstStyle/>
          <a:p>
            <a:pPr indent="0" marL="0">
              <a:buNone/>
            </a:pPr>
            <a:r>
              <a:rPr lang="en-US" sz="1100" b="1" dirty="0">
                <a:solidFill>
                  <a:srgbClr val="FF9900"/>
                </a:solidFill>
                <a:latin typeface="Trebuchet MS" pitchFamily="34" charset="0"/>
                <a:ea typeface="Trebuchet MS" pitchFamily="34" charset="-122"/>
                <a:cs typeface="Trebuchet MS" pitchFamily="34" charset="-120"/>
              </a:rPr>
              <a:t>→  XSP 700C</a:t>
            </a:r>
            <a:endParaRPr lang="en-US" sz="1100" dirty="0"/>
          </a:p>
        </p:txBody>
      </p:sp>
      <p:sp>
        <p:nvSpPr>
          <p:cNvPr id="28" name="Text 26"/>
          <p:cNvSpPr/>
          <p:nvPr/>
        </p:nvSpPr>
        <p:spPr>
          <a:xfrm>
            <a:off x="6035040" y="2551176"/>
            <a:ext cx="118872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SPX 7015C</a:t>
            </a:r>
            <a:endParaRPr lang="en-US" sz="1100" dirty="0"/>
          </a:p>
        </p:txBody>
      </p:sp>
      <p:sp>
        <p:nvSpPr>
          <p:cNvPr id="29" name="Text 27"/>
          <p:cNvSpPr/>
          <p:nvPr/>
        </p:nvSpPr>
        <p:spPr>
          <a:xfrm>
            <a:off x="7223760" y="2551176"/>
            <a:ext cx="1371600" cy="228600"/>
          </a:xfrm>
          <a:prstGeom prst="rect">
            <a:avLst/>
          </a:prstGeom>
          <a:noFill/>
          <a:ln/>
        </p:spPr>
        <p:txBody>
          <a:bodyPr wrap="square" lIns="0" tIns="0" rIns="0" bIns="0" rtlCol="0" anchor="ctr"/>
          <a:lstStyle/>
          <a:p>
            <a:pPr indent="0" marL="0">
              <a:buNone/>
            </a:pPr>
            <a:r>
              <a:rPr lang="en-US" sz="1100" b="1" dirty="0">
                <a:solidFill>
                  <a:srgbClr val="FF9900"/>
                </a:solidFill>
                <a:latin typeface="Trebuchet MS" pitchFamily="34" charset="0"/>
                <a:ea typeface="Trebuchet MS" pitchFamily="34" charset="-122"/>
                <a:cs typeface="Trebuchet MS" pitchFamily="34" charset="-120"/>
              </a:rPr>
              <a:t>→  XSP 702C</a:t>
            </a:r>
            <a:endParaRPr lang="en-US" sz="1100" dirty="0"/>
          </a:p>
        </p:txBody>
      </p:sp>
      <p:sp>
        <p:nvSpPr>
          <p:cNvPr id="30" name="Text 28"/>
          <p:cNvSpPr/>
          <p:nvPr/>
        </p:nvSpPr>
        <p:spPr>
          <a:xfrm>
            <a:off x="6035040" y="2834640"/>
            <a:ext cx="2560320" cy="228600"/>
          </a:xfrm>
          <a:prstGeom prst="rect">
            <a:avLst/>
          </a:prstGeom>
          <a:noFill/>
          <a:ln/>
        </p:spPr>
        <p:txBody>
          <a:bodyPr wrap="square" lIns="0" tIns="0" rIns="0" bIns="0" rtlCol="0" anchor="ctr"/>
          <a:lstStyle/>
          <a:p>
            <a:pPr indent="0" marL="0">
              <a:buNone/>
            </a:pPr>
            <a:r>
              <a:rPr lang="en-US" sz="1000" i="1" dirty="0">
                <a:solidFill>
                  <a:srgbClr val="9999AA"/>
                </a:solidFill>
                <a:latin typeface="Trebuchet MS" pitchFamily="34" charset="0"/>
                <a:ea typeface="Trebuchet MS" pitchFamily="34" charset="-122"/>
                <a:cs typeface="Trebuchet MS" pitchFamily="34" charset="-120"/>
              </a:rPr>
              <a:t>Rule: ÷10, round UP</a:t>
            </a:r>
            <a:endParaRPr lang="en-US" sz="1000" dirty="0"/>
          </a:p>
        </p:txBody>
      </p:sp>
      <p:sp>
        <p:nvSpPr>
          <p:cNvPr id="31" name="Shape 29"/>
          <p:cNvSpPr/>
          <p:nvPr/>
        </p:nvSpPr>
        <p:spPr>
          <a:xfrm>
            <a:off x="1463040" y="3474720"/>
            <a:ext cx="7315200" cy="1371600"/>
          </a:xfrm>
          <a:prstGeom prst="rect">
            <a:avLst/>
          </a:prstGeom>
          <a:solidFill>
            <a:srgbClr val="1A1A2E"/>
          </a:solidFill>
          <a:ln w="19050">
            <a:solidFill>
              <a:srgbClr val="FF9900"/>
            </a:solidFill>
            <a:prstDash val="solid"/>
          </a:ln>
        </p:spPr>
      </p:sp>
      <p:sp>
        <p:nvSpPr>
          <p:cNvPr id="32" name="Shape 30"/>
          <p:cNvSpPr/>
          <p:nvPr/>
        </p:nvSpPr>
        <p:spPr>
          <a:xfrm>
            <a:off x="1463040" y="3474720"/>
            <a:ext cx="7315200" cy="54864"/>
          </a:xfrm>
          <a:prstGeom prst="rect">
            <a:avLst/>
          </a:prstGeom>
          <a:solidFill>
            <a:srgbClr val="FF9900"/>
          </a:solidFill>
          <a:ln/>
        </p:spPr>
      </p:sp>
      <p:sp>
        <p:nvSpPr>
          <p:cNvPr id="33" name="Text 31"/>
          <p:cNvSpPr/>
          <p:nvPr/>
        </p:nvSpPr>
        <p:spPr>
          <a:xfrm>
            <a:off x="1645920" y="3611880"/>
            <a:ext cx="3657600" cy="274320"/>
          </a:xfrm>
          <a:prstGeom prst="rect">
            <a:avLst/>
          </a:prstGeom>
          <a:noFill/>
          <a:ln/>
        </p:spPr>
        <p:txBody>
          <a:bodyPr wrap="square" lIns="0" tIns="0" rIns="0" bIns="0" rtlCol="0" anchor="ctr"/>
          <a:lstStyle/>
          <a:p>
            <a:pPr indent="0" marL="0">
              <a:buNone/>
            </a:pPr>
            <a:r>
              <a:rPr lang="en-US" sz="1300" b="1" dirty="0">
                <a:solidFill>
                  <a:srgbClr val="FF9900"/>
                </a:solidFill>
                <a:latin typeface="Trebuchet MS" pitchFamily="34" charset="0"/>
                <a:ea typeface="Trebuchet MS" pitchFamily="34" charset="-122"/>
                <a:cs typeface="Trebuchet MS" pitchFamily="34" charset="-120"/>
              </a:rPr>
              <a:t>TRADE TICKET T1 [ic_new]</a:t>
            </a:r>
            <a:endParaRPr lang="en-US" sz="1300" dirty="0"/>
          </a:p>
        </p:txBody>
      </p:sp>
      <p:sp>
        <p:nvSpPr>
          <p:cNvPr id="34" name="Text 32"/>
          <p:cNvSpPr/>
          <p:nvPr/>
        </p:nvSpPr>
        <p:spPr>
          <a:xfrm>
            <a:off x="1645920" y="3931920"/>
            <a:ext cx="4114800" cy="22860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10x XSP Feb 11  685P/686P × 700C/702C</a:t>
            </a:r>
            <a:endParaRPr lang="en-US" sz="1200" dirty="0"/>
          </a:p>
        </p:txBody>
      </p:sp>
      <p:sp>
        <p:nvSpPr>
          <p:cNvPr id="35" name="Text 33"/>
          <p:cNvSpPr/>
          <p:nvPr/>
        </p:nvSpPr>
        <p:spPr>
          <a:xfrm>
            <a:off x="1645920" y="4206240"/>
            <a:ext cx="6858000" cy="22860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Target: ~$0.50 cr  |  GTC Close: $0.10 db  |  Source: Alex AM Update</a:t>
            </a:r>
            <a:endParaRPr lang="en-US" sz="1100" dirty="0"/>
          </a:p>
        </p:txBody>
      </p:sp>
      <p:sp>
        <p:nvSpPr>
          <p:cNvPr id="36" name="Text 34"/>
          <p:cNvSpPr/>
          <p:nvPr/>
        </p:nvSpPr>
        <p:spPr>
          <a:xfrm>
            <a:off x="7132320" y="3611880"/>
            <a:ext cx="1463040" cy="274320"/>
          </a:xfrm>
          <a:prstGeom prst="rect">
            <a:avLst/>
          </a:prstGeom>
          <a:noFill/>
          <a:ln/>
        </p:spPr>
        <p:txBody>
          <a:bodyPr wrap="square" lIns="0" tIns="0" rIns="0" bIns="0" rtlCol="0" anchor="ctr"/>
          <a:lstStyle/>
          <a:p>
            <a:pPr algn="r" indent="0" marL="0">
              <a:buNone/>
            </a:pPr>
            <a:r>
              <a:rPr lang="en-US" sz="1100" b="1" dirty="0">
                <a:solidFill>
                  <a:srgbClr val="FFCC00"/>
                </a:solidFill>
                <a:latin typeface="Trebuchet MS" pitchFamily="34" charset="0"/>
                <a:ea typeface="Trebuchet MS" pitchFamily="34" charset="-122"/>
                <a:cs typeface="Trebuchet MS" pitchFamily="34" charset="-120"/>
              </a:rPr>
              <a:t>STATUS: PLANNED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THE TRADE TICKET SYSTEM</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Capturing Intent Before Execution</a:t>
            </a:r>
            <a:endParaRPr lang="en-US" sz="2200" dirty="0"/>
          </a:p>
        </p:txBody>
      </p:sp>
      <p:sp>
        <p:nvSpPr>
          <p:cNvPr id="15" name="Shape 13"/>
          <p:cNvSpPr/>
          <p:nvPr/>
        </p:nvSpPr>
        <p:spPr>
          <a:xfrm>
            <a:off x="1554480" y="1234440"/>
            <a:ext cx="2194560" cy="1645920"/>
          </a:xfrm>
          <a:prstGeom prst="rect">
            <a:avLst/>
          </a:prstGeom>
          <a:solidFill>
            <a:srgbClr val="1A1A2E"/>
          </a:solidFill>
          <a:ln w="19050">
            <a:solidFill>
              <a:srgbClr val="FF9900"/>
            </a:solidFill>
            <a:prstDash val="solid"/>
          </a:ln>
        </p:spPr>
      </p:sp>
      <p:sp>
        <p:nvSpPr>
          <p:cNvPr id="16" name="Shape 14"/>
          <p:cNvSpPr/>
          <p:nvPr/>
        </p:nvSpPr>
        <p:spPr>
          <a:xfrm>
            <a:off x="1554480" y="1234440"/>
            <a:ext cx="2194560" cy="54864"/>
          </a:xfrm>
          <a:prstGeom prst="rect">
            <a:avLst/>
          </a:prstGeom>
          <a:solidFill>
            <a:srgbClr val="FF9900"/>
          </a:solidFill>
          <a:ln/>
        </p:spPr>
      </p:sp>
      <p:sp>
        <p:nvSpPr>
          <p:cNvPr id="17" name="Text 15"/>
          <p:cNvSpPr/>
          <p:nvPr/>
        </p:nvSpPr>
        <p:spPr>
          <a:xfrm>
            <a:off x="1691640" y="1371600"/>
            <a:ext cx="1920240" cy="274320"/>
          </a:xfrm>
          <a:prstGeom prst="rect">
            <a:avLst/>
          </a:prstGeom>
          <a:noFill/>
          <a:ln/>
        </p:spPr>
        <p:txBody>
          <a:bodyPr wrap="square" lIns="0" tIns="0" rIns="0" bIns="0" rtlCol="0" anchor="ctr"/>
          <a:lstStyle/>
          <a:p>
            <a:pPr indent="0" marL="0">
              <a:buNone/>
            </a:pPr>
            <a:r>
              <a:rPr lang="en-US" sz="1400" b="1" dirty="0">
                <a:solidFill>
                  <a:srgbClr val="FF9900"/>
                </a:solidFill>
                <a:latin typeface="Trebuchet MS" pitchFamily="34" charset="0"/>
                <a:ea typeface="Trebuchet MS" pitchFamily="34" charset="-122"/>
                <a:cs typeface="Trebuchet MS" pitchFamily="34" charset="-120"/>
              </a:rPr>
              <a:t>PLAN</a:t>
            </a:r>
            <a:endParaRPr lang="en-US" sz="1400" dirty="0"/>
          </a:p>
        </p:txBody>
      </p:sp>
      <p:sp>
        <p:nvSpPr>
          <p:cNvPr id="18" name="Text 16"/>
          <p:cNvSpPr/>
          <p:nvPr/>
        </p:nvSpPr>
        <p:spPr>
          <a:xfrm>
            <a:off x="1691640" y="1737360"/>
            <a:ext cx="192024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Ticket created with</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intent, legs, category,</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and source attribution</a:t>
            </a:r>
            <a:endParaRPr lang="en-US" sz="1100" dirty="0"/>
          </a:p>
        </p:txBody>
      </p:sp>
      <p:sp>
        <p:nvSpPr>
          <p:cNvPr id="19" name="Text 17"/>
          <p:cNvSpPr/>
          <p:nvPr/>
        </p:nvSpPr>
        <p:spPr>
          <a:xfrm>
            <a:off x="3749040" y="1737360"/>
            <a:ext cx="365760" cy="548640"/>
          </a:xfrm>
          <a:prstGeom prst="rect">
            <a:avLst/>
          </a:prstGeom>
          <a:noFill/>
          <a:ln/>
        </p:spPr>
        <p:txBody>
          <a:bodyPr wrap="square" lIns="0" tIns="0" rIns="0" bIns="0" rtlCol="0" anchor="ctr"/>
          <a:lstStyle/>
          <a:p>
            <a:pPr algn="ctr" indent="0" marL="0">
              <a:buNone/>
            </a:pPr>
            <a:r>
              <a:rPr lang="en-US" sz="1800" dirty="0">
                <a:solidFill>
                  <a:srgbClr val="FF9900"/>
                </a:solidFill>
                <a:latin typeface="Trebuchet MS" pitchFamily="34" charset="0"/>
                <a:ea typeface="Trebuchet MS" pitchFamily="34" charset="-122"/>
                <a:cs typeface="Trebuchet MS" pitchFamily="34" charset="-120"/>
              </a:rPr>
              <a:t>▶</a:t>
            </a:r>
            <a:endParaRPr lang="en-US" sz="1800" dirty="0"/>
          </a:p>
        </p:txBody>
      </p:sp>
      <p:sp>
        <p:nvSpPr>
          <p:cNvPr id="20" name="Shape 18"/>
          <p:cNvSpPr/>
          <p:nvPr/>
        </p:nvSpPr>
        <p:spPr>
          <a:xfrm>
            <a:off x="4114800" y="1234440"/>
            <a:ext cx="2194560" cy="1645920"/>
          </a:xfrm>
          <a:prstGeom prst="rect">
            <a:avLst/>
          </a:prstGeom>
          <a:solidFill>
            <a:srgbClr val="1A1A2E"/>
          </a:solidFill>
          <a:ln w="19050">
            <a:solidFill>
              <a:srgbClr val="66CCCC"/>
            </a:solidFill>
            <a:prstDash val="solid"/>
          </a:ln>
        </p:spPr>
      </p:sp>
      <p:sp>
        <p:nvSpPr>
          <p:cNvPr id="21" name="Shape 19"/>
          <p:cNvSpPr/>
          <p:nvPr/>
        </p:nvSpPr>
        <p:spPr>
          <a:xfrm>
            <a:off x="4114800" y="1234440"/>
            <a:ext cx="2194560" cy="54864"/>
          </a:xfrm>
          <a:prstGeom prst="rect">
            <a:avLst/>
          </a:prstGeom>
          <a:solidFill>
            <a:srgbClr val="66CCCC"/>
          </a:solidFill>
          <a:ln/>
        </p:spPr>
      </p:sp>
      <p:sp>
        <p:nvSpPr>
          <p:cNvPr id="22" name="Text 20"/>
          <p:cNvSpPr/>
          <p:nvPr/>
        </p:nvSpPr>
        <p:spPr>
          <a:xfrm>
            <a:off x="4251960" y="1371600"/>
            <a:ext cx="1920240" cy="274320"/>
          </a:xfrm>
          <a:prstGeom prst="rect">
            <a:avLst/>
          </a:prstGeom>
          <a:noFill/>
          <a:ln/>
        </p:spPr>
        <p:txBody>
          <a:bodyPr wrap="square" lIns="0" tIns="0" rIns="0" bIns="0" rtlCol="0" anchor="ctr"/>
          <a:lstStyle/>
          <a:p>
            <a:pPr indent="0" marL="0">
              <a:buNone/>
            </a:pPr>
            <a:r>
              <a:rPr lang="en-US" sz="1400" b="1" dirty="0">
                <a:solidFill>
                  <a:srgbClr val="66CCCC"/>
                </a:solidFill>
                <a:latin typeface="Trebuchet MS" pitchFamily="34" charset="0"/>
                <a:ea typeface="Trebuchet MS" pitchFamily="34" charset="-122"/>
                <a:cs typeface="Trebuchet MS" pitchFamily="34" charset="-120"/>
              </a:rPr>
              <a:t>EXECUTE</a:t>
            </a:r>
            <a:endParaRPr lang="en-US" sz="1400" dirty="0"/>
          </a:p>
        </p:txBody>
      </p:sp>
      <p:sp>
        <p:nvSpPr>
          <p:cNvPr id="23" name="Text 21"/>
          <p:cNvSpPr/>
          <p:nvPr/>
        </p:nvSpPr>
        <p:spPr>
          <a:xfrm>
            <a:off x="4251960" y="1737360"/>
            <a:ext cx="192024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Screenshot review →</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order submitted →</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fill confirmed via CSV</a:t>
            </a:r>
            <a:endParaRPr lang="en-US" sz="1100" dirty="0"/>
          </a:p>
        </p:txBody>
      </p:sp>
      <p:sp>
        <p:nvSpPr>
          <p:cNvPr id="24" name="Text 22"/>
          <p:cNvSpPr/>
          <p:nvPr/>
        </p:nvSpPr>
        <p:spPr>
          <a:xfrm>
            <a:off x="6309360" y="1737360"/>
            <a:ext cx="365760" cy="548640"/>
          </a:xfrm>
          <a:prstGeom prst="rect">
            <a:avLst/>
          </a:prstGeom>
          <a:noFill/>
          <a:ln/>
        </p:spPr>
        <p:txBody>
          <a:bodyPr wrap="square" lIns="0" tIns="0" rIns="0" bIns="0" rtlCol="0" anchor="ctr"/>
          <a:lstStyle/>
          <a:p>
            <a:pPr algn="ctr" indent="0" marL="0">
              <a:buNone/>
            </a:pPr>
            <a:r>
              <a:rPr lang="en-US" sz="1800" dirty="0">
                <a:solidFill>
                  <a:srgbClr val="66CCCC"/>
                </a:solidFill>
                <a:latin typeface="Trebuchet MS" pitchFamily="34" charset="0"/>
                <a:ea typeface="Trebuchet MS" pitchFamily="34" charset="-122"/>
                <a:cs typeface="Trebuchet MS" pitchFamily="34" charset="-120"/>
              </a:rPr>
              <a:t>▶</a:t>
            </a:r>
            <a:endParaRPr lang="en-US" sz="1800" dirty="0"/>
          </a:p>
        </p:txBody>
      </p:sp>
      <p:sp>
        <p:nvSpPr>
          <p:cNvPr id="25" name="Shape 23"/>
          <p:cNvSpPr/>
          <p:nvPr/>
        </p:nvSpPr>
        <p:spPr>
          <a:xfrm>
            <a:off x="6675120" y="1234440"/>
            <a:ext cx="2194560" cy="1645920"/>
          </a:xfrm>
          <a:prstGeom prst="rect">
            <a:avLst/>
          </a:prstGeom>
          <a:solidFill>
            <a:srgbClr val="1A1A2E"/>
          </a:solidFill>
          <a:ln w="19050">
            <a:solidFill>
              <a:srgbClr val="44CC66"/>
            </a:solidFill>
            <a:prstDash val="solid"/>
          </a:ln>
        </p:spPr>
      </p:sp>
      <p:sp>
        <p:nvSpPr>
          <p:cNvPr id="26" name="Shape 24"/>
          <p:cNvSpPr/>
          <p:nvPr/>
        </p:nvSpPr>
        <p:spPr>
          <a:xfrm>
            <a:off x="6675120" y="1234440"/>
            <a:ext cx="2194560" cy="54864"/>
          </a:xfrm>
          <a:prstGeom prst="rect">
            <a:avLst/>
          </a:prstGeom>
          <a:solidFill>
            <a:srgbClr val="44CC66"/>
          </a:solidFill>
          <a:ln/>
        </p:spPr>
      </p:sp>
      <p:sp>
        <p:nvSpPr>
          <p:cNvPr id="27" name="Text 25"/>
          <p:cNvSpPr/>
          <p:nvPr/>
        </p:nvSpPr>
        <p:spPr>
          <a:xfrm>
            <a:off x="6812280" y="1371600"/>
            <a:ext cx="1920240" cy="274320"/>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RECORD</a:t>
            </a:r>
            <a:endParaRPr lang="en-US" sz="1400" dirty="0"/>
          </a:p>
        </p:txBody>
      </p:sp>
      <p:sp>
        <p:nvSpPr>
          <p:cNvPr id="28" name="Text 26"/>
          <p:cNvSpPr/>
          <p:nvPr/>
        </p:nvSpPr>
        <p:spPr>
          <a:xfrm>
            <a:off x="6812280" y="1737360"/>
            <a:ext cx="192024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Database updated,</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ticket saved to</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Context Vault</a:t>
            </a:r>
            <a:endParaRPr lang="en-US" sz="1100" dirty="0"/>
          </a:p>
        </p:txBody>
      </p:sp>
      <p:sp>
        <p:nvSpPr>
          <p:cNvPr id="29" name="Shape 27"/>
          <p:cNvSpPr/>
          <p:nvPr/>
        </p:nvSpPr>
        <p:spPr>
          <a:xfrm>
            <a:off x="1554480" y="3200400"/>
            <a:ext cx="7132320" cy="1645920"/>
          </a:xfrm>
          <a:prstGeom prst="rect">
            <a:avLst/>
          </a:prstGeom>
          <a:solidFill>
            <a:srgbClr val="1A1A2E"/>
          </a:solidFill>
          <a:ln w="19050">
            <a:solidFill>
              <a:srgbClr val="FFAA00"/>
            </a:solidFill>
            <a:prstDash val="solid"/>
          </a:ln>
        </p:spPr>
      </p:sp>
      <p:sp>
        <p:nvSpPr>
          <p:cNvPr id="30" name="Shape 28"/>
          <p:cNvSpPr/>
          <p:nvPr/>
        </p:nvSpPr>
        <p:spPr>
          <a:xfrm>
            <a:off x="1554480" y="3200400"/>
            <a:ext cx="7132320" cy="54864"/>
          </a:xfrm>
          <a:prstGeom prst="rect">
            <a:avLst/>
          </a:prstGeom>
          <a:solidFill>
            <a:srgbClr val="FFAA00"/>
          </a:solidFill>
          <a:ln/>
        </p:spPr>
      </p:sp>
      <p:sp>
        <p:nvSpPr>
          <p:cNvPr id="31" name="Text 29"/>
          <p:cNvSpPr/>
          <p:nvPr/>
        </p:nvSpPr>
        <p:spPr>
          <a:xfrm>
            <a:off x="1737360" y="3337560"/>
            <a:ext cx="274320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WHY THIS MATTERS</a:t>
            </a:r>
            <a:endParaRPr lang="en-US" sz="1200" dirty="0"/>
          </a:p>
        </p:txBody>
      </p:sp>
      <p:sp>
        <p:nvSpPr>
          <p:cNvPr id="32" name="Text 30"/>
          <p:cNvSpPr/>
          <p:nvPr/>
        </p:nvSpPr>
        <p:spPr>
          <a:xfrm>
            <a:off x="1737360" y="3703320"/>
            <a:ext cx="6766560" cy="1005840"/>
          </a:xfrm>
          <a:prstGeom prst="rect">
            <a:avLst/>
          </a:prstGeom>
          <a:noFill/>
          <a:ln/>
        </p:spPr>
        <p:txBody>
          <a:bodyPr wrap="square" lIns="0" tIns="0" rIns="0" bIns="0" rtlCol="0" anchor="ctr"/>
          <a:lstStyle/>
          <a:p>
            <a:pPr indent="0" marL="0">
              <a:lnSpc>
                <a:spcPct val="120000"/>
              </a:lnSpc>
              <a:buNone/>
            </a:pPr>
            <a:r>
              <a:rPr lang="en-US" sz="1200" b="1" dirty="0">
                <a:solidFill>
                  <a:srgbClr val="FFCC99"/>
                </a:solidFill>
                <a:latin typeface="Trebuchet MS" pitchFamily="34" charset="0"/>
                <a:ea typeface="Trebuchet MS" pitchFamily="34" charset="-122"/>
                <a:cs typeface="Trebuchet MS" pitchFamily="34" charset="-120"/>
              </a:rPr>
              <a:t>Raw broker data shows WHAT happened — not WHY.</a:t>
            </a:r>
            <a:endParaRPr lang="en-US" sz="1200" dirty="0"/>
          </a:p>
          <a:p>
            <a:pPr indent="0" marL="0">
              <a:lnSpc>
                <a:spcPct val="120000"/>
              </a:lnSpc>
              <a:buNone/>
            </a:pPr>
            <a:endParaRPr lang="en-US" sz="1200" dirty="0"/>
          </a:p>
          <a:p>
            <a:pPr indent="0" marL="0">
              <a:lnSpc>
                <a:spcPct val="120000"/>
              </a:lnSpc>
              <a:buNone/>
            </a:pPr>
            <a:r>
              <a:rPr lang="en-US" sz="1100" dirty="0">
                <a:solidFill>
                  <a:srgbClr val="9999AA"/>
                </a:solidFill>
                <a:latin typeface="Trebuchet MS" pitchFamily="34" charset="0"/>
                <a:ea typeface="Trebuchet MS" pitchFamily="34" charset="-122"/>
                <a:cs typeface="Trebuchet MS" pitchFamily="34" charset="-120"/>
              </a:rPr>
              <a:t>Without tickets, a closed put could be a scheduled roll, a strike adjustment, or an emergency exit. The ticket captures intent at the moment of planning.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PHASE 3: ORDER VERIFICATION</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Screenshot Review Before Submission</a:t>
            </a:r>
            <a:endParaRPr lang="en-US" sz="2200" dirty="0"/>
          </a:p>
        </p:txBody>
      </p:sp>
      <p:sp>
        <p:nvSpPr>
          <p:cNvPr id="15" name="Shape 13"/>
          <p:cNvSpPr/>
          <p:nvPr/>
        </p:nvSpPr>
        <p:spPr>
          <a:xfrm>
            <a:off x="1463040" y="1188720"/>
            <a:ext cx="4572000" cy="2560320"/>
          </a:xfrm>
          <a:prstGeom prst="rect">
            <a:avLst/>
          </a:prstGeom>
          <a:solidFill>
            <a:srgbClr val="1A1A2E"/>
          </a:solidFill>
          <a:ln w="19050">
            <a:solidFill>
              <a:srgbClr val="66CCCC"/>
            </a:solidFill>
            <a:prstDash val="solid"/>
          </a:ln>
        </p:spPr>
      </p:sp>
      <p:sp>
        <p:nvSpPr>
          <p:cNvPr id="16" name="Shape 14"/>
          <p:cNvSpPr/>
          <p:nvPr/>
        </p:nvSpPr>
        <p:spPr>
          <a:xfrm>
            <a:off x="1463040" y="1188720"/>
            <a:ext cx="4572000" cy="54864"/>
          </a:xfrm>
          <a:prstGeom prst="rect">
            <a:avLst/>
          </a:prstGeom>
          <a:solidFill>
            <a:srgbClr val="66CCCC"/>
          </a:solidFill>
          <a:ln/>
        </p:spPr>
      </p:sp>
      <p:sp>
        <p:nvSpPr>
          <p:cNvPr id="17" name="Text 15"/>
          <p:cNvSpPr/>
          <p:nvPr/>
        </p:nvSpPr>
        <p:spPr>
          <a:xfrm>
            <a:off x="1645920" y="1325880"/>
            <a:ext cx="4206240" cy="274320"/>
          </a:xfrm>
          <a:prstGeom prst="rect">
            <a:avLst/>
          </a:prstGeom>
          <a:noFill/>
          <a:ln/>
        </p:spPr>
        <p:txBody>
          <a:bodyPr wrap="square" lIns="0" tIns="0" rIns="0" bIns="0" rtlCol="0" anchor="ctr"/>
          <a:lstStyle/>
          <a:p>
            <a:pPr indent="0" marL="0">
              <a:buNone/>
            </a:pPr>
            <a:r>
              <a:rPr lang="en-US" sz="1300" b="1" dirty="0">
                <a:solidFill>
                  <a:srgbClr val="66CCCC"/>
                </a:solidFill>
                <a:latin typeface="Trebuchet MS" pitchFamily="34" charset="0"/>
                <a:ea typeface="Trebuchet MS" pitchFamily="34" charset="-122"/>
                <a:cs typeface="Trebuchet MS" pitchFamily="34" charset="-120"/>
              </a:rPr>
              <a:t>VERIFICATION CHECKLIST</a:t>
            </a:r>
            <a:endParaRPr lang="en-US" sz="1300" dirty="0"/>
          </a:p>
        </p:txBody>
      </p:sp>
      <p:sp>
        <p:nvSpPr>
          <p:cNvPr id="18" name="Text 16"/>
          <p:cNvSpPr/>
          <p:nvPr/>
        </p:nvSpPr>
        <p:spPr>
          <a:xfrm>
            <a:off x="1737360" y="1737360"/>
            <a:ext cx="274320" cy="256032"/>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a:t>
            </a:r>
            <a:endParaRPr lang="en-US" sz="1400" dirty="0"/>
          </a:p>
        </p:txBody>
      </p:sp>
      <p:sp>
        <p:nvSpPr>
          <p:cNvPr id="19" name="Text 17"/>
          <p:cNvSpPr/>
          <p:nvPr/>
        </p:nvSpPr>
        <p:spPr>
          <a:xfrm>
            <a:off x="2057400" y="1737360"/>
            <a:ext cx="3749040" cy="256032"/>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Correct strikes match trade ticket</a:t>
            </a:r>
            <a:endParaRPr lang="en-US" sz="1200" dirty="0"/>
          </a:p>
        </p:txBody>
      </p:sp>
      <p:sp>
        <p:nvSpPr>
          <p:cNvPr id="20" name="Text 18"/>
          <p:cNvSpPr/>
          <p:nvPr/>
        </p:nvSpPr>
        <p:spPr>
          <a:xfrm>
            <a:off x="1737360" y="2039112"/>
            <a:ext cx="274320" cy="256032"/>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a:t>
            </a:r>
            <a:endParaRPr lang="en-US" sz="1400" dirty="0"/>
          </a:p>
        </p:txBody>
      </p:sp>
      <p:sp>
        <p:nvSpPr>
          <p:cNvPr id="21" name="Text 19"/>
          <p:cNvSpPr/>
          <p:nvPr/>
        </p:nvSpPr>
        <p:spPr>
          <a:xfrm>
            <a:off x="2057400" y="2039112"/>
            <a:ext cx="3749040" cy="256032"/>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Buy/Sell directions correct per leg</a:t>
            </a:r>
            <a:endParaRPr lang="en-US" sz="1200" dirty="0"/>
          </a:p>
        </p:txBody>
      </p:sp>
      <p:sp>
        <p:nvSpPr>
          <p:cNvPr id="22" name="Text 20"/>
          <p:cNvSpPr/>
          <p:nvPr/>
        </p:nvSpPr>
        <p:spPr>
          <a:xfrm>
            <a:off x="1737360" y="2340864"/>
            <a:ext cx="274320" cy="256032"/>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a:t>
            </a:r>
            <a:endParaRPr lang="en-US" sz="1400" dirty="0"/>
          </a:p>
        </p:txBody>
      </p:sp>
      <p:sp>
        <p:nvSpPr>
          <p:cNvPr id="23" name="Text 21"/>
          <p:cNvSpPr/>
          <p:nvPr/>
        </p:nvSpPr>
        <p:spPr>
          <a:xfrm>
            <a:off x="2057400" y="2340864"/>
            <a:ext cx="3749040" cy="256032"/>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Limit price reasonable vs Alex's target</a:t>
            </a:r>
            <a:endParaRPr lang="en-US" sz="1200" dirty="0"/>
          </a:p>
        </p:txBody>
      </p:sp>
      <p:sp>
        <p:nvSpPr>
          <p:cNvPr id="24" name="Text 22"/>
          <p:cNvSpPr/>
          <p:nvPr/>
        </p:nvSpPr>
        <p:spPr>
          <a:xfrm>
            <a:off x="1737360" y="2642616"/>
            <a:ext cx="274320" cy="256032"/>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a:t>
            </a:r>
            <a:endParaRPr lang="en-US" sz="1400" dirty="0"/>
          </a:p>
        </p:txBody>
      </p:sp>
      <p:sp>
        <p:nvSpPr>
          <p:cNvPr id="25" name="Text 23"/>
          <p:cNvSpPr/>
          <p:nvPr/>
        </p:nvSpPr>
        <p:spPr>
          <a:xfrm>
            <a:off x="2057400" y="2642616"/>
            <a:ext cx="3749040" cy="256032"/>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TIF (Time-in-Force) appropriate</a:t>
            </a:r>
            <a:endParaRPr lang="en-US" sz="1200" dirty="0"/>
          </a:p>
        </p:txBody>
      </p:sp>
      <p:sp>
        <p:nvSpPr>
          <p:cNvPr id="26" name="Text 24"/>
          <p:cNvSpPr/>
          <p:nvPr/>
        </p:nvSpPr>
        <p:spPr>
          <a:xfrm>
            <a:off x="1737360" y="2944368"/>
            <a:ext cx="274320" cy="256032"/>
          </a:xfrm>
          <a:prstGeom prst="rect">
            <a:avLst/>
          </a:prstGeom>
          <a:noFill/>
          <a:ln/>
        </p:spPr>
        <p:txBody>
          <a:bodyPr wrap="square" lIns="0" tIns="0" rIns="0" bIns="0" rtlCol="0" anchor="ct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a:t>
            </a:r>
            <a:endParaRPr lang="en-US" sz="1400" dirty="0"/>
          </a:p>
        </p:txBody>
      </p:sp>
      <p:sp>
        <p:nvSpPr>
          <p:cNvPr id="27" name="Text 25"/>
          <p:cNvSpPr/>
          <p:nvPr/>
        </p:nvSpPr>
        <p:spPr>
          <a:xfrm>
            <a:off x="2057400" y="2944368"/>
            <a:ext cx="3749040" cy="256032"/>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Net Credit vs Net Debit correct</a:t>
            </a:r>
            <a:endParaRPr lang="en-US" sz="1200" dirty="0"/>
          </a:p>
        </p:txBody>
      </p:sp>
      <p:sp>
        <p:nvSpPr>
          <p:cNvPr id="28" name="Text 26"/>
          <p:cNvSpPr/>
          <p:nvPr/>
        </p:nvSpPr>
        <p:spPr>
          <a:xfrm>
            <a:off x="1737360" y="3246120"/>
            <a:ext cx="274320" cy="256032"/>
          </a:xfrm>
          <a:prstGeom prst="rect">
            <a:avLst/>
          </a:prstGeom>
          <a:noFill/>
          <a:ln/>
        </p:spPr>
        <p:txBody>
          <a:bodyPr wrap="square" lIns="0" tIns="0" rIns="0" bIns="0" rtlCol="0" anchor="ctr"/>
          <a:lstStyle/>
          <a:p>
            <a:pPr indent="0" marL="0">
              <a:buNone/>
            </a:pPr>
            <a:r>
              <a:rPr lang="en-US" sz="1400" b="1" dirty="0">
                <a:solidFill>
                  <a:srgbClr val="CC4444"/>
                </a:solidFill>
                <a:latin typeface="Trebuchet MS" pitchFamily="34" charset="0"/>
                <a:ea typeface="Trebuchet MS" pitchFamily="34" charset="-122"/>
                <a:cs typeface="Trebuchet MS" pitchFamily="34" charset="-120"/>
              </a:rPr>
              <a:t>✗</a:t>
            </a:r>
            <a:endParaRPr lang="en-US" sz="1400" dirty="0"/>
          </a:p>
        </p:txBody>
      </p:sp>
      <p:sp>
        <p:nvSpPr>
          <p:cNvPr id="29" name="Text 27"/>
          <p:cNvSpPr/>
          <p:nvPr/>
        </p:nvSpPr>
        <p:spPr>
          <a:xfrm>
            <a:off x="2057400" y="3246120"/>
            <a:ext cx="3749040" cy="256032"/>
          </a:xfrm>
          <a:prstGeom prst="rect">
            <a:avLst/>
          </a:prstGeom>
          <a:noFill/>
          <a:ln/>
        </p:spPr>
        <p:txBody>
          <a:bodyPr wrap="square" lIns="0" tIns="0" rIns="0" bIns="0" rtlCol="0" anchor="ctr"/>
          <a:lstStyle/>
          <a:p>
            <a:pPr indent="0" marL="0">
              <a:buNone/>
            </a:pPr>
            <a:r>
              <a:rPr lang="en-US" sz="1200" dirty="0">
                <a:solidFill>
                  <a:srgbClr val="CC4444"/>
                </a:solidFill>
                <a:latin typeface="Trebuchet MS" pitchFamily="34" charset="0"/>
                <a:ea typeface="Trebuchet MS" pitchFamily="34" charset="-122"/>
                <a:cs typeface="Trebuchet MS" pitchFamily="34" charset="-120"/>
              </a:rPr>
              <a:t>Quantity matches trade plan</a:t>
            </a:r>
            <a:endParaRPr lang="en-US" sz="1200" dirty="0"/>
          </a:p>
        </p:txBody>
      </p:sp>
      <p:sp>
        <p:nvSpPr>
          <p:cNvPr id="30" name="Shape 28"/>
          <p:cNvSpPr/>
          <p:nvPr/>
        </p:nvSpPr>
        <p:spPr>
          <a:xfrm>
            <a:off x="6309360" y="1188720"/>
            <a:ext cx="2468880" cy="2560320"/>
          </a:xfrm>
          <a:prstGeom prst="rect">
            <a:avLst/>
          </a:prstGeom>
          <a:solidFill>
            <a:srgbClr val="1A1A2E"/>
          </a:solidFill>
          <a:ln w="19050">
            <a:solidFill>
              <a:srgbClr val="FF9900"/>
            </a:solidFill>
            <a:prstDash val="solid"/>
          </a:ln>
        </p:spPr>
      </p:sp>
      <p:sp>
        <p:nvSpPr>
          <p:cNvPr id="31" name="Shape 29"/>
          <p:cNvSpPr/>
          <p:nvPr/>
        </p:nvSpPr>
        <p:spPr>
          <a:xfrm>
            <a:off x="6309360" y="1188720"/>
            <a:ext cx="2468880" cy="54864"/>
          </a:xfrm>
          <a:prstGeom prst="rect">
            <a:avLst/>
          </a:prstGeom>
          <a:solidFill>
            <a:srgbClr val="FF9900"/>
          </a:solidFill>
          <a:ln/>
        </p:spPr>
      </p:sp>
      <p:sp>
        <p:nvSpPr>
          <p:cNvPr id="32" name="Text 30"/>
          <p:cNvSpPr/>
          <p:nvPr/>
        </p:nvSpPr>
        <p:spPr>
          <a:xfrm>
            <a:off x="6492240" y="1325880"/>
            <a:ext cx="210312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THE PATTERN</a:t>
            </a:r>
            <a:endParaRPr lang="en-US" sz="1200" dirty="0"/>
          </a:p>
        </p:txBody>
      </p:sp>
      <p:sp>
        <p:nvSpPr>
          <p:cNvPr id="33" name="Text 31"/>
          <p:cNvSpPr/>
          <p:nvPr/>
        </p:nvSpPr>
        <p:spPr>
          <a:xfrm>
            <a:off x="6492240" y="1691640"/>
            <a:ext cx="2103120" cy="182880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1. Build order in broker</a:t>
            </a:r>
            <a:endParaRPr lang="en-US" sz="1100" dirty="0"/>
          </a:p>
          <a:p>
            <a:pPr indent="0" marL="0">
              <a:buNone/>
            </a:pPr>
            <a:endParaRPr lang="en-US" sz="1100" dirty="0"/>
          </a:p>
          <a:p>
            <a:pPr indent="0" marL="0">
              <a:buNone/>
            </a:pPr>
            <a:r>
              <a:rPr lang="en-US" sz="1100" dirty="0">
                <a:solidFill>
                  <a:srgbClr val="FFCC99"/>
                </a:solidFill>
                <a:latin typeface="Trebuchet MS" pitchFamily="34" charset="0"/>
                <a:ea typeface="Trebuchet MS" pitchFamily="34" charset="-122"/>
                <a:cs typeface="Trebuchet MS" pitchFamily="34" charset="-120"/>
              </a:rPr>
              <a:t>2. Screenshot the ticket</a:t>
            </a:r>
            <a:endParaRPr lang="en-US" sz="1100" dirty="0"/>
          </a:p>
          <a:p>
            <a:pPr indent="0" marL="0">
              <a:buNone/>
            </a:pPr>
            <a:endParaRPr lang="en-US" sz="1100" dirty="0"/>
          </a:p>
          <a:p>
            <a:pPr indent="0" marL="0">
              <a:buNone/>
            </a:pPr>
            <a:r>
              <a:rPr lang="en-US" sz="1100" dirty="0">
                <a:solidFill>
                  <a:srgbClr val="FFCC99"/>
                </a:solidFill>
                <a:latin typeface="Trebuchet MS" pitchFamily="34" charset="0"/>
                <a:ea typeface="Trebuchet MS" pitchFamily="34" charset="-122"/>
                <a:cs typeface="Trebuchet MS" pitchFamily="34" charset="-120"/>
              </a:rPr>
              <a:t>3. Upload: "How's this</a:t>
            </a:r>
            <a:endParaRPr lang="en-US" sz="1100" dirty="0"/>
          </a:p>
          <a:p>
            <a:pPr indent="0" marL="0">
              <a:buNone/>
            </a:pPr>
            <a:r>
              <a:rPr lang="en-US" sz="1100" dirty="0">
                <a:solidFill>
                  <a:srgbClr val="FFCC99"/>
                </a:solidFill>
                <a:latin typeface="Trebuchet MS" pitchFamily="34" charset="0"/>
                <a:ea typeface="Trebuchet MS" pitchFamily="34" charset="-122"/>
                <a:cs typeface="Trebuchet MS" pitchFamily="34" charset="-120"/>
              </a:rPr>
              <a:t>    look?"</a:t>
            </a:r>
            <a:endParaRPr lang="en-US" sz="1100" dirty="0"/>
          </a:p>
          <a:p>
            <a:pPr indent="0" marL="0">
              <a:buNone/>
            </a:pPr>
            <a:endParaRPr lang="en-US" sz="1100" dirty="0"/>
          </a:p>
          <a:p>
            <a:pPr indent="0" marL="0">
              <a:buNone/>
            </a:pPr>
            <a:r>
              <a:rPr lang="en-US" sz="1100" dirty="0">
                <a:solidFill>
                  <a:srgbClr val="FFCC99"/>
                </a:solidFill>
                <a:latin typeface="Trebuchet MS" pitchFamily="34" charset="0"/>
                <a:ea typeface="Trebuchet MS" pitchFamily="34" charset="-122"/>
                <a:cs typeface="Trebuchet MS" pitchFamily="34" charset="-120"/>
              </a:rPr>
              <a:t>4. Claude verifies</a:t>
            </a:r>
            <a:endParaRPr lang="en-US" sz="1100" dirty="0"/>
          </a:p>
          <a:p>
            <a:pPr indent="0" marL="0">
              <a:buNone/>
            </a:pPr>
            <a:endParaRPr lang="en-US" sz="1100" dirty="0"/>
          </a:p>
          <a:p>
            <a:pPr indent="0" marL="0">
              <a:buNone/>
            </a:pPr>
            <a:r>
              <a:rPr lang="en-US" sz="1100" dirty="0">
                <a:solidFill>
                  <a:srgbClr val="FFCC99"/>
                </a:solidFill>
                <a:latin typeface="Trebuchet MS" pitchFamily="34" charset="0"/>
                <a:ea typeface="Trebuchet MS" pitchFamily="34" charset="-122"/>
                <a:cs typeface="Trebuchet MS" pitchFamily="34" charset="-120"/>
              </a:rPr>
              <a:t>5. Submit or fix</a:t>
            </a:r>
            <a:endParaRPr lang="en-US" sz="1100" dirty="0"/>
          </a:p>
        </p:txBody>
      </p:sp>
      <p:sp>
        <p:nvSpPr>
          <p:cNvPr id="34" name="Shape 32"/>
          <p:cNvSpPr/>
          <p:nvPr/>
        </p:nvSpPr>
        <p:spPr>
          <a:xfrm>
            <a:off x="1463040" y="3977640"/>
            <a:ext cx="7315200" cy="868680"/>
          </a:xfrm>
          <a:prstGeom prst="rect">
            <a:avLst/>
          </a:prstGeom>
          <a:solidFill>
            <a:srgbClr val="1A1A2E"/>
          </a:solidFill>
          <a:ln w="19050">
            <a:solidFill>
              <a:srgbClr val="CC4444"/>
            </a:solidFill>
            <a:prstDash val="solid"/>
          </a:ln>
        </p:spPr>
      </p:sp>
      <p:sp>
        <p:nvSpPr>
          <p:cNvPr id="35" name="Shape 33"/>
          <p:cNvSpPr/>
          <p:nvPr/>
        </p:nvSpPr>
        <p:spPr>
          <a:xfrm>
            <a:off x="1463040" y="3977640"/>
            <a:ext cx="7315200" cy="54864"/>
          </a:xfrm>
          <a:prstGeom prst="rect">
            <a:avLst/>
          </a:prstGeom>
          <a:solidFill>
            <a:srgbClr val="CC4444"/>
          </a:solidFill>
          <a:ln/>
        </p:spPr>
      </p:sp>
      <p:sp>
        <p:nvSpPr>
          <p:cNvPr id="36" name="Text 34"/>
          <p:cNvSpPr/>
          <p:nvPr/>
        </p:nvSpPr>
        <p:spPr>
          <a:xfrm>
            <a:off x="1737360" y="4114800"/>
            <a:ext cx="6766560" cy="274320"/>
          </a:xfrm>
          <a:prstGeom prst="rect">
            <a:avLst/>
          </a:prstGeom>
          <a:noFill/>
          <a:ln/>
        </p:spPr>
        <p:txBody>
          <a:bodyPr wrap="square" lIns="0" tIns="0" rIns="0" bIns="0" rtlCol="0" anchor="ctr"/>
          <a:lstStyle/>
          <a:p>
            <a:pPr indent="0" marL="0">
              <a:buNone/>
            </a:pPr>
            <a:r>
              <a:rPr lang="en-US" sz="1300" b="1" dirty="0">
                <a:solidFill>
                  <a:srgbClr val="CC4444"/>
                </a:solidFill>
                <a:latin typeface="Trebuchet MS" pitchFamily="34" charset="0"/>
                <a:ea typeface="Trebuchet MS" pitchFamily="34" charset="-122"/>
                <a:cs typeface="Trebuchet MS" pitchFamily="34" charset="-120"/>
              </a:rPr>
              <a:t>⚠  THE MISS: Quantity was 1 contract, not 10. Neither human nor AI caught it.</a:t>
            </a:r>
            <a:endParaRPr lang="en-US" sz="1300" dirty="0"/>
          </a:p>
        </p:txBody>
      </p:sp>
      <p:sp>
        <p:nvSpPr>
          <p:cNvPr id="37" name="Text 35"/>
          <p:cNvSpPr/>
          <p:nvPr/>
        </p:nvSpPr>
        <p:spPr>
          <a:xfrm>
            <a:off x="1737360" y="4434840"/>
            <a:ext cx="6766560" cy="274320"/>
          </a:xfrm>
          <a:prstGeom prst="rect">
            <a:avLst/>
          </a:prstGeom>
          <a:noFill/>
          <a:ln/>
        </p:spPr>
        <p:txBody>
          <a:bodyPr wrap="square" lIns="0" tIns="0" rIns="0" bIns="0" rtlCol="0" anchor="ctr"/>
          <a:lstStyle/>
          <a:p>
            <a:pPr indent="0" marL="0">
              <a:buNone/>
            </a:pPr>
            <a:r>
              <a:rPr lang="en-US" sz="1100" dirty="0">
                <a:solidFill>
                  <a:srgbClr val="9999AA"/>
                </a:solidFill>
                <a:latin typeface="Trebuchet MS" pitchFamily="34" charset="0"/>
                <a:ea typeface="Trebuchet MS" pitchFamily="34" charset="-122"/>
                <a:cs typeface="Trebuchet MS" pitchFamily="34" charset="-120"/>
              </a:rPr>
              <a:t>Five of six checks passed. But the one that was missed could have cost us 90% of the intended position.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ERROR &amp; RECOVERY</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The Quantity Miss — And How We Fixed It</a:t>
            </a:r>
            <a:endParaRPr lang="en-US" sz="2200" dirty="0"/>
          </a:p>
        </p:txBody>
      </p:sp>
      <p:sp>
        <p:nvSpPr>
          <p:cNvPr id="15" name="Text 13"/>
          <p:cNvSpPr/>
          <p:nvPr/>
        </p:nvSpPr>
        <p:spPr>
          <a:xfrm>
            <a:off x="1554480" y="1188720"/>
            <a:ext cx="1005840" cy="274320"/>
          </a:xfrm>
          <a:prstGeom prst="rect">
            <a:avLst/>
          </a:prstGeom>
          <a:noFill/>
          <a:ln/>
        </p:spPr>
        <p:txBody>
          <a:bodyPr wrap="square" lIns="0" tIns="0" rIns="0" bIns="0" rtlCol="0" anchor="ctr"/>
          <a:lstStyle/>
          <a:p>
            <a:pPr indent="0" marL="0">
              <a:buNone/>
            </a:pPr>
            <a:r>
              <a:rPr lang="en-US" sz="1100" b="1" dirty="0">
                <a:solidFill>
                  <a:srgbClr val="FF9900"/>
                </a:solidFill>
                <a:latin typeface="Trebuchet MS" pitchFamily="34" charset="0"/>
                <a:ea typeface="Trebuchet MS" pitchFamily="34" charset="-122"/>
                <a:cs typeface="Trebuchet MS" pitchFamily="34" charset="-120"/>
              </a:rPr>
              <a:t>6:46 AM</a:t>
            </a:r>
            <a:endParaRPr lang="en-US" sz="1100" dirty="0"/>
          </a:p>
        </p:txBody>
      </p:sp>
      <p:sp>
        <p:nvSpPr>
          <p:cNvPr id="16" name="Text 14"/>
          <p:cNvSpPr/>
          <p:nvPr/>
        </p:nvSpPr>
        <p:spPr>
          <a:xfrm>
            <a:off x="2606040" y="1170432"/>
            <a:ext cx="274320" cy="274320"/>
          </a:xfrm>
          <a:prstGeom prst="rect">
            <a:avLst/>
          </a:prstGeom>
          <a:noFill/>
          <a:ln/>
        </p:spPr>
        <p:txBody>
          <a:bodyPr wrap="square" lIns="0" tIns="0" rIns="0" bIns="0" rtlCol="0" anchor="ctr"/>
          <a:lstStyle/>
          <a:p>
            <a:pPr algn="ctr" indent="0" marL="0">
              <a:buNone/>
            </a:pPr>
            <a:r>
              <a:rPr lang="en-US" sz="1200" dirty="0">
                <a:solidFill>
                  <a:srgbClr val="FF9900"/>
                </a:solidFill>
                <a:latin typeface="Trebuchet MS" pitchFamily="34" charset="0"/>
                <a:ea typeface="Trebuchet MS" pitchFamily="34" charset="-122"/>
                <a:cs typeface="Trebuchet MS" pitchFamily="34" charset="-120"/>
              </a:rPr>
              <a:t>●</a:t>
            </a:r>
            <a:endParaRPr lang="en-US" sz="1200" dirty="0"/>
          </a:p>
        </p:txBody>
      </p:sp>
      <p:sp>
        <p:nvSpPr>
          <p:cNvPr id="17" name="Shape 15"/>
          <p:cNvSpPr/>
          <p:nvPr/>
        </p:nvSpPr>
        <p:spPr>
          <a:xfrm>
            <a:off x="2724912" y="1444752"/>
            <a:ext cx="18288" cy="292608"/>
          </a:xfrm>
          <a:prstGeom prst="rect">
            <a:avLst/>
          </a:prstGeom>
          <a:solidFill>
            <a:srgbClr val="FF9900">
              <a:alpha val="50000"/>
            </a:srgbClr>
          </a:solidFill>
          <a:ln/>
        </p:spPr>
      </p:sp>
      <p:sp>
        <p:nvSpPr>
          <p:cNvPr id="18" name="Text 16"/>
          <p:cNvSpPr/>
          <p:nvPr/>
        </p:nvSpPr>
        <p:spPr>
          <a:xfrm>
            <a:off x="2926080" y="1188720"/>
            <a:ext cx="5760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T1 filled — 1x IC @ $0.55 cr</a:t>
            </a:r>
            <a:endParaRPr lang="en-US" sz="1200" dirty="0"/>
          </a:p>
        </p:txBody>
      </p:sp>
      <p:sp>
        <p:nvSpPr>
          <p:cNvPr id="19" name="Text 17"/>
          <p:cNvSpPr/>
          <p:nvPr/>
        </p:nvSpPr>
        <p:spPr>
          <a:xfrm>
            <a:off x="1554480" y="1737360"/>
            <a:ext cx="1005840" cy="274320"/>
          </a:xfrm>
          <a:prstGeom prst="rect">
            <a:avLst/>
          </a:prstGeom>
          <a:noFill/>
          <a:ln/>
        </p:spPr>
        <p:txBody>
          <a:bodyPr wrap="square" lIns="0" tIns="0" rIns="0" bIns="0" rtlCol="0" anchor="ctr"/>
          <a:lstStyle/>
          <a:p>
            <a:pPr indent="0" marL="0">
              <a:buNone/>
            </a:pPr>
            <a:r>
              <a:rPr lang="en-US" sz="1100" b="1" dirty="0">
                <a:solidFill>
                  <a:srgbClr val="CC4444"/>
                </a:solidFill>
                <a:latin typeface="Trebuchet MS" pitchFamily="34" charset="0"/>
                <a:ea typeface="Trebuchet MS" pitchFamily="34" charset="-122"/>
                <a:cs typeface="Trebuchet MS" pitchFamily="34" charset="-120"/>
              </a:rPr>
              <a:t>6:56 AM</a:t>
            </a:r>
            <a:endParaRPr lang="en-US" sz="1100" dirty="0"/>
          </a:p>
        </p:txBody>
      </p:sp>
      <p:sp>
        <p:nvSpPr>
          <p:cNvPr id="20" name="Text 18"/>
          <p:cNvSpPr/>
          <p:nvPr/>
        </p:nvSpPr>
        <p:spPr>
          <a:xfrm>
            <a:off x="2606040" y="1719072"/>
            <a:ext cx="274320" cy="274320"/>
          </a:xfrm>
          <a:prstGeom prst="rect">
            <a:avLst/>
          </a:prstGeom>
          <a:noFill/>
          <a:ln/>
        </p:spPr>
        <p:txBody>
          <a:bodyPr wrap="square" lIns="0" tIns="0" rIns="0" bIns="0" rtlCol="0" anchor="ctr"/>
          <a:lstStyle/>
          <a:p>
            <a:pPr algn="ctr" indent="0" marL="0">
              <a:buNone/>
            </a:pPr>
            <a:r>
              <a:rPr lang="en-US" sz="1200" dirty="0">
                <a:solidFill>
                  <a:srgbClr val="CC4444"/>
                </a:solidFill>
                <a:latin typeface="Trebuchet MS" pitchFamily="34" charset="0"/>
                <a:ea typeface="Trebuchet MS" pitchFamily="34" charset="-122"/>
                <a:cs typeface="Trebuchet MS" pitchFamily="34" charset="-120"/>
              </a:rPr>
              <a:t>●</a:t>
            </a:r>
            <a:endParaRPr lang="en-US" sz="1200" dirty="0"/>
          </a:p>
        </p:txBody>
      </p:sp>
      <p:sp>
        <p:nvSpPr>
          <p:cNvPr id="21" name="Shape 19"/>
          <p:cNvSpPr/>
          <p:nvPr/>
        </p:nvSpPr>
        <p:spPr>
          <a:xfrm>
            <a:off x="2724912" y="1993392"/>
            <a:ext cx="18288" cy="292608"/>
          </a:xfrm>
          <a:prstGeom prst="rect">
            <a:avLst/>
          </a:prstGeom>
          <a:solidFill>
            <a:srgbClr val="CC4444">
              <a:alpha val="50000"/>
            </a:srgbClr>
          </a:solidFill>
          <a:ln/>
        </p:spPr>
      </p:sp>
      <p:sp>
        <p:nvSpPr>
          <p:cNvPr id="22" name="Text 20"/>
          <p:cNvSpPr/>
          <p:nvPr/>
        </p:nvSpPr>
        <p:spPr>
          <a:xfrm>
            <a:off x="2926080" y="1737360"/>
            <a:ext cx="5760720" cy="274320"/>
          </a:xfrm>
          <a:prstGeom prst="rect">
            <a:avLst/>
          </a:prstGeom>
          <a:noFill/>
          <a:ln/>
        </p:spPr>
        <p:txBody>
          <a:bodyPr wrap="square" lIns="0" tIns="0" rIns="0" bIns="0" rtlCol="0" anchor="ctr"/>
          <a:lstStyle/>
          <a:p>
            <a:pPr indent="0" marL="0">
              <a:buNone/>
            </a:pPr>
            <a:r>
              <a:rPr lang="en-US" sz="1200" dirty="0">
                <a:solidFill>
                  <a:srgbClr val="CC4444"/>
                </a:solidFill>
                <a:latin typeface="Trebuchet MS" pitchFamily="34" charset="0"/>
                <a:ea typeface="Trebuchet MS" pitchFamily="34" charset="-122"/>
                <a:cs typeface="Trebuchet MS" pitchFamily="34" charset="-120"/>
              </a:rPr>
              <a:t>Building GTC closer — notice: only 1 contract!</a:t>
            </a:r>
            <a:endParaRPr lang="en-US" sz="1200" dirty="0"/>
          </a:p>
        </p:txBody>
      </p:sp>
      <p:sp>
        <p:nvSpPr>
          <p:cNvPr id="23" name="Text 21"/>
          <p:cNvSpPr/>
          <p:nvPr/>
        </p:nvSpPr>
        <p:spPr>
          <a:xfrm>
            <a:off x="1554480" y="2286000"/>
            <a:ext cx="1005840" cy="274320"/>
          </a:xfrm>
          <a:prstGeom prst="rect">
            <a:avLst/>
          </a:prstGeom>
          <a:noFill/>
          <a:ln/>
        </p:spPr>
        <p:txBody>
          <a:bodyPr wrap="square" lIns="0" tIns="0" rIns="0" bIns="0" rtlCol="0" anchor="ctr"/>
          <a:lstStyle/>
          <a:p>
            <a:pPr indent="0" marL="0">
              <a:buNone/>
            </a:pPr>
            <a:r>
              <a:rPr lang="en-US" sz="1100" b="1" dirty="0">
                <a:solidFill>
                  <a:srgbClr val="9999FF"/>
                </a:solidFill>
                <a:latin typeface="Trebuchet MS" pitchFamily="34" charset="0"/>
                <a:ea typeface="Trebuchet MS" pitchFamily="34" charset="-122"/>
                <a:cs typeface="Trebuchet MS" pitchFamily="34" charset="-120"/>
              </a:rPr>
              <a:t>6:57 AM</a:t>
            </a:r>
            <a:endParaRPr lang="en-US" sz="1100" dirty="0"/>
          </a:p>
        </p:txBody>
      </p:sp>
      <p:sp>
        <p:nvSpPr>
          <p:cNvPr id="24" name="Text 22"/>
          <p:cNvSpPr/>
          <p:nvPr/>
        </p:nvSpPr>
        <p:spPr>
          <a:xfrm>
            <a:off x="2606040" y="2267712"/>
            <a:ext cx="274320" cy="274320"/>
          </a:xfrm>
          <a:prstGeom prst="rect">
            <a:avLst/>
          </a:prstGeom>
          <a:noFill/>
          <a:ln/>
        </p:spPr>
        <p:txBody>
          <a:bodyPr wrap="square" lIns="0" tIns="0" rIns="0" bIns="0" rtlCol="0" anchor="ctr"/>
          <a:lstStyle/>
          <a:p>
            <a:pPr algn="ctr" indent="0" marL="0">
              <a:buNone/>
            </a:pPr>
            <a:r>
              <a:rPr lang="en-US" sz="1200" dirty="0">
                <a:solidFill>
                  <a:srgbClr val="9999FF"/>
                </a:solidFill>
                <a:latin typeface="Trebuchet MS" pitchFamily="34" charset="0"/>
                <a:ea typeface="Trebuchet MS" pitchFamily="34" charset="-122"/>
                <a:cs typeface="Trebuchet MS" pitchFamily="34" charset="-120"/>
              </a:rPr>
              <a:t>●</a:t>
            </a:r>
            <a:endParaRPr lang="en-US" sz="1200" dirty="0"/>
          </a:p>
        </p:txBody>
      </p:sp>
      <p:sp>
        <p:nvSpPr>
          <p:cNvPr id="25" name="Shape 23"/>
          <p:cNvSpPr/>
          <p:nvPr/>
        </p:nvSpPr>
        <p:spPr>
          <a:xfrm>
            <a:off x="2724912" y="2542032"/>
            <a:ext cx="18288" cy="292608"/>
          </a:xfrm>
          <a:prstGeom prst="rect">
            <a:avLst/>
          </a:prstGeom>
          <a:solidFill>
            <a:srgbClr val="9999FF">
              <a:alpha val="50000"/>
            </a:srgbClr>
          </a:solidFill>
          <a:ln/>
        </p:spPr>
      </p:sp>
      <p:sp>
        <p:nvSpPr>
          <p:cNvPr id="26" name="Text 24"/>
          <p:cNvSpPr/>
          <p:nvPr/>
        </p:nvSpPr>
        <p:spPr>
          <a:xfrm>
            <a:off x="2926080" y="2286000"/>
            <a:ext cx="5760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Claude corrects DB from 10 → 1, creates T1-FIX</a:t>
            </a:r>
            <a:endParaRPr lang="en-US" sz="1200" dirty="0"/>
          </a:p>
        </p:txBody>
      </p:sp>
      <p:sp>
        <p:nvSpPr>
          <p:cNvPr id="27" name="Text 25"/>
          <p:cNvSpPr/>
          <p:nvPr/>
        </p:nvSpPr>
        <p:spPr>
          <a:xfrm>
            <a:off x="1554480" y="2834640"/>
            <a:ext cx="1005840" cy="274320"/>
          </a:xfrm>
          <a:prstGeom prst="rect">
            <a:avLst/>
          </a:prstGeom>
          <a:noFill/>
          <a:ln/>
        </p:spPr>
        <p:txBody>
          <a:bodyPr wrap="square" lIns="0" tIns="0" rIns="0" bIns="0" rtlCol="0" anchor="ctr"/>
          <a:lstStyle/>
          <a:p>
            <a:pPr indent="0" marL="0">
              <a:buNone/>
            </a:pPr>
            <a:r>
              <a:rPr lang="en-US" sz="1100" b="1" dirty="0">
                <a:solidFill>
                  <a:srgbClr val="66CCCC"/>
                </a:solidFill>
                <a:latin typeface="Trebuchet MS" pitchFamily="34" charset="0"/>
                <a:ea typeface="Trebuchet MS" pitchFamily="34" charset="-122"/>
                <a:cs typeface="Trebuchet MS" pitchFamily="34" charset="-120"/>
              </a:rPr>
              <a:t>7:02 AM</a:t>
            </a:r>
            <a:endParaRPr lang="en-US" sz="1100" dirty="0"/>
          </a:p>
        </p:txBody>
      </p:sp>
      <p:sp>
        <p:nvSpPr>
          <p:cNvPr id="28" name="Text 26"/>
          <p:cNvSpPr/>
          <p:nvPr/>
        </p:nvSpPr>
        <p:spPr>
          <a:xfrm>
            <a:off x="2606040" y="2816352"/>
            <a:ext cx="274320" cy="274320"/>
          </a:xfrm>
          <a:prstGeom prst="rect">
            <a:avLst/>
          </a:prstGeom>
          <a:noFill/>
          <a:ln/>
        </p:spPr>
        <p:txBody>
          <a:bodyPr wrap="square" lIns="0" tIns="0" rIns="0" bIns="0" rtlCol="0" anchor="ctr"/>
          <a:lstStyle/>
          <a:p>
            <a:pPr algn="ctr" indent="0" marL="0">
              <a:buNone/>
            </a:pPr>
            <a:r>
              <a:rPr lang="en-US" sz="1200" dirty="0">
                <a:solidFill>
                  <a:srgbClr val="66CCCC"/>
                </a:solidFill>
                <a:latin typeface="Trebuchet MS" pitchFamily="34" charset="0"/>
                <a:ea typeface="Trebuchet MS" pitchFamily="34" charset="-122"/>
                <a:cs typeface="Trebuchet MS" pitchFamily="34" charset="-120"/>
              </a:rPr>
              <a:t>●</a:t>
            </a:r>
            <a:endParaRPr lang="en-US" sz="1200" dirty="0"/>
          </a:p>
        </p:txBody>
      </p:sp>
      <p:sp>
        <p:nvSpPr>
          <p:cNvPr id="29" name="Shape 27"/>
          <p:cNvSpPr/>
          <p:nvPr/>
        </p:nvSpPr>
        <p:spPr>
          <a:xfrm>
            <a:off x="2724912" y="3090672"/>
            <a:ext cx="18288" cy="292608"/>
          </a:xfrm>
          <a:prstGeom prst="rect">
            <a:avLst/>
          </a:prstGeom>
          <a:solidFill>
            <a:srgbClr val="66CCCC">
              <a:alpha val="50000"/>
            </a:srgbClr>
          </a:solidFill>
          <a:ln/>
        </p:spPr>
      </p:sp>
      <p:sp>
        <p:nvSpPr>
          <p:cNvPr id="30" name="Text 28"/>
          <p:cNvSpPr/>
          <p:nvPr/>
        </p:nvSpPr>
        <p:spPr>
          <a:xfrm>
            <a:off x="2926080" y="2834640"/>
            <a:ext cx="5760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9x IC order placed at $0.76 cr limit</a:t>
            </a:r>
            <a:endParaRPr lang="en-US" sz="1200" dirty="0"/>
          </a:p>
        </p:txBody>
      </p:sp>
      <p:sp>
        <p:nvSpPr>
          <p:cNvPr id="31" name="Text 29"/>
          <p:cNvSpPr/>
          <p:nvPr/>
        </p:nvSpPr>
        <p:spPr>
          <a:xfrm>
            <a:off x="1554480" y="3383280"/>
            <a:ext cx="1005840" cy="274320"/>
          </a:xfrm>
          <a:prstGeom prst="rect">
            <a:avLst/>
          </a:prstGeom>
          <a:noFill/>
          <a:ln/>
        </p:spPr>
        <p:txBody>
          <a:bodyPr wrap="square" lIns="0" tIns="0" rIns="0" bIns="0" rtlCol="0" anchor="ctr"/>
          <a:lstStyle/>
          <a:p>
            <a:pPr indent="0" marL="0">
              <a:buNone/>
            </a:pPr>
            <a:r>
              <a:rPr lang="en-US" sz="1100" b="1" dirty="0">
                <a:solidFill>
                  <a:srgbClr val="44CC66"/>
                </a:solidFill>
                <a:latin typeface="Trebuchet MS" pitchFamily="34" charset="0"/>
                <a:ea typeface="Trebuchet MS" pitchFamily="34" charset="-122"/>
                <a:cs typeface="Trebuchet MS" pitchFamily="34" charset="-120"/>
              </a:rPr>
              <a:t>7:05 AM</a:t>
            </a:r>
            <a:endParaRPr lang="en-US" sz="1100" dirty="0"/>
          </a:p>
        </p:txBody>
      </p:sp>
      <p:sp>
        <p:nvSpPr>
          <p:cNvPr id="32" name="Text 30"/>
          <p:cNvSpPr/>
          <p:nvPr/>
        </p:nvSpPr>
        <p:spPr>
          <a:xfrm>
            <a:off x="2606040" y="3364992"/>
            <a:ext cx="274320" cy="274320"/>
          </a:xfrm>
          <a:prstGeom prst="rect">
            <a:avLst/>
          </a:prstGeom>
          <a:noFill/>
          <a:ln/>
        </p:spPr>
        <p:txBody>
          <a:bodyPr wrap="square" lIns="0" tIns="0" rIns="0" bIns="0" rtlCol="0" anchor="ctr"/>
          <a:lstStyle/>
          <a:p>
            <a:pPr algn="ctr" indent="0" marL="0">
              <a:buNone/>
            </a:pPr>
            <a:r>
              <a:rPr lang="en-US" sz="1200" dirty="0">
                <a:solidFill>
                  <a:srgbClr val="44CC66"/>
                </a:solidFill>
                <a:latin typeface="Trebuchet MS" pitchFamily="34" charset="0"/>
                <a:ea typeface="Trebuchet MS" pitchFamily="34" charset="-122"/>
                <a:cs typeface="Trebuchet MS" pitchFamily="34" charset="-120"/>
              </a:rPr>
              <a:t>●</a:t>
            </a:r>
            <a:endParaRPr lang="en-US" sz="1200" dirty="0"/>
          </a:p>
        </p:txBody>
      </p:sp>
      <p:sp>
        <p:nvSpPr>
          <p:cNvPr id="33" name="Shape 31"/>
          <p:cNvSpPr/>
          <p:nvPr/>
        </p:nvSpPr>
        <p:spPr>
          <a:xfrm>
            <a:off x="2724912" y="3639312"/>
            <a:ext cx="18288" cy="292608"/>
          </a:xfrm>
          <a:prstGeom prst="rect">
            <a:avLst/>
          </a:prstGeom>
          <a:solidFill>
            <a:srgbClr val="44CC66">
              <a:alpha val="50000"/>
            </a:srgbClr>
          </a:solidFill>
          <a:ln/>
        </p:spPr>
      </p:sp>
      <p:sp>
        <p:nvSpPr>
          <p:cNvPr id="34" name="Text 32"/>
          <p:cNvSpPr/>
          <p:nvPr/>
        </p:nvSpPr>
        <p:spPr>
          <a:xfrm>
            <a:off x="2926080" y="3383280"/>
            <a:ext cx="5760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T1-FIX filled — 9x @ $0.73 cr (better price!)</a:t>
            </a:r>
            <a:endParaRPr lang="en-US" sz="1200" dirty="0"/>
          </a:p>
        </p:txBody>
      </p:sp>
      <p:sp>
        <p:nvSpPr>
          <p:cNvPr id="35" name="Text 33"/>
          <p:cNvSpPr/>
          <p:nvPr/>
        </p:nvSpPr>
        <p:spPr>
          <a:xfrm>
            <a:off x="1554480" y="3931920"/>
            <a:ext cx="1005840" cy="274320"/>
          </a:xfrm>
          <a:prstGeom prst="rect">
            <a:avLst/>
          </a:prstGeom>
          <a:noFill/>
          <a:ln/>
        </p:spPr>
        <p:txBody>
          <a:bodyPr wrap="square" lIns="0" tIns="0" rIns="0" bIns="0" rtlCol="0" anchor="ctr"/>
          <a:lstStyle/>
          <a:p>
            <a:pPr indent="0" marL="0">
              <a:buNone/>
            </a:pPr>
            <a:r>
              <a:rPr lang="en-US" sz="1100" b="1" dirty="0">
                <a:solidFill>
                  <a:srgbClr val="44CC66"/>
                </a:solidFill>
                <a:latin typeface="Trebuchet MS" pitchFamily="34" charset="0"/>
                <a:ea typeface="Trebuchet MS" pitchFamily="34" charset="-122"/>
                <a:cs typeface="Trebuchet MS" pitchFamily="34" charset="-120"/>
              </a:rPr>
              <a:t>7:10 AM</a:t>
            </a:r>
            <a:endParaRPr lang="en-US" sz="1100" dirty="0"/>
          </a:p>
        </p:txBody>
      </p:sp>
      <p:sp>
        <p:nvSpPr>
          <p:cNvPr id="36" name="Text 34"/>
          <p:cNvSpPr/>
          <p:nvPr/>
        </p:nvSpPr>
        <p:spPr>
          <a:xfrm>
            <a:off x="2606040" y="3913632"/>
            <a:ext cx="274320" cy="274320"/>
          </a:xfrm>
          <a:prstGeom prst="rect">
            <a:avLst/>
          </a:prstGeom>
          <a:noFill/>
          <a:ln/>
        </p:spPr>
        <p:txBody>
          <a:bodyPr wrap="square" lIns="0" tIns="0" rIns="0" bIns="0" rtlCol="0" anchor="ctr"/>
          <a:lstStyle/>
          <a:p>
            <a:pPr algn="ctr" indent="0" marL="0">
              <a:buNone/>
            </a:pPr>
            <a:r>
              <a:rPr lang="en-US" sz="1200" dirty="0">
                <a:solidFill>
                  <a:srgbClr val="44CC66"/>
                </a:solidFill>
                <a:latin typeface="Trebuchet MS" pitchFamily="34" charset="0"/>
                <a:ea typeface="Trebuchet MS" pitchFamily="34" charset="-122"/>
                <a:cs typeface="Trebuchet MS" pitchFamily="34" charset="-120"/>
              </a:rPr>
              <a:t>●</a:t>
            </a:r>
            <a:endParaRPr lang="en-US" sz="1200" dirty="0"/>
          </a:p>
        </p:txBody>
      </p:sp>
      <p:sp>
        <p:nvSpPr>
          <p:cNvPr id="37" name="Text 35"/>
          <p:cNvSpPr/>
          <p:nvPr/>
        </p:nvSpPr>
        <p:spPr>
          <a:xfrm>
            <a:off x="2926080" y="3931920"/>
            <a:ext cx="5760720" cy="27432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Both GTC closers placed, DB fully updated</a:t>
            </a:r>
            <a:endParaRPr lang="en-US" sz="1200" dirty="0"/>
          </a:p>
        </p:txBody>
      </p:sp>
      <p:sp>
        <p:nvSpPr>
          <p:cNvPr id="38" name="Shape 36"/>
          <p:cNvSpPr/>
          <p:nvPr/>
        </p:nvSpPr>
        <p:spPr>
          <a:xfrm>
            <a:off x="1554480" y="4526280"/>
            <a:ext cx="7132320" cy="502920"/>
          </a:xfrm>
          <a:prstGeom prst="rect">
            <a:avLst/>
          </a:prstGeom>
          <a:solidFill>
            <a:srgbClr val="1A1A2E"/>
          </a:solidFill>
          <a:ln w="19050">
            <a:solidFill>
              <a:srgbClr val="44CC66"/>
            </a:solidFill>
            <a:prstDash val="solid"/>
          </a:ln>
        </p:spPr>
      </p:sp>
      <p:sp>
        <p:nvSpPr>
          <p:cNvPr id="39" name="Shape 37"/>
          <p:cNvSpPr/>
          <p:nvPr/>
        </p:nvSpPr>
        <p:spPr>
          <a:xfrm>
            <a:off x="1554480" y="4526280"/>
            <a:ext cx="7132320" cy="54864"/>
          </a:xfrm>
          <a:prstGeom prst="rect">
            <a:avLst/>
          </a:prstGeom>
          <a:solidFill>
            <a:srgbClr val="44CC66"/>
          </a:solidFill>
          <a:ln/>
        </p:spPr>
      </p:sp>
      <p:sp>
        <p:nvSpPr>
          <p:cNvPr id="40" name="Text 38"/>
          <p:cNvSpPr/>
          <p:nvPr/>
        </p:nvSpPr>
        <p:spPr>
          <a:xfrm>
            <a:off x="1737360" y="4617720"/>
            <a:ext cx="6766560" cy="320040"/>
          </a:xfrm>
          <a:prstGeom prst="rect">
            <a:avLst/>
          </a:prstGeom>
          <a:noFill/>
          <a:ln/>
        </p:spPr>
        <p:txBody>
          <a:bodyPr wrap="square" lIns="0" tIns="0" rIns="0" bIns="0" rtlCol="0" anchor="ctr"/>
          <a:lstStyle/>
          <a:p>
            <a:pPr indent="0" marL="0">
              <a:buNone/>
            </a:pPr>
            <a:r>
              <a:rPr lang="en-US" sz="1200" b="1" dirty="0">
                <a:solidFill>
                  <a:srgbClr val="44CC66"/>
                </a:solidFill>
                <a:latin typeface="Trebuchet MS" pitchFamily="34" charset="0"/>
                <a:ea typeface="Trebuchet MS" pitchFamily="34" charset="-122"/>
                <a:cs typeface="Trebuchet MS" pitchFamily="34" charset="-120"/>
              </a:rPr>
              <a:t>RESULT: 10x IC complete  |  Total premium: $712  |  9x filled at BETTER price than 1x</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THE GTC CLOSER CATCH</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When the System Works</a:t>
            </a:r>
            <a:endParaRPr lang="en-US" sz="2200" dirty="0"/>
          </a:p>
        </p:txBody>
      </p:sp>
      <p:sp>
        <p:nvSpPr>
          <p:cNvPr id="15" name="Shape 13"/>
          <p:cNvSpPr/>
          <p:nvPr/>
        </p:nvSpPr>
        <p:spPr>
          <a:xfrm>
            <a:off x="1463040" y="1280160"/>
            <a:ext cx="3474720" cy="2377440"/>
          </a:xfrm>
          <a:prstGeom prst="rect">
            <a:avLst/>
          </a:prstGeom>
          <a:solidFill>
            <a:srgbClr val="1A1A2E"/>
          </a:solidFill>
          <a:ln w="19050">
            <a:solidFill>
              <a:srgbClr val="CC4444"/>
            </a:solidFill>
            <a:prstDash val="solid"/>
          </a:ln>
        </p:spPr>
      </p:sp>
      <p:sp>
        <p:nvSpPr>
          <p:cNvPr id="16" name="Shape 14"/>
          <p:cNvSpPr/>
          <p:nvPr/>
        </p:nvSpPr>
        <p:spPr>
          <a:xfrm>
            <a:off x="1463040" y="1280160"/>
            <a:ext cx="3474720" cy="54864"/>
          </a:xfrm>
          <a:prstGeom prst="rect">
            <a:avLst/>
          </a:prstGeom>
          <a:solidFill>
            <a:srgbClr val="CC4444"/>
          </a:solidFill>
          <a:ln/>
        </p:spPr>
      </p:sp>
      <p:sp>
        <p:nvSpPr>
          <p:cNvPr id="17" name="Text 15"/>
          <p:cNvSpPr/>
          <p:nvPr/>
        </p:nvSpPr>
        <p:spPr>
          <a:xfrm>
            <a:off x="1645920" y="1417320"/>
            <a:ext cx="3108960" cy="274320"/>
          </a:xfrm>
          <a:prstGeom prst="rect">
            <a:avLst/>
          </a:prstGeom>
          <a:noFill/>
          <a:ln/>
        </p:spPr>
        <p:txBody>
          <a:bodyPr wrap="square" lIns="0" tIns="0" rIns="0" bIns="0" rtlCol="0" anchor="ctr"/>
          <a:lstStyle/>
          <a:p>
            <a:pPr indent="0" marL="0">
              <a:buNone/>
            </a:pPr>
            <a:r>
              <a:rPr lang="en-US" sz="1300" b="1" dirty="0">
                <a:solidFill>
                  <a:srgbClr val="CC4444"/>
                </a:solidFill>
                <a:latin typeface="Trebuchet MS" pitchFamily="34" charset="0"/>
                <a:ea typeface="Trebuchet MS" pitchFamily="34" charset="-122"/>
                <a:cs typeface="Trebuchet MS" pitchFamily="34" charset="-120"/>
              </a:rPr>
              <a:t>WHAT I SUBMITTED</a:t>
            </a:r>
            <a:endParaRPr lang="en-US" sz="1300" dirty="0"/>
          </a:p>
        </p:txBody>
      </p:sp>
      <p:sp>
        <p:nvSpPr>
          <p:cNvPr id="18" name="Text 16"/>
          <p:cNvSpPr/>
          <p:nvPr/>
        </p:nvSpPr>
        <p:spPr>
          <a:xfrm>
            <a:off x="1645920" y="1828800"/>
            <a:ext cx="3108960" cy="548640"/>
          </a:xfrm>
          <a:prstGeom prst="rect">
            <a:avLst/>
          </a:prstGeom>
          <a:noFill/>
          <a:ln/>
        </p:spPr>
        <p:txBody>
          <a:bodyPr wrap="square" lIns="0" tIns="0" rIns="0" bIns="0" rtlCol="0" anchor="ctr"/>
          <a:lstStyle/>
          <a:p>
            <a:pPr algn="ctr" indent="0" marL="0">
              <a:buNone/>
            </a:pPr>
            <a:r>
              <a:rPr lang="en-US" sz="2800" b="1" dirty="0">
                <a:solidFill>
                  <a:srgbClr val="CC4444"/>
                </a:solidFill>
                <a:latin typeface="Trebuchet MS" pitchFamily="34" charset="0"/>
                <a:ea typeface="Trebuchet MS" pitchFamily="34" charset="-122"/>
                <a:cs typeface="Trebuchet MS" pitchFamily="34" charset="-120"/>
              </a:rPr>
              <a:t>$0.80 debit</a:t>
            </a:r>
            <a:endParaRPr lang="en-US" sz="2800" dirty="0"/>
          </a:p>
        </p:txBody>
      </p:sp>
      <p:sp>
        <p:nvSpPr>
          <p:cNvPr id="19" name="Text 17"/>
          <p:cNvSpPr/>
          <p:nvPr/>
        </p:nvSpPr>
        <p:spPr>
          <a:xfrm>
            <a:off x="1645920" y="2468880"/>
            <a:ext cx="3108960" cy="822960"/>
          </a:xfrm>
          <a:prstGeom prst="rect">
            <a:avLst/>
          </a:prstGeom>
          <a:noFill/>
          <a:ln/>
        </p:spPr>
        <p:txBody>
          <a:bodyPr wrap="square" lIns="0" tIns="0" rIns="0" bIns="0" rtlCol="0" anchor="ctr"/>
          <a:lstStyle/>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The current mid price —</a:t>
            </a:r>
            <a:endParaRPr lang="en-US" sz="1200" dirty="0"/>
          </a:p>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would close at a LOSS</a:t>
            </a:r>
            <a:endParaRPr lang="en-US" sz="1200" dirty="0"/>
          </a:p>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(paid $0.80 to exit $0.73)</a:t>
            </a:r>
            <a:endParaRPr lang="en-US" sz="1200" dirty="0"/>
          </a:p>
        </p:txBody>
      </p:sp>
      <p:sp>
        <p:nvSpPr>
          <p:cNvPr id="20" name="Shape 18"/>
          <p:cNvSpPr/>
          <p:nvPr/>
        </p:nvSpPr>
        <p:spPr>
          <a:xfrm>
            <a:off x="5212080" y="1280160"/>
            <a:ext cx="3566160" cy="2377440"/>
          </a:xfrm>
          <a:prstGeom prst="rect">
            <a:avLst/>
          </a:prstGeom>
          <a:solidFill>
            <a:srgbClr val="1A1A2E"/>
          </a:solidFill>
          <a:ln w="19050">
            <a:solidFill>
              <a:srgbClr val="44CC66"/>
            </a:solidFill>
            <a:prstDash val="solid"/>
          </a:ln>
        </p:spPr>
      </p:sp>
      <p:sp>
        <p:nvSpPr>
          <p:cNvPr id="21" name="Shape 19"/>
          <p:cNvSpPr/>
          <p:nvPr/>
        </p:nvSpPr>
        <p:spPr>
          <a:xfrm>
            <a:off x="5212080" y="1280160"/>
            <a:ext cx="3566160" cy="54864"/>
          </a:xfrm>
          <a:prstGeom prst="rect">
            <a:avLst/>
          </a:prstGeom>
          <a:solidFill>
            <a:srgbClr val="44CC66"/>
          </a:solidFill>
          <a:ln/>
        </p:spPr>
      </p:sp>
      <p:sp>
        <p:nvSpPr>
          <p:cNvPr id="22" name="Text 20"/>
          <p:cNvSpPr/>
          <p:nvPr/>
        </p:nvSpPr>
        <p:spPr>
          <a:xfrm>
            <a:off x="5394960" y="1417320"/>
            <a:ext cx="3200400" cy="274320"/>
          </a:xfrm>
          <a:prstGeom prst="rect">
            <a:avLst/>
          </a:prstGeom>
          <a:noFill/>
          <a:ln/>
        </p:spPr>
        <p:txBody>
          <a:bodyPr wrap="square" lIns="0" tIns="0" rIns="0" bIns="0" rtlCol="0" anchor="ctr"/>
          <a:lstStyle/>
          <a:p>
            <a:pPr indent="0" marL="0">
              <a:buNone/>
            </a:pPr>
            <a:r>
              <a:rPr lang="en-US" sz="1300" b="1" dirty="0">
                <a:solidFill>
                  <a:srgbClr val="44CC66"/>
                </a:solidFill>
                <a:latin typeface="Trebuchet MS" pitchFamily="34" charset="0"/>
                <a:ea typeface="Trebuchet MS" pitchFamily="34" charset="-122"/>
                <a:cs typeface="Trebuchet MS" pitchFamily="34" charset="-120"/>
              </a:rPr>
              <a:t>WHAT IT SHOULD BE</a:t>
            </a:r>
            <a:endParaRPr lang="en-US" sz="1300" dirty="0"/>
          </a:p>
        </p:txBody>
      </p:sp>
      <p:sp>
        <p:nvSpPr>
          <p:cNvPr id="23" name="Text 21"/>
          <p:cNvSpPr/>
          <p:nvPr/>
        </p:nvSpPr>
        <p:spPr>
          <a:xfrm>
            <a:off x="5394960" y="1828800"/>
            <a:ext cx="3200400" cy="548640"/>
          </a:xfrm>
          <a:prstGeom prst="rect">
            <a:avLst/>
          </a:prstGeom>
          <a:noFill/>
          <a:ln/>
        </p:spPr>
        <p:txBody>
          <a:bodyPr wrap="square" lIns="0" tIns="0" rIns="0" bIns="0" rtlCol="0" anchor="ctr"/>
          <a:lstStyle/>
          <a:p>
            <a:pPr algn="ctr" indent="0" marL="0">
              <a:buNone/>
            </a:pPr>
            <a:r>
              <a:rPr lang="en-US" sz="2800" b="1" dirty="0">
                <a:solidFill>
                  <a:srgbClr val="44CC66"/>
                </a:solidFill>
                <a:latin typeface="Trebuchet MS" pitchFamily="34" charset="0"/>
                <a:ea typeface="Trebuchet MS" pitchFamily="34" charset="-122"/>
                <a:cs typeface="Trebuchet MS" pitchFamily="34" charset="-120"/>
              </a:rPr>
              <a:t>$0.10 debit</a:t>
            </a:r>
            <a:endParaRPr lang="en-US" sz="2800" dirty="0"/>
          </a:p>
        </p:txBody>
      </p:sp>
      <p:sp>
        <p:nvSpPr>
          <p:cNvPr id="24" name="Text 22"/>
          <p:cNvSpPr/>
          <p:nvPr/>
        </p:nvSpPr>
        <p:spPr>
          <a:xfrm>
            <a:off x="5394960" y="2468880"/>
            <a:ext cx="3200400" cy="822960"/>
          </a:xfrm>
          <a:prstGeom prst="rect">
            <a:avLst/>
          </a:prstGeom>
          <a:noFill/>
          <a:ln/>
        </p:spPr>
        <p:txBody>
          <a:bodyPr wrap="square" lIns="0" tIns="0" rIns="0" bIns="0" rtlCol="0" anchor="ctr"/>
          <a:lstStyle/>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Alex's 80% profit target —</a:t>
            </a:r>
            <a:endParaRPr lang="en-US" sz="1200" dirty="0"/>
          </a:p>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lets theta decay work</a:t>
            </a:r>
            <a:endParaRPr lang="en-US" sz="1200" dirty="0"/>
          </a:p>
          <a:p>
            <a:pPr algn="ctr" indent="0" marL="0">
              <a:lnSpc>
                <a:spcPct val="130000"/>
              </a:lnSpc>
              <a:buNone/>
            </a:pPr>
            <a:r>
              <a:rPr lang="en-US" sz="1200" dirty="0">
                <a:solidFill>
                  <a:srgbClr val="9999AA"/>
                </a:solidFill>
                <a:latin typeface="Trebuchet MS" pitchFamily="34" charset="0"/>
                <a:ea typeface="Trebuchet MS" pitchFamily="34" charset="-122"/>
                <a:cs typeface="Trebuchet MS" pitchFamily="34" charset="-120"/>
              </a:rPr>
              <a:t>(keeps $0.63 of $0.73)</a:t>
            </a:r>
            <a:endParaRPr lang="en-US" sz="1200" dirty="0"/>
          </a:p>
        </p:txBody>
      </p:sp>
      <p:sp>
        <p:nvSpPr>
          <p:cNvPr id="25" name="Shape 23"/>
          <p:cNvSpPr/>
          <p:nvPr/>
        </p:nvSpPr>
        <p:spPr>
          <a:xfrm>
            <a:off x="1463040" y="3931920"/>
            <a:ext cx="7315200" cy="914400"/>
          </a:xfrm>
          <a:prstGeom prst="rect">
            <a:avLst/>
          </a:prstGeom>
          <a:solidFill>
            <a:srgbClr val="1A1A2E"/>
          </a:solidFill>
          <a:ln w="19050">
            <a:solidFill>
              <a:srgbClr val="FFAA00"/>
            </a:solidFill>
            <a:prstDash val="solid"/>
          </a:ln>
        </p:spPr>
      </p:sp>
      <p:sp>
        <p:nvSpPr>
          <p:cNvPr id="26" name="Shape 24"/>
          <p:cNvSpPr/>
          <p:nvPr/>
        </p:nvSpPr>
        <p:spPr>
          <a:xfrm>
            <a:off x="1463040" y="3931920"/>
            <a:ext cx="7315200" cy="54864"/>
          </a:xfrm>
          <a:prstGeom prst="rect">
            <a:avLst/>
          </a:prstGeom>
          <a:solidFill>
            <a:srgbClr val="FFAA00"/>
          </a:solidFill>
          <a:ln/>
        </p:spPr>
      </p:sp>
      <p:sp>
        <p:nvSpPr>
          <p:cNvPr id="27" name="Text 25"/>
          <p:cNvSpPr/>
          <p:nvPr/>
        </p:nvSpPr>
        <p:spPr>
          <a:xfrm>
            <a:off x="1645920" y="4069080"/>
            <a:ext cx="6949440" cy="274320"/>
          </a:xfrm>
          <a:prstGeom prst="rect">
            <a:avLst/>
          </a:prstGeom>
          <a:noFill/>
          <a:ln/>
        </p:spPr>
        <p:txBody>
          <a:bodyPr wrap="square" lIns="0" tIns="0" rIns="0" bIns="0" rtlCol="0" anchor="ctr"/>
          <a:lstStyle/>
          <a:p>
            <a:pPr indent="0" marL="0">
              <a:buNone/>
            </a:pPr>
            <a:r>
              <a:rPr lang="en-US" sz="1400" b="1" dirty="0">
                <a:solidFill>
                  <a:srgbClr val="FFAA00"/>
                </a:solidFill>
                <a:latin typeface="Trebuchet MS" pitchFamily="34" charset="0"/>
                <a:ea typeface="Trebuchet MS" pitchFamily="34" charset="-122"/>
                <a:cs typeface="Trebuchet MS" pitchFamily="34" charset="-120"/>
              </a:rPr>
              <a:t>This is the collaboration working well.</a:t>
            </a:r>
            <a:endParaRPr lang="en-US" sz="1400" dirty="0"/>
          </a:p>
        </p:txBody>
      </p:sp>
      <p:sp>
        <p:nvSpPr>
          <p:cNvPr id="28" name="Text 26"/>
          <p:cNvSpPr/>
          <p:nvPr/>
        </p:nvSpPr>
        <p:spPr>
          <a:xfrm>
            <a:off x="1645920" y="4389120"/>
            <a:ext cx="6949440" cy="36576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I'm moving fast in the broker. Claude checks every detail against the plan. The "how's this look?" pattern creates natural checkpoints.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INTELLIGENCE: CHAT DIGEST</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100+ Messages → 7 Actionable Items</a:t>
            </a:r>
            <a:endParaRPr lang="en-US" sz="2200" dirty="0"/>
          </a:p>
        </p:txBody>
      </p:sp>
      <p:sp>
        <p:nvSpPr>
          <p:cNvPr id="15" name="Shape 13"/>
          <p:cNvSpPr/>
          <p:nvPr/>
        </p:nvSpPr>
        <p:spPr>
          <a:xfrm>
            <a:off x="1463040" y="1188720"/>
            <a:ext cx="2560320" cy="1645920"/>
          </a:xfrm>
          <a:prstGeom prst="rect">
            <a:avLst/>
          </a:prstGeom>
          <a:solidFill>
            <a:srgbClr val="1A1A2E"/>
          </a:solidFill>
          <a:ln w="19050">
            <a:solidFill>
              <a:srgbClr val="9999AA"/>
            </a:solidFill>
            <a:prstDash val="solid"/>
          </a:ln>
        </p:spPr>
      </p:sp>
      <p:sp>
        <p:nvSpPr>
          <p:cNvPr id="16" name="Shape 14"/>
          <p:cNvSpPr/>
          <p:nvPr/>
        </p:nvSpPr>
        <p:spPr>
          <a:xfrm>
            <a:off x="1463040" y="1188720"/>
            <a:ext cx="2560320" cy="54864"/>
          </a:xfrm>
          <a:prstGeom prst="rect">
            <a:avLst/>
          </a:prstGeom>
          <a:solidFill>
            <a:srgbClr val="9999AA"/>
          </a:solidFill>
          <a:ln/>
        </p:spPr>
      </p:sp>
      <p:sp>
        <p:nvSpPr>
          <p:cNvPr id="17" name="Text 15"/>
          <p:cNvSpPr/>
          <p:nvPr/>
        </p:nvSpPr>
        <p:spPr>
          <a:xfrm>
            <a:off x="1645920" y="1325880"/>
            <a:ext cx="2194560" cy="274320"/>
          </a:xfrm>
          <a:prstGeom prst="rect">
            <a:avLst/>
          </a:prstGeom>
          <a:noFill/>
          <a:ln/>
        </p:spPr>
        <p:txBody>
          <a:bodyPr wrap="square" lIns="0" tIns="0" rIns="0" bIns="0" rtlCol="0" anchor="ctr"/>
          <a:lstStyle/>
          <a:p>
            <a:pPr indent="0" marL="0">
              <a:buNone/>
            </a:pPr>
            <a:r>
              <a:rPr lang="en-US" sz="1200" b="1" dirty="0">
                <a:solidFill>
                  <a:srgbClr val="9999AA"/>
                </a:solidFill>
                <a:latin typeface="Trebuchet MS" pitchFamily="34" charset="0"/>
                <a:ea typeface="Trebuchet MS" pitchFamily="34" charset="-122"/>
                <a:cs typeface="Trebuchet MS" pitchFamily="34" charset="-120"/>
              </a:rPr>
              <a:t>INPUT</a:t>
            </a:r>
            <a:endParaRPr lang="en-US" sz="1200" dirty="0"/>
          </a:p>
        </p:txBody>
      </p:sp>
      <p:sp>
        <p:nvSpPr>
          <p:cNvPr id="18" name="Text 16"/>
          <p:cNvSpPr/>
          <p:nvPr/>
        </p:nvSpPr>
        <p:spPr>
          <a:xfrm>
            <a:off x="1645920" y="1691640"/>
            <a:ext cx="2194560" cy="914400"/>
          </a:xfrm>
          <a:prstGeom prst="rect">
            <a:avLst/>
          </a:prstGeom>
          <a:noFill/>
          <a:ln/>
        </p:spPr>
        <p:txBody>
          <a:bodyPr wrap="square" lIns="0" tIns="0" rIns="0" bIns="0" rtlCol="0" anchor="ctr"/>
          <a:lstStyle/>
          <a:p>
            <a:pPr indent="0" marL="0">
              <a:lnSpc>
                <a:spcPct val="120000"/>
              </a:lnSpc>
              <a:buNone/>
            </a:pPr>
            <a:r>
              <a:rPr lang="en-US" sz="1100" dirty="0">
                <a:solidFill>
                  <a:srgbClr val="9999AA"/>
                </a:solidFill>
                <a:latin typeface="Trebuchet MS" pitchFamily="34" charset="0"/>
                <a:ea typeface="Trebuchet MS" pitchFamily="34" charset="-122"/>
                <a:cs typeface="Trebuchet MS" pitchFamily="34" charset="-120"/>
              </a:rPr>
              <a:t>Diamond Insiders Chat</a:t>
            </a:r>
            <a:endParaRPr lang="en-US" sz="1100" dirty="0"/>
          </a:p>
          <a:p>
            <a:pPr indent="0" marL="0">
              <a:lnSpc>
                <a:spcPct val="120000"/>
              </a:lnSpc>
              <a:buNone/>
            </a:pPr>
            <a:r>
              <a:rPr lang="en-US" sz="1100" dirty="0">
                <a:solidFill>
                  <a:srgbClr val="9999AA"/>
                </a:solidFill>
                <a:latin typeface="Trebuchet MS" pitchFamily="34" charset="0"/>
                <a:ea typeface="Trebuchet MS" pitchFamily="34" charset="-122"/>
                <a:cs typeface="Trebuchet MS" pitchFamily="34" charset="-120"/>
              </a:rPr>
              <a:t>100+ messages</a:t>
            </a:r>
            <a:endParaRPr lang="en-US" sz="1100" dirty="0"/>
          </a:p>
          <a:p>
            <a:pPr indent="0" marL="0">
              <a:lnSpc>
                <a:spcPct val="120000"/>
              </a:lnSpc>
              <a:buNone/>
            </a:pPr>
            <a:r>
              <a:rPr lang="en-US" sz="1100" dirty="0">
                <a:solidFill>
                  <a:srgbClr val="9999AA"/>
                </a:solidFill>
                <a:latin typeface="Trebuchet MS" pitchFamily="34" charset="0"/>
                <a:ea typeface="Trebuchet MS" pitchFamily="34" charset="-122"/>
                <a:cs typeface="Trebuchet MS" pitchFamily="34" charset="-120"/>
              </a:rPr>
              <a:t>~40 participants</a:t>
            </a:r>
            <a:endParaRPr lang="en-US" sz="1100" dirty="0"/>
          </a:p>
          <a:p>
            <a:pPr indent="0" marL="0">
              <a:lnSpc>
                <a:spcPct val="120000"/>
              </a:lnSpc>
              <a:buNone/>
            </a:pPr>
            <a:r>
              <a:rPr lang="en-US" sz="1100" dirty="0">
                <a:solidFill>
                  <a:srgbClr val="9999AA"/>
                </a:solidFill>
                <a:latin typeface="Trebuchet MS" pitchFamily="34" charset="0"/>
                <a:ea typeface="Trebuchet MS" pitchFamily="34" charset="-122"/>
                <a:cs typeface="Trebuchet MS" pitchFamily="34" charset="-120"/>
              </a:rPr>
              <a:t>Mixed signal &amp; noise</a:t>
            </a:r>
            <a:endParaRPr lang="en-US" sz="1100" dirty="0"/>
          </a:p>
        </p:txBody>
      </p:sp>
      <p:sp>
        <p:nvSpPr>
          <p:cNvPr id="19" name="Text 17"/>
          <p:cNvSpPr/>
          <p:nvPr/>
        </p:nvSpPr>
        <p:spPr>
          <a:xfrm>
            <a:off x="4023360" y="1737360"/>
            <a:ext cx="457200" cy="457200"/>
          </a:xfrm>
          <a:prstGeom prst="rect">
            <a:avLst/>
          </a:prstGeom>
          <a:noFill/>
          <a:ln/>
        </p:spPr>
        <p:txBody>
          <a:bodyPr wrap="square" lIns="0" tIns="0" rIns="0" bIns="0" rtlCol="0" anchor="ctr"/>
          <a:lstStyle/>
          <a:p>
            <a:pPr algn="ctr" indent="0" marL="0">
              <a:buNone/>
            </a:pPr>
            <a:r>
              <a:rPr lang="en-US" sz="2400" dirty="0">
                <a:solidFill>
                  <a:srgbClr val="FF9900"/>
                </a:solidFill>
                <a:latin typeface="Trebuchet MS" pitchFamily="34" charset="0"/>
                <a:ea typeface="Trebuchet MS" pitchFamily="34" charset="-122"/>
                <a:cs typeface="Trebuchet MS" pitchFamily="34" charset="-120"/>
              </a:rPr>
              <a:t>▶</a:t>
            </a:r>
            <a:endParaRPr lang="en-US" sz="2400" dirty="0"/>
          </a:p>
        </p:txBody>
      </p:sp>
      <p:sp>
        <p:nvSpPr>
          <p:cNvPr id="20" name="Shape 18"/>
          <p:cNvSpPr/>
          <p:nvPr/>
        </p:nvSpPr>
        <p:spPr>
          <a:xfrm>
            <a:off x="4572000" y="1188720"/>
            <a:ext cx="4206240" cy="1645920"/>
          </a:xfrm>
          <a:prstGeom prst="rect">
            <a:avLst/>
          </a:prstGeom>
          <a:solidFill>
            <a:srgbClr val="1A1A2E"/>
          </a:solidFill>
          <a:ln w="19050">
            <a:solidFill>
              <a:srgbClr val="FF9900"/>
            </a:solidFill>
            <a:prstDash val="solid"/>
          </a:ln>
        </p:spPr>
      </p:sp>
      <p:sp>
        <p:nvSpPr>
          <p:cNvPr id="21" name="Shape 19"/>
          <p:cNvSpPr/>
          <p:nvPr/>
        </p:nvSpPr>
        <p:spPr>
          <a:xfrm>
            <a:off x="4572000" y="1188720"/>
            <a:ext cx="4206240" cy="54864"/>
          </a:xfrm>
          <a:prstGeom prst="rect">
            <a:avLst/>
          </a:prstGeom>
          <a:solidFill>
            <a:srgbClr val="FF9900"/>
          </a:solidFill>
          <a:ln/>
        </p:spPr>
      </p:sp>
      <p:sp>
        <p:nvSpPr>
          <p:cNvPr id="22" name="Text 20"/>
          <p:cNvSpPr/>
          <p:nvPr/>
        </p:nvSpPr>
        <p:spPr>
          <a:xfrm>
            <a:off x="4754880" y="1325880"/>
            <a:ext cx="384048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EXTRACTED INSIGHTS</a:t>
            </a:r>
            <a:endParaRPr lang="en-US" sz="1200" dirty="0"/>
          </a:p>
        </p:txBody>
      </p:sp>
      <p:sp>
        <p:nvSpPr>
          <p:cNvPr id="23" name="Text 21"/>
          <p:cNvSpPr/>
          <p:nvPr/>
        </p:nvSpPr>
        <p:spPr>
          <a:xfrm>
            <a:off x="4754880" y="1691640"/>
            <a:ext cx="3840480" cy="1051560"/>
          </a:xfrm>
          <a:prstGeom prst="rect">
            <a:avLst/>
          </a:prstGeom>
          <a:noFill/>
          <a:ln/>
        </p:spPr>
        <p:txBody>
          <a:bodyPr wrap="square" lIns="0" tIns="0" rIns="0" bIns="0" rtlCol="0" anchor="ctr"/>
          <a:lstStyle/>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1. Alex: 45-day channel analysis</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2. Preservation mode confirmed</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3. Win-a-little/win-a-lot example</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4. Alex's phased contingency plan</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5. Member delta/theta snapshots</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6. Rogue trade case study</a:t>
            </a:r>
            <a:endParaRPr lang="en-US" sz="1100" dirty="0"/>
          </a:p>
          <a:p>
            <a:pPr indent="0" marL="0">
              <a:lnSpc>
                <a:spcPct val="115000"/>
              </a:lnSpc>
              <a:buNone/>
            </a:pPr>
            <a:r>
              <a:rPr lang="en-US" sz="1100" dirty="0">
                <a:solidFill>
                  <a:srgbClr val="FFCC99"/>
                </a:solidFill>
                <a:latin typeface="Trebuchet MS" pitchFamily="34" charset="0"/>
                <a:ea typeface="Trebuchet MS" pitchFamily="34" charset="-122"/>
                <a:cs typeface="Trebuchet MS" pitchFamily="34" charset="-120"/>
              </a:rPr>
              <a:t>7. IC fill range: $0.56-$0.75 (XSP)</a:t>
            </a:r>
            <a:endParaRPr lang="en-US" sz="1100" dirty="0"/>
          </a:p>
        </p:txBody>
      </p:sp>
      <p:sp>
        <p:nvSpPr>
          <p:cNvPr id="24" name="Shape 22"/>
          <p:cNvSpPr/>
          <p:nvPr/>
        </p:nvSpPr>
        <p:spPr>
          <a:xfrm>
            <a:off x="1463040" y="3108960"/>
            <a:ext cx="7315200" cy="914400"/>
          </a:xfrm>
          <a:prstGeom prst="rect">
            <a:avLst/>
          </a:prstGeom>
          <a:solidFill>
            <a:srgbClr val="1A1A2E"/>
          </a:solidFill>
          <a:ln w="19050">
            <a:solidFill>
              <a:srgbClr val="FFAA00"/>
            </a:solidFill>
            <a:prstDash val="solid"/>
          </a:ln>
        </p:spPr>
      </p:sp>
      <p:sp>
        <p:nvSpPr>
          <p:cNvPr id="25" name="Shape 23"/>
          <p:cNvSpPr/>
          <p:nvPr/>
        </p:nvSpPr>
        <p:spPr>
          <a:xfrm>
            <a:off x="1463040" y="3108960"/>
            <a:ext cx="7315200" cy="54864"/>
          </a:xfrm>
          <a:prstGeom prst="rect">
            <a:avLst/>
          </a:prstGeom>
          <a:solidFill>
            <a:srgbClr val="FFAA00"/>
          </a:solidFill>
          <a:ln/>
        </p:spPr>
      </p:sp>
      <p:sp>
        <p:nvSpPr>
          <p:cNvPr id="26" name="Text 24"/>
          <p:cNvSpPr/>
          <p:nvPr/>
        </p:nvSpPr>
        <p:spPr>
          <a:xfrm>
            <a:off x="1645920" y="3246120"/>
            <a:ext cx="694944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LESSON: SOURCE AUTHORITY MATTERS</a:t>
            </a:r>
            <a:endParaRPr lang="en-US" sz="1200" dirty="0"/>
          </a:p>
        </p:txBody>
      </p:sp>
      <p:sp>
        <p:nvSpPr>
          <p:cNvPr id="27" name="Text 25"/>
          <p:cNvSpPr/>
          <p:nvPr/>
        </p:nvSpPr>
        <p:spPr>
          <a:xfrm>
            <a:off x="1645920" y="3566160"/>
            <a:ext cx="6949440" cy="36576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Alex's analysis drives decisions. Member data is supplementary. Claude initially gave both equal weight — I challenged it, and it corrected.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PORTFOLIO METRICS</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Trust the Broker — Challenge the AI</a:t>
            </a:r>
            <a:endParaRPr lang="en-US" sz="2200" dirty="0"/>
          </a:p>
        </p:txBody>
      </p:sp>
      <p:sp>
        <p:nvSpPr>
          <p:cNvPr id="15" name="Shape 13"/>
          <p:cNvSpPr/>
          <p:nvPr/>
        </p:nvSpPr>
        <p:spPr>
          <a:xfrm>
            <a:off x="1463040" y="1188720"/>
            <a:ext cx="7315200" cy="1463040"/>
          </a:xfrm>
          <a:prstGeom prst="rect">
            <a:avLst/>
          </a:prstGeom>
          <a:solidFill>
            <a:srgbClr val="1A1A2E"/>
          </a:solidFill>
          <a:ln w="19050">
            <a:solidFill>
              <a:srgbClr val="FF9900"/>
            </a:solidFill>
            <a:prstDash val="solid"/>
          </a:ln>
        </p:spPr>
      </p:sp>
      <p:sp>
        <p:nvSpPr>
          <p:cNvPr id="16" name="Shape 14"/>
          <p:cNvSpPr/>
          <p:nvPr/>
        </p:nvSpPr>
        <p:spPr>
          <a:xfrm>
            <a:off x="1463040" y="1188720"/>
            <a:ext cx="7315200" cy="54864"/>
          </a:xfrm>
          <a:prstGeom prst="rect">
            <a:avLst/>
          </a:prstGeom>
          <a:solidFill>
            <a:srgbClr val="FF9900"/>
          </a:solidFill>
          <a:ln/>
        </p:spPr>
      </p:sp>
      <p:sp>
        <p:nvSpPr>
          <p:cNvPr id="17" name="Text 15"/>
          <p:cNvSpPr/>
          <p:nvPr/>
        </p:nvSpPr>
        <p:spPr>
          <a:xfrm>
            <a:off x="1645920" y="1325880"/>
            <a:ext cx="274320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DELTA DISCREPANCY</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645920" y="1691640"/>
          <a:ext cx="6949440" cy="914400"/>
        </p:xfrm>
        <a:graphic>
          <a:graphicData uri="http://schemas.openxmlformats.org/drawingml/2006/table">
            <a:tbl>
              <a:tblPr/>
              <a:tblGrid>
                <a:gridCol w="2286000"/>
                <a:gridCol w="2286000"/>
                <a:gridCol w="2377440"/>
              </a:tblGrid>
              <a:tr h="274320">
                <a:tc>
                  <a:txBody>
                    <a:bodyPr/>
                    <a:lstStyle/>
                    <a:p>
                      <a:pPr indent="0" marL="0">
                        <a:buNone/>
                      </a:pPr>
                      <a:r>
                        <a:rPr lang="en-US" sz="1200" b="1" dirty="0">
                          <a:solidFill>
                            <a:srgbClr val="FFCC99"/>
                          </a:solidFill>
                          <a:latin typeface="Trebuchet MS" pitchFamily="34" charset="0"/>
                          <a:ea typeface="Trebuchet MS" pitchFamily="34" charset="-122"/>
                          <a:cs typeface="Trebuchet MS" pitchFamily="34" charset="-120"/>
                        </a:rPr>
                        <a:t>Metric</a:t>
                      </a:r>
                      <a:endParaRPr lang="en-US" sz="12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c>
                  <a:txBody>
                    <a:bodyPr/>
                    <a:lstStyle/>
                    <a:p>
                      <a:pPr indent="0" marL="0">
                        <a:buNone/>
                      </a:pPr>
                      <a:r>
                        <a:rPr lang="en-US" sz="1200" b="1" dirty="0">
                          <a:solidFill>
                            <a:srgbClr val="CC4444"/>
                          </a:solidFill>
                          <a:latin typeface="Trebuchet MS" pitchFamily="34" charset="0"/>
                          <a:ea typeface="Trebuchet MS" pitchFamily="34" charset="-122"/>
                          <a:cs typeface="Trebuchet MS" pitchFamily="34" charset="-120"/>
                        </a:rPr>
                        <a:t>Claude's Estimate</a:t>
                      </a:r>
                      <a:endParaRPr lang="en-US" sz="12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c>
                  <a:txBody>
                    <a:bodyPr/>
                    <a:lstStyle/>
                    <a:p>
                      <a:pPr indent="0" marL="0">
                        <a:buNone/>
                      </a:pPr>
                      <a:r>
                        <a:rPr lang="en-US" sz="1200" b="1" dirty="0">
                          <a:solidFill>
                            <a:srgbClr val="44CC66"/>
                          </a:solidFill>
                          <a:latin typeface="Trebuchet MS" pitchFamily="34" charset="0"/>
                          <a:ea typeface="Trebuchet MS" pitchFamily="34" charset="-122"/>
                          <a:cs typeface="Trebuchet MS" pitchFamily="34" charset="-120"/>
                        </a:rPr>
                        <a:t>TastyTrade Actual</a:t>
                      </a:r>
                      <a:endParaRPr lang="en-US" sz="12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r>
              <a:tr h="274320">
                <a:tc>
                  <a:txBody>
                    <a:bodyPr/>
                    <a:lstStyle/>
                    <a:p>
                      <a:pPr indent="0" marL="0">
                        <a:buNone/>
                      </a:pPr>
                      <a:r>
                        <a:rPr lang="en-US" sz="1200" dirty="0">
                          <a:solidFill>
                            <a:srgbClr val="FFCC99"/>
                          </a:solidFill>
                          <a:latin typeface="Trebuchet MS" pitchFamily="34" charset="0"/>
                          <a:ea typeface="Trebuchet MS" pitchFamily="34" charset="-122"/>
                          <a:cs typeface="Trebuchet MS" pitchFamily="34" charset="-120"/>
                        </a:rPr>
                        <a:t>Portfolio Delta</a:t>
                      </a:r>
                      <a:endParaRPr lang="en-US" sz="12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400" b="1" dirty="0">
                          <a:solidFill>
                            <a:srgbClr val="CC4444"/>
                          </a:solidFill>
                          <a:latin typeface="Trebuchet MS" pitchFamily="34" charset="0"/>
                          <a:ea typeface="Trebuchet MS" pitchFamily="34" charset="-122"/>
                          <a:cs typeface="Trebuchet MS" pitchFamily="34" charset="-120"/>
                        </a:rPr>
                        <a:t>+83</a:t>
                      </a:r>
                      <a:endParaRPr lang="en-US" sz="14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400" b="1" dirty="0">
                          <a:solidFill>
                            <a:srgbClr val="44CC66"/>
                          </a:solidFill>
                          <a:latin typeface="Trebuchet MS" pitchFamily="34" charset="0"/>
                          <a:ea typeface="Trebuchet MS" pitchFamily="34" charset="-122"/>
                          <a:cs typeface="Trebuchet MS" pitchFamily="34" charset="-120"/>
                        </a:rPr>
                        <a:t>-441</a:t>
                      </a:r>
                      <a:endParaRPr lang="en-US" sz="14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274320">
                <a:tc>
                  <a:txBody>
                    <a:bodyPr/>
                    <a:lstStyle/>
                    <a:p>
                      <a:pPr indent="0" marL="0">
                        <a:buNone/>
                      </a:pPr>
                      <a:r>
                        <a:rPr lang="en-US" sz="1200" dirty="0">
                          <a:solidFill>
                            <a:srgbClr val="FFCC99"/>
                          </a:solidFill>
                          <a:latin typeface="Trebuchet MS" pitchFamily="34" charset="0"/>
                          <a:ea typeface="Trebuchet MS" pitchFamily="34" charset="-122"/>
                          <a:cs typeface="Trebuchet MS" pitchFamily="34" charset="-120"/>
                        </a:rPr>
                        <a:t>Portfolio Theta</a:t>
                      </a:r>
                      <a:endParaRPr lang="en-US" sz="12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400" dirty="0">
                          <a:solidFill>
                            <a:srgbClr val="CC4444"/>
                          </a:solidFill>
                          <a:latin typeface="Trebuchet MS" pitchFamily="34" charset="0"/>
                          <a:ea typeface="Trebuchet MS" pitchFamily="34" charset="-122"/>
                          <a:cs typeface="Trebuchet MS" pitchFamily="34" charset="-120"/>
                        </a:rPr>
                        <a:t>$968</a:t>
                      </a:r>
                      <a:endParaRPr lang="en-US" sz="14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400" dirty="0">
                          <a:solidFill>
                            <a:srgbClr val="44CC66"/>
                          </a:solidFill>
                          <a:latin typeface="Trebuchet MS" pitchFamily="34" charset="0"/>
                          <a:ea typeface="Trebuchet MS" pitchFamily="34" charset="-122"/>
                          <a:cs typeface="Trebuchet MS" pitchFamily="34" charset="-120"/>
                        </a:rPr>
                        <a:t>$1,042</a:t>
                      </a:r>
                      <a:endParaRPr lang="en-US" sz="14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bl>
          </a:graphicData>
        </a:graphic>
      </p:graphicFrame>
      <p:sp>
        <p:nvSpPr>
          <p:cNvPr id="19" name="Shape 16"/>
          <p:cNvSpPr/>
          <p:nvPr/>
        </p:nvSpPr>
        <p:spPr>
          <a:xfrm>
            <a:off x="1463040" y="2880360"/>
            <a:ext cx="7315200" cy="1280160"/>
          </a:xfrm>
          <a:prstGeom prst="rect">
            <a:avLst/>
          </a:prstGeom>
          <a:solidFill>
            <a:srgbClr val="1A1A2E"/>
          </a:solidFill>
          <a:ln w="19050">
            <a:solidFill>
              <a:srgbClr val="9999FF"/>
            </a:solidFill>
            <a:prstDash val="solid"/>
          </a:ln>
        </p:spPr>
      </p:sp>
      <p:sp>
        <p:nvSpPr>
          <p:cNvPr id="20" name="Shape 17"/>
          <p:cNvSpPr/>
          <p:nvPr/>
        </p:nvSpPr>
        <p:spPr>
          <a:xfrm>
            <a:off x="1463040" y="2880360"/>
            <a:ext cx="7315200" cy="54864"/>
          </a:xfrm>
          <a:prstGeom prst="rect">
            <a:avLst/>
          </a:prstGeom>
          <a:solidFill>
            <a:srgbClr val="9999FF"/>
          </a:solidFill>
          <a:ln/>
        </p:spPr>
      </p:sp>
      <p:sp>
        <p:nvSpPr>
          <p:cNvPr id="21" name="Text 18"/>
          <p:cNvSpPr/>
          <p:nvPr/>
        </p:nvSpPr>
        <p:spPr>
          <a:xfrm>
            <a:off x="1645920" y="3017520"/>
            <a:ext cx="6949440" cy="274320"/>
          </a:xfrm>
          <a:prstGeom prst="rect">
            <a:avLst/>
          </a:prstGeom>
          <a:noFill/>
          <a:ln/>
        </p:spPr>
        <p:txBody>
          <a:bodyPr wrap="square" lIns="0" tIns="0" rIns="0" bIns="0" rtlCol="0" anchor="ctr"/>
          <a:lstStyle/>
          <a:p>
            <a:pPr indent="0" marL="0">
              <a:buNone/>
            </a:pPr>
            <a:r>
              <a:rPr lang="en-US" sz="1200" b="1" dirty="0">
                <a:solidFill>
                  <a:srgbClr val="9999FF"/>
                </a:solidFill>
                <a:latin typeface="Trebuchet MS" pitchFamily="34" charset="0"/>
                <a:ea typeface="Trebuchet MS" pitchFamily="34" charset="-122"/>
                <a:cs typeface="Trebuchet MS" pitchFamily="34" charset="-120"/>
              </a:rPr>
              <a:t>WHAT WENT WRONG</a:t>
            </a:r>
            <a:endParaRPr lang="en-US" sz="1200" dirty="0"/>
          </a:p>
        </p:txBody>
      </p:sp>
      <p:sp>
        <p:nvSpPr>
          <p:cNvPr id="22" name="Text 19"/>
          <p:cNvSpPr/>
          <p:nvPr/>
        </p:nvSpPr>
        <p:spPr>
          <a:xfrm>
            <a:off x="1645920" y="3383280"/>
            <a:ext cx="6949440" cy="640080"/>
          </a:xfrm>
          <a:prstGeom prst="rect">
            <a:avLst/>
          </a:prstGeom>
          <a:noFill/>
          <a:ln/>
        </p:spPr>
        <p:txBody>
          <a:bodyPr wrap="square" lIns="0" tIns="0" rIns="0" bIns="0" rtlCol="0" anchor="ctr"/>
          <a:lstStyle/>
          <a:p>
            <a:pPr indent="0" marL="0">
              <a:lnSpc>
                <a:spcPct val="130000"/>
              </a:lnSpc>
              <a:buNone/>
            </a:pPr>
            <a:r>
              <a:rPr lang="en-US" sz="1200" dirty="0">
                <a:solidFill>
                  <a:srgbClr val="FFCC99"/>
                </a:solidFill>
                <a:latin typeface="Trebuchet MS" pitchFamily="34" charset="0"/>
                <a:ea typeface="Trebuchet MS" pitchFamily="34" charset="-122"/>
                <a:cs typeface="Trebuchet MS" pitchFamily="34" charset="-120"/>
              </a:rPr>
              <a:t>Claude only summed short put delta (+83) and omitted anchors, bear call spreads, gap insurance, and IC. The real delta of -441 tells a completely different story: we benefit from a pullback.</a:t>
            </a:r>
            <a:endParaRPr lang="en-US" sz="1200" dirty="0"/>
          </a:p>
        </p:txBody>
      </p:sp>
      <p:sp>
        <p:nvSpPr>
          <p:cNvPr id="23" name="Shape 20"/>
          <p:cNvSpPr/>
          <p:nvPr/>
        </p:nvSpPr>
        <p:spPr>
          <a:xfrm>
            <a:off x="1463040" y="4343400"/>
            <a:ext cx="7315200" cy="640080"/>
          </a:xfrm>
          <a:prstGeom prst="rect">
            <a:avLst/>
          </a:prstGeom>
          <a:solidFill>
            <a:srgbClr val="1A1A2E"/>
          </a:solidFill>
          <a:ln w="19050">
            <a:solidFill>
              <a:srgbClr val="FFAA00"/>
            </a:solidFill>
            <a:prstDash val="solid"/>
          </a:ln>
        </p:spPr>
      </p:sp>
      <p:sp>
        <p:nvSpPr>
          <p:cNvPr id="24" name="Shape 21"/>
          <p:cNvSpPr/>
          <p:nvPr/>
        </p:nvSpPr>
        <p:spPr>
          <a:xfrm>
            <a:off x="1463040" y="4343400"/>
            <a:ext cx="7315200" cy="54864"/>
          </a:xfrm>
          <a:prstGeom prst="rect">
            <a:avLst/>
          </a:prstGeom>
          <a:solidFill>
            <a:srgbClr val="FFAA00"/>
          </a:solidFill>
          <a:ln/>
        </p:spPr>
      </p:sp>
      <p:sp>
        <p:nvSpPr>
          <p:cNvPr id="25" name="Text 22"/>
          <p:cNvSpPr/>
          <p:nvPr/>
        </p:nvSpPr>
        <p:spPr>
          <a:xfrm>
            <a:off x="1645920" y="4480560"/>
            <a:ext cx="6949440" cy="365760"/>
          </a:xfrm>
          <a:prstGeom prst="rect">
            <a:avLst/>
          </a:prstGeom>
          <a:noFill/>
          <a:ln/>
        </p:spPr>
        <p:txBody>
          <a:bodyPr wrap="square" lIns="0" tIns="0" rIns="0" bIns="0" rtlCol="0" anchor="ctr"/>
          <a:lstStyle/>
          <a:p>
            <a:pPr indent="0" marL="0">
              <a:buNone/>
            </a:pPr>
            <a:r>
              <a:rPr lang="en-US" sz="1300" b="1" dirty="0">
                <a:solidFill>
                  <a:srgbClr val="FFAA00"/>
                </a:solidFill>
                <a:latin typeface="Trebuchet MS" pitchFamily="34" charset="0"/>
                <a:ea typeface="Trebuchet MS" pitchFamily="34" charset="-122"/>
                <a:cs typeface="Trebuchet MS" pitchFamily="34" charset="-120"/>
              </a:rPr>
              <a:t>RULE: Always use the broker's live dashboard for portfolio Greeks. Never hand-calculate from CSV.</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COMMUNICATION DYNAMIC</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Dialogue, Not Delegation</a:t>
            </a:r>
            <a:endParaRPr lang="en-US" sz="2200" dirty="0"/>
          </a:p>
        </p:txBody>
      </p:sp>
      <p:sp>
        <p:nvSpPr>
          <p:cNvPr id="15" name="Shape 13"/>
          <p:cNvSpPr/>
          <p:nvPr/>
        </p:nvSpPr>
        <p:spPr>
          <a:xfrm>
            <a:off x="1463040" y="1188720"/>
            <a:ext cx="73152" cy="685800"/>
          </a:xfrm>
          <a:prstGeom prst="rect">
            <a:avLst/>
          </a:prstGeom>
          <a:solidFill>
            <a:srgbClr val="FF9900"/>
          </a:solidFill>
          <a:ln/>
        </p:spPr>
      </p:sp>
      <p:sp>
        <p:nvSpPr>
          <p:cNvPr id="16" name="Text 14"/>
          <p:cNvSpPr/>
          <p:nvPr/>
        </p:nvSpPr>
        <p:spPr>
          <a:xfrm>
            <a:off x="1691640" y="1188720"/>
            <a:ext cx="3200400" cy="365760"/>
          </a:xfrm>
          <a:prstGeom prst="rect">
            <a:avLst/>
          </a:prstGeom>
          <a:noFill/>
          <a:ln/>
        </p:spPr>
        <p:txBody>
          <a:bodyPr wrap="square" lIns="0" tIns="0" rIns="0" bIns="0" rtlCol="0" anchor="ctr"/>
          <a:lstStyle/>
          <a:p>
            <a:pPr indent="0" marL="0">
              <a:buNone/>
            </a:pPr>
            <a:r>
              <a:rPr lang="en-US" sz="1500" b="1" dirty="0">
                <a:solidFill>
                  <a:srgbClr val="FF9900"/>
                </a:solidFill>
                <a:latin typeface="Trebuchet MS" pitchFamily="34" charset="0"/>
                <a:ea typeface="Trebuchet MS" pitchFamily="34" charset="-122"/>
                <a:cs typeface="Trebuchet MS" pitchFamily="34" charset="-120"/>
              </a:rPr>
              <a:t>"How's this look?"</a:t>
            </a:r>
            <a:endParaRPr lang="en-US" sz="1500" dirty="0"/>
          </a:p>
        </p:txBody>
      </p:sp>
      <p:sp>
        <p:nvSpPr>
          <p:cNvPr id="17" name="Text 15"/>
          <p:cNvSpPr/>
          <p:nvPr/>
        </p:nvSpPr>
        <p:spPr>
          <a:xfrm>
            <a:off x="1691640" y="1536192"/>
            <a:ext cx="3657600" cy="320040"/>
          </a:xfrm>
          <a:prstGeom prst="rect">
            <a:avLst/>
          </a:prstGeom>
          <a:noFill/>
          <a:ln/>
        </p:spPr>
        <p:txBody>
          <a:bodyPr wrap="square" lIns="0" tIns="0" rIns="0" bIns="0" rtlCol="0" anchor="ctr"/>
          <a:lstStyle/>
          <a:p>
            <a:pPr indent="0" marL="0">
              <a:buNone/>
            </a:pPr>
            <a:r>
              <a:rPr lang="en-US" sz="1200" dirty="0">
                <a:solidFill>
                  <a:srgbClr val="9999AA"/>
                </a:solidFill>
                <a:latin typeface="Trebuchet MS" pitchFamily="34" charset="0"/>
                <a:ea typeface="Trebuchet MS" pitchFamily="34" charset="-122"/>
                <a:cs typeface="Trebuchet MS" pitchFamily="34" charset="-120"/>
              </a:rPr>
              <a:t>Creates a natural checkpoint before order submission</a:t>
            </a:r>
            <a:endParaRPr lang="en-US" sz="1200" dirty="0"/>
          </a:p>
        </p:txBody>
      </p:sp>
      <p:sp>
        <p:nvSpPr>
          <p:cNvPr id="18" name="Shape 16"/>
          <p:cNvSpPr/>
          <p:nvPr/>
        </p:nvSpPr>
        <p:spPr>
          <a:xfrm>
            <a:off x="1463040" y="2057400"/>
            <a:ext cx="73152" cy="685800"/>
          </a:xfrm>
          <a:prstGeom prst="rect">
            <a:avLst/>
          </a:prstGeom>
          <a:solidFill>
            <a:srgbClr val="66CCCC"/>
          </a:solidFill>
          <a:ln/>
        </p:spPr>
      </p:sp>
      <p:sp>
        <p:nvSpPr>
          <p:cNvPr id="19" name="Text 17"/>
          <p:cNvSpPr/>
          <p:nvPr/>
        </p:nvSpPr>
        <p:spPr>
          <a:xfrm>
            <a:off x="1691640" y="2057400"/>
            <a:ext cx="3200400" cy="365760"/>
          </a:xfrm>
          <a:prstGeom prst="rect">
            <a:avLst/>
          </a:prstGeom>
          <a:noFill/>
          <a:ln/>
        </p:spPr>
        <p:txBody>
          <a:bodyPr wrap="square" lIns="0" tIns="0" rIns="0" bIns="0" rtlCol="0" anchor="ctr"/>
          <a:lstStyle/>
          <a:p>
            <a:pPr indent="0" marL="0">
              <a:buNone/>
            </a:pPr>
            <a:r>
              <a:rPr lang="en-US" sz="1500" b="1" dirty="0">
                <a:solidFill>
                  <a:srgbClr val="66CCCC"/>
                </a:solidFill>
                <a:latin typeface="Trebuchet MS" pitchFamily="34" charset="0"/>
                <a:ea typeface="Trebuchet MS" pitchFamily="34" charset="-122"/>
                <a:cs typeface="Trebuchet MS" pitchFamily="34" charset="-120"/>
              </a:rPr>
              <a:t>"Fills" + CSV upload</a:t>
            </a:r>
            <a:endParaRPr lang="en-US" sz="1500" dirty="0"/>
          </a:p>
        </p:txBody>
      </p:sp>
      <p:sp>
        <p:nvSpPr>
          <p:cNvPr id="20" name="Text 18"/>
          <p:cNvSpPr/>
          <p:nvPr/>
        </p:nvSpPr>
        <p:spPr>
          <a:xfrm>
            <a:off x="1691640" y="2404872"/>
            <a:ext cx="3657600" cy="320040"/>
          </a:xfrm>
          <a:prstGeom prst="rect">
            <a:avLst/>
          </a:prstGeom>
          <a:noFill/>
          <a:ln/>
        </p:spPr>
        <p:txBody>
          <a:bodyPr wrap="square" lIns="0" tIns="0" rIns="0" bIns="0" rtlCol="0" anchor="ctr"/>
          <a:lstStyle/>
          <a:p>
            <a:pPr indent="0" marL="0">
              <a:buNone/>
            </a:pPr>
            <a:r>
              <a:rPr lang="en-US" sz="1200" dirty="0">
                <a:solidFill>
                  <a:srgbClr val="9999AA"/>
                </a:solidFill>
                <a:latin typeface="Trebuchet MS" pitchFamily="34" charset="0"/>
                <a:ea typeface="Trebuchet MS" pitchFamily="34" charset="-122"/>
                <a:cs typeface="Trebuchet MS" pitchFamily="34" charset="-120"/>
              </a:rPr>
              <a:t>Short confirmation keeps execution flow moving</a:t>
            </a:r>
            <a:endParaRPr lang="en-US" sz="1200" dirty="0"/>
          </a:p>
        </p:txBody>
      </p:sp>
      <p:sp>
        <p:nvSpPr>
          <p:cNvPr id="21" name="Shape 19"/>
          <p:cNvSpPr/>
          <p:nvPr/>
        </p:nvSpPr>
        <p:spPr>
          <a:xfrm>
            <a:off x="1463040" y="2926080"/>
            <a:ext cx="73152" cy="685800"/>
          </a:xfrm>
          <a:prstGeom prst="rect">
            <a:avLst/>
          </a:prstGeom>
          <a:solidFill>
            <a:srgbClr val="9999FF"/>
          </a:solidFill>
          <a:ln/>
        </p:spPr>
      </p:sp>
      <p:sp>
        <p:nvSpPr>
          <p:cNvPr id="22" name="Text 20"/>
          <p:cNvSpPr/>
          <p:nvPr/>
        </p:nvSpPr>
        <p:spPr>
          <a:xfrm>
            <a:off x="1691640" y="2926080"/>
            <a:ext cx="3200400" cy="365760"/>
          </a:xfrm>
          <a:prstGeom prst="rect">
            <a:avLst/>
          </a:prstGeom>
          <a:noFill/>
          <a:ln/>
        </p:spPr>
        <p:txBody>
          <a:bodyPr wrap="square" lIns="0" tIns="0" rIns="0" bIns="0" rtlCol="0" anchor="ctr"/>
          <a:lstStyle/>
          <a:p>
            <a:pPr indent="0" marL="0">
              <a:buNone/>
            </a:pPr>
            <a:r>
              <a:rPr lang="en-US" sz="1500" b="1" dirty="0">
                <a:solidFill>
                  <a:srgbClr val="9999FF"/>
                </a:solidFill>
                <a:latin typeface="Trebuchet MS" pitchFamily="34" charset="0"/>
                <a:ea typeface="Trebuchet MS" pitchFamily="34" charset="-122"/>
                <a:cs typeface="Trebuchet MS" pitchFamily="34" charset="-120"/>
              </a:rPr>
              <a:t>"How was this computed?"</a:t>
            </a:r>
            <a:endParaRPr lang="en-US" sz="1500" dirty="0"/>
          </a:p>
        </p:txBody>
      </p:sp>
      <p:sp>
        <p:nvSpPr>
          <p:cNvPr id="23" name="Text 21"/>
          <p:cNvSpPr/>
          <p:nvPr/>
        </p:nvSpPr>
        <p:spPr>
          <a:xfrm>
            <a:off x="1691640" y="3273552"/>
            <a:ext cx="3657600" cy="320040"/>
          </a:xfrm>
          <a:prstGeom prst="rect">
            <a:avLst/>
          </a:prstGeom>
          <a:noFill/>
          <a:ln/>
        </p:spPr>
        <p:txBody>
          <a:bodyPr wrap="square" lIns="0" tIns="0" rIns="0" bIns="0" rtlCol="0" anchor="ctr"/>
          <a:lstStyle/>
          <a:p>
            <a:pPr indent="0" marL="0">
              <a:buNone/>
            </a:pPr>
            <a:r>
              <a:rPr lang="en-US" sz="1200" dirty="0">
                <a:solidFill>
                  <a:srgbClr val="9999AA"/>
                </a:solidFill>
                <a:latin typeface="Trebuchet MS" pitchFamily="34" charset="0"/>
                <a:ea typeface="Trebuchet MS" pitchFamily="34" charset="-122"/>
                <a:cs typeface="Trebuchet MS" pitchFamily="34" charset="-120"/>
              </a:rPr>
              <a:t>Challenges Claude's numbers when they don't match</a:t>
            </a:r>
            <a:endParaRPr lang="en-US" sz="1200" dirty="0"/>
          </a:p>
        </p:txBody>
      </p:sp>
      <p:sp>
        <p:nvSpPr>
          <p:cNvPr id="24" name="Shape 22"/>
          <p:cNvSpPr/>
          <p:nvPr/>
        </p:nvSpPr>
        <p:spPr>
          <a:xfrm>
            <a:off x="1463040" y="3794760"/>
            <a:ext cx="73152" cy="685800"/>
          </a:xfrm>
          <a:prstGeom prst="rect">
            <a:avLst/>
          </a:prstGeom>
          <a:solidFill>
            <a:srgbClr val="CC99CC"/>
          </a:solidFill>
          <a:ln/>
        </p:spPr>
      </p:sp>
      <p:sp>
        <p:nvSpPr>
          <p:cNvPr id="25" name="Text 23"/>
          <p:cNvSpPr/>
          <p:nvPr/>
        </p:nvSpPr>
        <p:spPr>
          <a:xfrm>
            <a:off x="1691640" y="3794760"/>
            <a:ext cx="3200400" cy="365760"/>
          </a:xfrm>
          <a:prstGeom prst="rect">
            <a:avLst/>
          </a:prstGeom>
          <a:noFill/>
          <a:ln/>
        </p:spPr>
        <p:txBody>
          <a:bodyPr wrap="square" lIns="0" tIns="0" rIns="0" bIns="0" rtlCol="0" anchor="ctr"/>
          <a:lstStyle/>
          <a:p>
            <a:pPr indent="0" marL="0">
              <a:buNone/>
            </a:pPr>
            <a:r>
              <a:rPr lang="en-US" sz="1500" b="1" dirty="0">
                <a:solidFill>
                  <a:srgbClr val="CC99CC"/>
                </a:solidFill>
                <a:latin typeface="Trebuchet MS" pitchFamily="34" charset="0"/>
                <a:ea typeface="Trebuchet MS" pitchFamily="34" charset="-122"/>
                <a:cs typeface="Trebuchet MS" pitchFamily="34" charset="-120"/>
              </a:rPr>
              <a:t>"How do we miss that?"</a:t>
            </a:r>
            <a:endParaRPr lang="en-US" sz="1500" dirty="0"/>
          </a:p>
        </p:txBody>
      </p:sp>
      <p:sp>
        <p:nvSpPr>
          <p:cNvPr id="26" name="Text 24"/>
          <p:cNvSpPr/>
          <p:nvPr/>
        </p:nvSpPr>
        <p:spPr>
          <a:xfrm>
            <a:off x="1691640" y="4142232"/>
            <a:ext cx="3657600" cy="320040"/>
          </a:xfrm>
          <a:prstGeom prst="rect">
            <a:avLst/>
          </a:prstGeom>
          <a:noFill/>
          <a:ln/>
        </p:spPr>
        <p:txBody>
          <a:bodyPr wrap="square" lIns="0" tIns="0" rIns="0" bIns="0" rtlCol="0" anchor="ctr"/>
          <a:lstStyle/>
          <a:p>
            <a:pPr indent="0" marL="0">
              <a:buNone/>
            </a:pPr>
            <a:r>
              <a:rPr lang="en-US" sz="1200" dirty="0">
                <a:solidFill>
                  <a:srgbClr val="9999AA"/>
                </a:solidFill>
                <a:latin typeface="Trebuchet MS" pitchFamily="34" charset="0"/>
                <a:ea typeface="Trebuchet MS" pitchFamily="34" charset="-122"/>
                <a:cs typeface="Trebuchet MS" pitchFamily="34" charset="-120"/>
              </a:rPr>
              <a:t>Direct feedback triggers immediate process improvement</a:t>
            </a:r>
            <a:endParaRPr lang="en-US" sz="1200" dirty="0"/>
          </a:p>
        </p:txBody>
      </p:sp>
      <p:sp>
        <p:nvSpPr>
          <p:cNvPr id="27" name="Shape 25"/>
          <p:cNvSpPr/>
          <p:nvPr/>
        </p:nvSpPr>
        <p:spPr>
          <a:xfrm>
            <a:off x="5760720" y="1188720"/>
            <a:ext cx="3017520" cy="3200400"/>
          </a:xfrm>
          <a:prstGeom prst="rect">
            <a:avLst/>
          </a:prstGeom>
          <a:solidFill>
            <a:srgbClr val="1A1A2E"/>
          </a:solidFill>
          <a:ln w="19050">
            <a:solidFill>
              <a:srgbClr val="FFAA00"/>
            </a:solidFill>
            <a:prstDash val="solid"/>
          </a:ln>
        </p:spPr>
      </p:sp>
      <p:sp>
        <p:nvSpPr>
          <p:cNvPr id="28" name="Shape 26"/>
          <p:cNvSpPr/>
          <p:nvPr/>
        </p:nvSpPr>
        <p:spPr>
          <a:xfrm>
            <a:off x="5760720" y="1188720"/>
            <a:ext cx="3017520" cy="54864"/>
          </a:xfrm>
          <a:prstGeom prst="rect">
            <a:avLst/>
          </a:prstGeom>
          <a:solidFill>
            <a:srgbClr val="FFAA00"/>
          </a:solidFill>
          <a:ln/>
        </p:spPr>
      </p:sp>
      <p:sp>
        <p:nvSpPr>
          <p:cNvPr id="29" name="Text 27"/>
          <p:cNvSpPr/>
          <p:nvPr/>
        </p:nvSpPr>
        <p:spPr>
          <a:xfrm>
            <a:off x="5943600" y="1371600"/>
            <a:ext cx="2651760" cy="548640"/>
          </a:xfrm>
          <a:prstGeom prst="rect">
            <a:avLst/>
          </a:prstGeom>
          <a:noFill/>
          <a:ln/>
        </p:spPr>
        <p:txBody>
          <a:bodyPr wrap="square" lIns="0" tIns="0" rIns="0" bIns="0" rtlCol="0" anchor="ctr"/>
          <a:lstStyle/>
          <a:p>
            <a:pPr indent="0" marL="0">
              <a:lnSpc>
                <a:spcPct val="110000"/>
              </a:lnSpc>
              <a:buNone/>
            </a:pPr>
            <a:r>
              <a:rPr lang="en-US" sz="1300" b="1" dirty="0">
                <a:solidFill>
                  <a:srgbClr val="FFAA00"/>
                </a:solidFill>
                <a:latin typeface="Trebuchet MS" pitchFamily="34" charset="0"/>
                <a:ea typeface="Trebuchet MS" pitchFamily="34" charset="-122"/>
                <a:cs typeface="Trebuchet MS" pitchFamily="34" charset="-120"/>
              </a:rPr>
              <a:t>THE RELATIONSHIP</a:t>
            </a:r>
            <a:endParaRPr lang="en-US" sz="1300" dirty="0"/>
          </a:p>
          <a:p>
            <a:pPr indent="0" marL="0">
              <a:lnSpc>
                <a:spcPct val="110000"/>
              </a:lnSpc>
              <a:buNone/>
            </a:pPr>
            <a:r>
              <a:rPr lang="en-US" sz="1300" b="1" dirty="0">
                <a:solidFill>
                  <a:srgbClr val="FFAA00"/>
                </a:solidFill>
                <a:latin typeface="Trebuchet MS" pitchFamily="34" charset="0"/>
                <a:ea typeface="Trebuchet MS" pitchFamily="34" charset="-122"/>
                <a:cs typeface="Trebuchet MS" pitchFamily="34" charset="-120"/>
              </a:rPr>
              <a:t>IMPROVES OVER TIME</a:t>
            </a:r>
            <a:endParaRPr lang="en-US" sz="1300" dirty="0"/>
          </a:p>
        </p:txBody>
      </p:sp>
      <p:sp>
        <p:nvSpPr>
          <p:cNvPr id="30" name="Text 28"/>
          <p:cNvSpPr/>
          <p:nvPr/>
        </p:nvSpPr>
        <p:spPr>
          <a:xfrm>
            <a:off x="5943600" y="2057400"/>
            <a:ext cx="2651760" cy="2103120"/>
          </a:xfrm>
          <a:prstGeom prst="rect">
            <a:avLst/>
          </a:prstGeom>
          <a:noFill/>
          <a:ln/>
        </p:spPr>
        <p:txBody>
          <a:bodyPr wrap="square" lIns="0" tIns="0" rIns="0" bIns="0" rtlCol="0" anchor="ctr"/>
          <a:lstStyle/>
          <a:p>
            <a:pPr indent="0" marL="0">
              <a:lnSpc>
                <a:spcPct val="115000"/>
              </a:lnSpc>
              <a:buNone/>
            </a:pPr>
            <a:r>
              <a:rPr lang="en-US" sz="1200" dirty="0">
                <a:solidFill>
                  <a:srgbClr val="FFCC99"/>
                </a:solidFill>
                <a:latin typeface="Trebuchet MS" pitchFamily="34" charset="0"/>
                <a:ea typeface="Trebuchet MS" pitchFamily="34" charset="-122"/>
                <a:cs typeface="Trebuchet MS" pitchFamily="34" charset="-120"/>
              </a:rPr>
              <a:t>Errors get documented as lessons</a:t>
            </a:r>
            <a:endParaRPr lang="en-US" sz="1200" dirty="0"/>
          </a:p>
          <a:p>
            <a:pPr indent="0" marL="0">
              <a:lnSpc>
                <a:spcPct val="115000"/>
              </a:lnSpc>
              <a:buNone/>
            </a:pPr>
            <a:endParaRPr lang="en-US" sz="1200" dirty="0"/>
          </a:p>
          <a:p>
            <a:pPr indent="0" marL="0">
              <a:lnSpc>
                <a:spcPct val="115000"/>
              </a:lnSpc>
              <a:buNone/>
            </a:pPr>
            <a:r>
              <a:rPr lang="en-US" sz="1200" dirty="0">
                <a:solidFill>
                  <a:srgbClr val="FFCC99"/>
                </a:solidFill>
                <a:latin typeface="Trebuchet MS" pitchFamily="34" charset="0"/>
                <a:ea typeface="Trebuchet MS" pitchFamily="34" charset="-122"/>
                <a:cs typeface="Trebuchet MS" pitchFamily="34" charset="-120"/>
              </a:rPr>
              <a:t>Project instructions get refined</a:t>
            </a:r>
            <a:endParaRPr lang="en-US" sz="1200" dirty="0"/>
          </a:p>
          <a:p>
            <a:pPr indent="0" marL="0">
              <a:lnSpc>
                <a:spcPct val="115000"/>
              </a:lnSpc>
              <a:buNone/>
            </a:pPr>
            <a:endParaRPr lang="en-US" sz="1200" dirty="0"/>
          </a:p>
          <a:p>
            <a:pPr indent="0" marL="0">
              <a:lnSpc>
                <a:spcPct val="115000"/>
              </a:lnSpc>
              <a:buNone/>
            </a:pPr>
            <a:r>
              <a:rPr lang="en-US" sz="1200" dirty="0">
                <a:solidFill>
                  <a:srgbClr val="FFCC99"/>
                </a:solidFill>
                <a:latin typeface="Trebuchet MS" pitchFamily="34" charset="0"/>
                <a:ea typeface="Trebuchet MS" pitchFamily="34" charset="-122"/>
                <a:cs typeface="Trebuchet MS" pitchFamily="34" charset="-120"/>
              </a:rPr>
              <a:t>Context Vault accumulates institutional knowledge</a:t>
            </a:r>
            <a:endParaRPr lang="en-US" sz="1200" dirty="0"/>
          </a:p>
          <a:p>
            <a:pPr indent="0" marL="0">
              <a:lnSpc>
                <a:spcPct val="115000"/>
              </a:lnSpc>
              <a:buNone/>
            </a:pPr>
            <a:endParaRPr lang="en-US" sz="1200" dirty="0"/>
          </a:p>
          <a:p>
            <a:pPr indent="0" marL="0">
              <a:lnSpc>
                <a:spcPct val="115000"/>
              </a:lnSpc>
              <a:buNone/>
            </a:pPr>
            <a:r>
              <a:rPr lang="en-US" sz="1200" dirty="0">
                <a:solidFill>
                  <a:srgbClr val="FFCC99"/>
                </a:solidFill>
                <a:latin typeface="Trebuchet MS" pitchFamily="34" charset="0"/>
                <a:ea typeface="Trebuchet MS" pitchFamily="34" charset="-122"/>
                <a:cs typeface="Trebuchet MS" pitchFamily="34" charset="-120"/>
              </a:rPr>
              <a:t>Each session is slightly better than the last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WHAT WORKS WELL</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Strengths of the System</a:t>
            </a:r>
            <a:endParaRPr lang="en-US" sz="2200" dirty="0"/>
          </a:p>
        </p:txBody>
      </p:sp>
      <p:sp>
        <p:nvSpPr>
          <p:cNvPr id="15" name="Shape 13"/>
          <p:cNvSpPr/>
          <p:nvPr/>
        </p:nvSpPr>
        <p:spPr>
          <a:xfrm>
            <a:off x="1463040" y="1188720"/>
            <a:ext cx="2926080" cy="1005840"/>
          </a:xfrm>
          <a:prstGeom prst="rect">
            <a:avLst/>
          </a:prstGeom>
          <a:solidFill>
            <a:srgbClr val="1A1A2E"/>
          </a:solidFill>
          <a:ln w="19050">
            <a:solidFill>
              <a:srgbClr val="FF9900"/>
            </a:solidFill>
            <a:prstDash val="solid"/>
          </a:ln>
        </p:spPr>
      </p:sp>
      <p:sp>
        <p:nvSpPr>
          <p:cNvPr id="16" name="Shape 14"/>
          <p:cNvSpPr/>
          <p:nvPr/>
        </p:nvSpPr>
        <p:spPr>
          <a:xfrm>
            <a:off x="1463040" y="1188720"/>
            <a:ext cx="2926080" cy="54864"/>
          </a:xfrm>
          <a:prstGeom prst="rect">
            <a:avLst/>
          </a:prstGeom>
          <a:solidFill>
            <a:srgbClr val="FF9900"/>
          </a:solidFill>
          <a:ln/>
        </p:spPr>
      </p:sp>
      <p:sp>
        <p:nvSpPr>
          <p:cNvPr id="17" name="Text 15"/>
          <p:cNvSpPr/>
          <p:nvPr/>
        </p:nvSpPr>
        <p:spPr>
          <a:xfrm>
            <a:off x="1645920" y="1325880"/>
            <a:ext cx="2560320" cy="274320"/>
          </a:xfrm>
          <a:prstGeom prst="rect">
            <a:avLst/>
          </a:prstGeom>
          <a:noFill/>
          <a:ln/>
        </p:spPr>
        <p:txBody>
          <a:bodyPr wrap="square" lIns="0" tIns="0" rIns="0" bIns="0" rtlCol="0" anchor="ctr"/>
          <a:lstStyle/>
          <a:p>
            <a:pPr indent="0" marL="0">
              <a:buNone/>
            </a:pPr>
            <a:r>
              <a:rPr lang="en-US" sz="1300" b="1" dirty="0">
                <a:solidFill>
                  <a:srgbClr val="FF9900"/>
                </a:solidFill>
                <a:latin typeface="Trebuchet MS" pitchFamily="34" charset="0"/>
                <a:ea typeface="Trebuchet MS" pitchFamily="34" charset="-122"/>
                <a:cs typeface="Trebuchet MS" pitchFamily="34" charset="-120"/>
              </a:rPr>
              <a:t>Consistent Process</a:t>
            </a:r>
            <a:endParaRPr lang="en-US" sz="1300" dirty="0"/>
          </a:p>
        </p:txBody>
      </p:sp>
      <p:sp>
        <p:nvSpPr>
          <p:cNvPr id="18" name="Text 16"/>
          <p:cNvSpPr/>
          <p:nvPr/>
        </p:nvSpPr>
        <p:spPr>
          <a:xfrm>
            <a:off x="1645920" y="164592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Same four phases every session.</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No steps forgotten.</a:t>
            </a:r>
            <a:endParaRPr lang="en-US" sz="1100" dirty="0"/>
          </a:p>
        </p:txBody>
      </p:sp>
      <p:sp>
        <p:nvSpPr>
          <p:cNvPr id="19" name="Shape 17"/>
          <p:cNvSpPr/>
          <p:nvPr/>
        </p:nvSpPr>
        <p:spPr>
          <a:xfrm>
            <a:off x="4663440" y="1188720"/>
            <a:ext cx="2926080" cy="1005840"/>
          </a:xfrm>
          <a:prstGeom prst="rect">
            <a:avLst/>
          </a:prstGeom>
          <a:solidFill>
            <a:srgbClr val="1A1A2E"/>
          </a:solidFill>
          <a:ln w="19050">
            <a:solidFill>
              <a:srgbClr val="9999FF"/>
            </a:solidFill>
            <a:prstDash val="solid"/>
          </a:ln>
        </p:spPr>
      </p:sp>
      <p:sp>
        <p:nvSpPr>
          <p:cNvPr id="20" name="Shape 18"/>
          <p:cNvSpPr/>
          <p:nvPr/>
        </p:nvSpPr>
        <p:spPr>
          <a:xfrm>
            <a:off x="4663440" y="1188720"/>
            <a:ext cx="2926080" cy="54864"/>
          </a:xfrm>
          <a:prstGeom prst="rect">
            <a:avLst/>
          </a:prstGeom>
          <a:solidFill>
            <a:srgbClr val="9999FF"/>
          </a:solidFill>
          <a:ln/>
        </p:spPr>
      </p:sp>
      <p:sp>
        <p:nvSpPr>
          <p:cNvPr id="21" name="Text 19"/>
          <p:cNvSpPr/>
          <p:nvPr/>
        </p:nvSpPr>
        <p:spPr>
          <a:xfrm>
            <a:off x="4846320" y="1325880"/>
            <a:ext cx="2560320" cy="274320"/>
          </a:xfrm>
          <a:prstGeom prst="rect">
            <a:avLst/>
          </a:prstGeom>
          <a:noFill/>
          <a:ln/>
        </p:spPr>
        <p:txBody>
          <a:bodyPr wrap="square" lIns="0" tIns="0" rIns="0" bIns="0" rtlCol="0" anchor="ctr"/>
          <a:lstStyle/>
          <a:p>
            <a:pPr indent="0" marL="0">
              <a:buNone/>
            </a:pPr>
            <a:r>
              <a:rPr lang="en-US" sz="1300" b="1" dirty="0">
                <a:solidFill>
                  <a:srgbClr val="9999FF"/>
                </a:solidFill>
                <a:latin typeface="Trebuchet MS" pitchFamily="34" charset="0"/>
                <a:ea typeface="Trebuchet MS" pitchFamily="34" charset="-122"/>
                <a:cs typeface="Trebuchet MS" pitchFamily="34" charset="-120"/>
              </a:rPr>
              <a:t>Persistent Memory</a:t>
            </a:r>
            <a:endParaRPr lang="en-US" sz="1300" dirty="0"/>
          </a:p>
        </p:txBody>
      </p:sp>
      <p:sp>
        <p:nvSpPr>
          <p:cNvPr id="22" name="Text 20"/>
          <p:cNvSpPr/>
          <p:nvPr/>
        </p:nvSpPr>
        <p:spPr>
          <a:xfrm>
            <a:off x="4846320" y="164592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Context Vault bridges sessions.</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Yesterday's journal available.</a:t>
            </a:r>
            <a:endParaRPr lang="en-US" sz="1100" dirty="0"/>
          </a:p>
        </p:txBody>
      </p:sp>
      <p:sp>
        <p:nvSpPr>
          <p:cNvPr id="23" name="Shape 21"/>
          <p:cNvSpPr/>
          <p:nvPr/>
        </p:nvSpPr>
        <p:spPr>
          <a:xfrm>
            <a:off x="1463040" y="2423160"/>
            <a:ext cx="2926080" cy="1005840"/>
          </a:xfrm>
          <a:prstGeom prst="rect">
            <a:avLst/>
          </a:prstGeom>
          <a:solidFill>
            <a:srgbClr val="1A1A2E"/>
          </a:solidFill>
          <a:ln w="19050">
            <a:solidFill>
              <a:srgbClr val="66CCCC"/>
            </a:solidFill>
            <a:prstDash val="solid"/>
          </a:ln>
        </p:spPr>
      </p:sp>
      <p:sp>
        <p:nvSpPr>
          <p:cNvPr id="24" name="Shape 22"/>
          <p:cNvSpPr/>
          <p:nvPr/>
        </p:nvSpPr>
        <p:spPr>
          <a:xfrm>
            <a:off x="1463040" y="2423160"/>
            <a:ext cx="2926080" cy="54864"/>
          </a:xfrm>
          <a:prstGeom prst="rect">
            <a:avLst/>
          </a:prstGeom>
          <a:solidFill>
            <a:srgbClr val="66CCCC"/>
          </a:solidFill>
          <a:ln/>
        </p:spPr>
      </p:sp>
      <p:sp>
        <p:nvSpPr>
          <p:cNvPr id="25" name="Text 23"/>
          <p:cNvSpPr/>
          <p:nvPr/>
        </p:nvSpPr>
        <p:spPr>
          <a:xfrm>
            <a:off x="1645920" y="2560320"/>
            <a:ext cx="2560320" cy="274320"/>
          </a:xfrm>
          <a:prstGeom prst="rect">
            <a:avLst/>
          </a:prstGeom>
          <a:noFill/>
          <a:ln/>
        </p:spPr>
        <p:txBody>
          <a:bodyPr wrap="square" lIns="0" tIns="0" rIns="0" bIns="0" rtlCol="0" anchor="ctr"/>
          <a:lstStyle/>
          <a:p>
            <a:pPr indent="0" marL="0">
              <a:buNone/>
            </a:pPr>
            <a:r>
              <a:rPr lang="en-US" sz="1300" b="1" dirty="0">
                <a:solidFill>
                  <a:srgbClr val="66CCCC"/>
                </a:solidFill>
                <a:latin typeface="Trebuchet MS" pitchFamily="34" charset="0"/>
                <a:ea typeface="Trebuchet MS" pitchFamily="34" charset="-122"/>
                <a:cs typeface="Trebuchet MS" pitchFamily="34" charset="-120"/>
              </a:rPr>
              <a:t>Position Categorization</a:t>
            </a:r>
            <a:endParaRPr lang="en-US" sz="1300" dirty="0"/>
          </a:p>
        </p:txBody>
      </p:sp>
      <p:sp>
        <p:nvSpPr>
          <p:cNvPr id="26" name="Text 24"/>
          <p:cNvSpPr/>
          <p:nvPr/>
        </p:nvSpPr>
        <p:spPr>
          <a:xfrm>
            <a:off x="1645920" y="288036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Database turns flat puts/calls</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into structured portfolio view.</a:t>
            </a:r>
            <a:endParaRPr lang="en-US" sz="1100" dirty="0"/>
          </a:p>
        </p:txBody>
      </p:sp>
      <p:sp>
        <p:nvSpPr>
          <p:cNvPr id="27" name="Shape 25"/>
          <p:cNvSpPr/>
          <p:nvPr/>
        </p:nvSpPr>
        <p:spPr>
          <a:xfrm>
            <a:off x="4663440" y="2423160"/>
            <a:ext cx="2926080" cy="1005840"/>
          </a:xfrm>
          <a:prstGeom prst="rect">
            <a:avLst/>
          </a:prstGeom>
          <a:solidFill>
            <a:srgbClr val="1A1A2E"/>
          </a:solidFill>
          <a:ln w="19050">
            <a:solidFill>
              <a:srgbClr val="CC99CC"/>
            </a:solidFill>
            <a:prstDash val="solid"/>
          </a:ln>
        </p:spPr>
      </p:sp>
      <p:sp>
        <p:nvSpPr>
          <p:cNvPr id="28" name="Shape 26"/>
          <p:cNvSpPr/>
          <p:nvPr/>
        </p:nvSpPr>
        <p:spPr>
          <a:xfrm>
            <a:off x="4663440" y="2423160"/>
            <a:ext cx="2926080" cy="54864"/>
          </a:xfrm>
          <a:prstGeom prst="rect">
            <a:avLst/>
          </a:prstGeom>
          <a:solidFill>
            <a:srgbClr val="CC99CC"/>
          </a:solidFill>
          <a:ln/>
        </p:spPr>
      </p:sp>
      <p:sp>
        <p:nvSpPr>
          <p:cNvPr id="29" name="Text 27"/>
          <p:cNvSpPr/>
          <p:nvPr/>
        </p:nvSpPr>
        <p:spPr>
          <a:xfrm>
            <a:off x="4846320" y="2560320"/>
            <a:ext cx="2560320" cy="274320"/>
          </a:xfrm>
          <a:prstGeom prst="rect">
            <a:avLst/>
          </a:prstGeom>
          <a:noFill/>
          <a:ln/>
        </p:spPr>
        <p:txBody>
          <a:bodyPr wrap="square" lIns="0" tIns="0" rIns="0" bIns="0" rtlCol="0" anchor="ctr"/>
          <a:lstStyle/>
          <a:p>
            <a:pPr indent="0" marL="0">
              <a:buNone/>
            </a:pPr>
            <a:r>
              <a:rPr lang="en-US" sz="1300" b="1" dirty="0">
                <a:solidFill>
                  <a:srgbClr val="CC99CC"/>
                </a:solidFill>
                <a:latin typeface="Trebuchet MS" pitchFamily="34" charset="0"/>
                <a:ea typeface="Trebuchet MS" pitchFamily="34" charset="-122"/>
                <a:cs typeface="Trebuchet MS" pitchFamily="34" charset="-120"/>
              </a:rPr>
              <a:t>SPX → XSP Translation</a:t>
            </a:r>
            <a:endParaRPr lang="en-US" sz="1300" dirty="0"/>
          </a:p>
        </p:txBody>
      </p:sp>
      <p:sp>
        <p:nvSpPr>
          <p:cNvPr id="30" name="Text 28"/>
          <p:cNvSpPr/>
          <p:nvPr/>
        </p:nvSpPr>
        <p:spPr>
          <a:xfrm>
            <a:off x="4846320" y="288036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Automatic strike conversion</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using documented rules.</a:t>
            </a:r>
            <a:endParaRPr lang="en-US" sz="1100" dirty="0"/>
          </a:p>
        </p:txBody>
      </p:sp>
      <p:sp>
        <p:nvSpPr>
          <p:cNvPr id="31" name="Shape 29"/>
          <p:cNvSpPr/>
          <p:nvPr/>
        </p:nvSpPr>
        <p:spPr>
          <a:xfrm>
            <a:off x="1463040" y="3657600"/>
            <a:ext cx="2926080" cy="1005840"/>
          </a:xfrm>
          <a:prstGeom prst="rect">
            <a:avLst/>
          </a:prstGeom>
          <a:solidFill>
            <a:srgbClr val="1A1A2E"/>
          </a:solidFill>
          <a:ln w="19050">
            <a:solidFill>
              <a:srgbClr val="FFAA00"/>
            </a:solidFill>
            <a:prstDash val="solid"/>
          </a:ln>
        </p:spPr>
      </p:sp>
      <p:sp>
        <p:nvSpPr>
          <p:cNvPr id="32" name="Shape 30"/>
          <p:cNvSpPr/>
          <p:nvPr/>
        </p:nvSpPr>
        <p:spPr>
          <a:xfrm>
            <a:off x="1463040" y="3657600"/>
            <a:ext cx="2926080" cy="54864"/>
          </a:xfrm>
          <a:prstGeom prst="rect">
            <a:avLst/>
          </a:prstGeom>
          <a:solidFill>
            <a:srgbClr val="FFAA00"/>
          </a:solidFill>
          <a:ln/>
        </p:spPr>
      </p:sp>
      <p:sp>
        <p:nvSpPr>
          <p:cNvPr id="33" name="Text 31"/>
          <p:cNvSpPr/>
          <p:nvPr/>
        </p:nvSpPr>
        <p:spPr>
          <a:xfrm>
            <a:off x="1645920" y="3794760"/>
            <a:ext cx="2560320" cy="274320"/>
          </a:xfrm>
          <a:prstGeom prst="rect">
            <a:avLst/>
          </a:prstGeom>
          <a:noFill/>
          <a:ln/>
        </p:spPr>
        <p:txBody>
          <a:bodyPr wrap="square" lIns="0" tIns="0" rIns="0" bIns="0" rtlCol="0" anchor="ctr"/>
          <a:lstStyle/>
          <a:p>
            <a:pPr indent="0" marL="0">
              <a:buNone/>
            </a:pPr>
            <a:r>
              <a:rPr lang="en-US" sz="1300" b="1" dirty="0">
                <a:solidFill>
                  <a:srgbClr val="FFAA00"/>
                </a:solidFill>
                <a:latin typeface="Trebuchet MS" pitchFamily="34" charset="0"/>
                <a:ea typeface="Trebuchet MS" pitchFamily="34" charset="-122"/>
                <a:cs typeface="Trebuchet MS" pitchFamily="34" charset="-120"/>
              </a:rPr>
              <a:t>Trade Documentation</a:t>
            </a:r>
            <a:endParaRPr lang="en-US" sz="1300" dirty="0"/>
          </a:p>
        </p:txBody>
      </p:sp>
      <p:sp>
        <p:nvSpPr>
          <p:cNvPr id="34" name="Text 32"/>
          <p:cNvSpPr/>
          <p:nvPr/>
        </p:nvSpPr>
        <p:spPr>
          <a:xfrm>
            <a:off x="1645920" y="411480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Every trade has a ticket with</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intent, source, order number.</a:t>
            </a:r>
            <a:endParaRPr lang="en-US" sz="1100" dirty="0"/>
          </a:p>
        </p:txBody>
      </p:sp>
      <p:sp>
        <p:nvSpPr>
          <p:cNvPr id="35" name="Shape 33"/>
          <p:cNvSpPr/>
          <p:nvPr/>
        </p:nvSpPr>
        <p:spPr>
          <a:xfrm>
            <a:off x="4663440" y="3657600"/>
            <a:ext cx="2926080" cy="1005840"/>
          </a:xfrm>
          <a:prstGeom prst="rect">
            <a:avLst/>
          </a:prstGeom>
          <a:solidFill>
            <a:srgbClr val="1A1A2E"/>
          </a:solidFill>
          <a:ln w="19050">
            <a:solidFill>
              <a:srgbClr val="44CC66"/>
            </a:solidFill>
            <a:prstDash val="solid"/>
          </a:ln>
        </p:spPr>
      </p:sp>
      <p:sp>
        <p:nvSpPr>
          <p:cNvPr id="36" name="Shape 34"/>
          <p:cNvSpPr/>
          <p:nvPr/>
        </p:nvSpPr>
        <p:spPr>
          <a:xfrm>
            <a:off x="4663440" y="3657600"/>
            <a:ext cx="2926080" cy="54864"/>
          </a:xfrm>
          <a:prstGeom prst="rect">
            <a:avLst/>
          </a:prstGeom>
          <a:solidFill>
            <a:srgbClr val="44CC66"/>
          </a:solidFill>
          <a:ln/>
        </p:spPr>
      </p:sp>
      <p:sp>
        <p:nvSpPr>
          <p:cNvPr id="37" name="Text 35"/>
          <p:cNvSpPr/>
          <p:nvPr/>
        </p:nvSpPr>
        <p:spPr>
          <a:xfrm>
            <a:off x="4846320" y="3794760"/>
            <a:ext cx="2560320" cy="274320"/>
          </a:xfrm>
          <a:prstGeom prst="rect">
            <a:avLst/>
          </a:prstGeom>
          <a:noFill/>
          <a:ln/>
        </p:spPr>
        <p:txBody>
          <a:bodyPr wrap="square" lIns="0" tIns="0" rIns="0" bIns="0" rtlCol="0" anchor="ctr"/>
          <a:lstStyle/>
          <a:p>
            <a:pPr indent="0" marL="0">
              <a:buNone/>
            </a:pPr>
            <a:r>
              <a:rPr lang="en-US" sz="1300" b="1" dirty="0">
                <a:solidFill>
                  <a:srgbClr val="44CC66"/>
                </a:solidFill>
                <a:latin typeface="Trebuchet MS" pitchFamily="34" charset="0"/>
                <a:ea typeface="Trebuchet MS" pitchFamily="34" charset="-122"/>
                <a:cs typeface="Trebuchet MS" pitchFamily="34" charset="-120"/>
              </a:rPr>
              <a:t>Information Filtering</a:t>
            </a:r>
            <a:endParaRPr lang="en-US" sz="1300" dirty="0"/>
          </a:p>
        </p:txBody>
      </p:sp>
      <p:sp>
        <p:nvSpPr>
          <p:cNvPr id="38" name="Text 36"/>
          <p:cNvSpPr/>
          <p:nvPr/>
        </p:nvSpPr>
        <p:spPr>
          <a:xfrm>
            <a:off x="4846320" y="4114800"/>
            <a:ext cx="2560320" cy="457200"/>
          </a:xfrm>
          <a:prstGeom prst="rect">
            <a:avLst/>
          </a:prstGeom>
          <a:noFill/>
          <a:ln/>
        </p:spPr>
        <p:txBody>
          <a:bodyPr wrap="square" lIns="0" tIns="0" rIns="0" bIns="0" rtlCol="0" anchor="ctr"/>
          <a:lstStyle/>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100+ chat messages reduced</a:t>
            </a:r>
            <a:endParaRPr lang="en-US" sz="1100" dirty="0"/>
          </a:p>
          <a:p>
            <a:pPr indent="0" marL="0">
              <a:lnSpc>
                <a:spcPct val="120000"/>
              </a:lnSpc>
              <a:buNone/>
            </a:pPr>
            <a:r>
              <a:rPr lang="en-US" sz="1100" dirty="0">
                <a:solidFill>
                  <a:srgbClr val="FFCC99"/>
                </a:solidFill>
                <a:latin typeface="Trebuchet MS" pitchFamily="34" charset="0"/>
                <a:ea typeface="Trebuchet MS" pitchFamily="34" charset="-122"/>
                <a:cs typeface="Trebuchet MS" pitchFamily="34" charset="-120"/>
              </a:rPr>
              <a:t>to 7 actionable items.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WHERE IT NEEDS WORK</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Honest Assessment of Limitations</a:t>
            </a:r>
            <a:endParaRPr lang="en-US" sz="2200" dirty="0"/>
          </a:p>
        </p:txBody>
      </p:sp>
      <p:sp>
        <p:nvSpPr>
          <p:cNvPr id="15" name="Shape 13"/>
          <p:cNvSpPr/>
          <p:nvPr/>
        </p:nvSpPr>
        <p:spPr>
          <a:xfrm>
            <a:off x="1463040" y="1188720"/>
            <a:ext cx="6675120" cy="731520"/>
          </a:xfrm>
          <a:prstGeom prst="rect">
            <a:avLst/>
          </a:prstGeom>
          <a:solidFill>
            <a:srgbClr val="1A1A2E"/>
          </a:solidFill>
          <a:ln w="19050">
            <a:solidFill>
              <a:srgbClr val="CC4444"/>
            </a:solidFill>
            <a:prstDash val="solid"/>
          </a:ln>
        </p:spPr>
      </p:sp>
      <p:sp>
        <p:nvSpPr>
          <p:cNvPr id="16" name="Shape 14"/>
          <p:cNvSpPr/>
          <p:nvPr/>
        </p:nvSpPr>
        <p:spPr>
          <a:xfrm>
            <a:off x="1463040" y="1188720"/>
            <a:ext cx="6675120" cy="54864"/>
          </a:xfrm>
          <a:prstGeom prst="rect">
            <a:avLst/>
          </a:prstGeom>
          <a:solidFill>
            <a:srgbClr val="CC4444"/>
          </a:solidFill>
          <a:ln/>
        </p:spPr>
      </p:sp>
      <p:sp>
        <p:nvSpPr>
          <p:cNvPr id="17" name="Text 15"/>
          <p:cNvSpPr/>
          <p:nvPr/>
        </p:nvSpPr>
        <p:spPr>
          <a:xfrm>
            <a:off x="1645920" y="1280160"/>
            <a:ext cx="4114800" cy="228600"/>
          </a:xfrm>
          <a:prstGeom prst="rect">
            <a:avLst/>
          </a:prstGeom>
          <a:noFill/>
          <a:ln/>
        </p:spPr>
        <p:txBody>
          <a:bodyPr wrap="square" lIns="0" tIns="0" rIns="0" bIns="0" rtlCol="0" anchor="ctr"/>
          <a:lstStyle/>
          <a:p>
            <a:pPr indent="0" marL="0">
              <a:buNone/>
            </a:pPr>
            <a:r>
              <a:rPr lang="en-US" sz="1300" b="1" dirty="0">
                <a:solidFill>
                  <a:srgbClr val="CC4444"/>
                </a:solidFill>
                <a:latin typeface="Trebuchet MS" pitchFamily="34" charset="0"/>
                <a:ea typeface="Trebuchet MS" pitchFamily="34" charset="-122"/>
                <a:cs typeface="Trebuchet MS" pitchFamily="34" charset="-120"/>
              </a:rPr>
              <a:t>QUANTITY VERIFICATION</a:t>
            </a:r>
            <a:endParaRPr lang="en-US" sz="1300" dirty="0"/>
          </a:p>
        </p:txBody>
      </p:sp>
      <p:sp>
        <p:nvSpPr>
          <p:cNvPr id="18" name="Text 16"/>
          <p:cNvSpPr/>
          <p:nvPr/>
        </p:nvSpPr>
        <p:spPr>
          <a:xfrm>
            <a:off x="1645920" y="1554480"/>
            <a:ext cx="5029200" cy="27432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Must explicitly compare planned qty against fill qty. Never assume.</a:t>
            </a:r>
            <a:endParaRPr lang="en-US" sz="1100" dirty="0"/>
          </a:p>
        </p:txBody>
      </p:sp>
      <p:sp>
        <p:nvSpPr>
          <p:cNvPr id="19" name="Shape 17"/>
          <p:cNvSpPr/>
          <p:nvPr/>
        </p:nvSpPr>
        <p:spPr>
          <a:xfrm>
            <a:off x="7040880" y="1417320"/>
            <a:ext cx="914400" cy="274320"/>
          </a:xfrm>
          <a:prstGeom prst="roundRect">
            <a:avLst>
              <a:gd name="adj" fmla="val 16667"/>
            </a:avLst>
          </a:prstGeom>
          <a:solidFill>
            <a:srgbClr val="CC4444"/>
          </a:solidFill>
          <a:ln/>
        </p:spPr>
      </p:sp>
      <p:sp>
        <p:nvSpPr>
          <p:cNvPr id="20" name="Text 18"/>
          <p:cNvSpPr/>
          <p:nvPr/>
        </p:nvSpPr>
        <p:spPr>
          <a:xfrm>
            <a:off x="7040880" y="1417320"/>
            <a:ext cx="91440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HIGH</a:t>
            </a:r>
            <a:endParaRPr lang="en-US" sz="1000" dirty="0"/>
          </a:p>
        </p:txBody>
      </p:sp>
      <p:sp>
        <p:nvSpPr>
          <p:cNvPr id="21" name="Shape 19"/>
          <p:cNvSpPr/>
          <p:nvPr/>
        </p:nvSpPr>
        <p:spPr>
          <a:xfrm>
            <a:off x="1463040" y="2103120"/>
            <a:ext cx="6675120" cy="731520"/>
          </a:xfrm>
          <a:prstGeom prst="rect">
            <a:avLst/>
          </a:prstGeom>
          <a:solidFill>
            <a:srgbClr val="1A1A2E"/>
          </a:solidFill>
          <a:ln w="19050">
            <a:solidFill>
              <a:srgbClr val="CC4444"/>
            </a:solidFill>
            <a:prstDash val="solid"/>
          </a:ln>
        </p:spPr>
      </p:sp>
      <p:sp>
        <p:nvSpPr>
          <p:cNvPr id="22" name="Shape 20"/>
          <p:cNvSpPr/>
          <p:nvPr/>
        </p:nvSpPr>
        <p:spPr>
          <a:xfrm>
            <a:off x="1463040" y="2103120"/>
            <a:ext cx="6675120" cy="54864"/>
          </a:xfrm>
          <a:prstGeom prst="rect">
            <a:avLst/>
          </a:prstGeom>
          <a:solidFill>
            <a:srgbClr val="CC4444"/>
          </a:solidFill>
          <a:ln/>
        </p:spPr>
      </p:sp>
      <p:sp>
        <p:nvSpPr>
          <p:cNvPr id="23" name="Text 21"/>
          <p:cNvSpPr/>
          <p:nvPr/>
        </p:nvSpPr>
        <p:spPr>
          <a:xfrm>
            <a:off x="1645920" y="2194560"/>
            <a:ext cx="4114800" cy="228600"/>
          </a:xfrm>
          <a:prstGeom prst="rect">
            <a:avLst/>
          </a:prstGeom>
          <a:noFill/>
          <a:ln/>
        </p:spPr>
        <p:txBody>
          <a:bodyPr wrap="square" lIns="0" tIns="0" rIns="0" bIns="0" rtlCol="0" anchor="ctr"/>
          <a:lstStyle/>
          <a:p>
            <a:pPr indent="0" marL="0">
              <a:buNone/>
            </a:pPr>
            <a:r>
              <a:rPr lang="en-US" sz="1300" b="1" dirty="0">
                <a:solidFill>
                  <a:srgbClr val="CC4444"/>
                </a:solidFill>
                <a:latin typeface="Trebuchet MS" pitchFamily="34" charset="0"/>
                <a:ea typeface="Trebuchet MS" pitchFamily="34" charset="-122"/>
                <a:cs typeface="Trebuchet MS" pitchFamily="34" charset="-120"/>
              </a:rPr>
              <a:t>PORTFOLIO GREEKS</a:t>
            </a:r>
            <a:endParaRPr lang="en-US" sz="1300" dirty="0"/>
          </a:p>
        </p:txBody>
      </p:sp>
      <p:sp>
        <p:nvSpPr>
          <p:cNvPr id="24" name="Text 22"/>
          <p:cNvSpPr/>
          <p:nvPr/>
        </p:nvSpPr>
        <p:spPr>
          <a:xfrm>
            <a:off x="1645920" y="2468880"/>
            <a:ext cx="5029200" cy="27432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Don't hand-calculate from CSV. Trust the broker's live dashboard.</a:t>
            </a:r>
            <a:endParaRPr lang="en-US" sz="1100" dirty="0"/>
          </a:p>
        </p:txBody>
      </p:sp>
      <p:sp>
        <p:nvSpPr>
          <p:cNvPr id="25" name="Shape 23"/>
          <p:cNvSpPr/>
          <p:nvPr/>
        </p:nvSpPr>
        <p:spPr>
          <a:xfrm>
            <a:off x="7040880" y="2331720"/>
            <a:ext cx="914400" cy="274320"/>
          </a:xfrm>
          <a:prstGeom prst="roundRect">
            <a:avLst>
              <a:gd name="adj" fmla="val 16667"/>
            </a:avLst>
          </a:prstGeom>
          <a:solidFill>
            <a:srgbClr val="CC4444"/>
          </a:solidFill>
          <a:ln/>
        </p:spPr>
      </p:sp>
      <p:sp>
        <p:nvSpPr>
          <p:cNvPr id="26" name="Text 24"/>
          <p:cNvSpPr/>
          <p:nvPr/>
        </p:nvSpPr>
        <p:spPr>
          <a:xfrm>
            <a:off x="7040880" y="2331720"/>
            <a:ext cx="91440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HIGH</a:t>
            </a:r>
            <a:endParaRPr lang="en-US" sz="1000" dirty="0"/>
          </a:p>
        </p:txBody>
      </p:sp>
      <p:sp>
        <p:nvSpPr>
          <p:cNvPr id="27" name="Shape 25"/>
          <p:cNvSpPr/>
          <p:nvPr/>
        </p:nvSpPr>
        <p:spPr>
          <a:xfrm>
            <a:off x="1463040" y="3017520"/>
            <a:ext cx="6675120" cy="731520"/>
          </a:xfrm>
          <a:prstGeom prst="rect">
            <a:avLst/>
          </a:prstGeom>
          <a:solidFill>
            <a:srgbClr val="1A1A2E"/>
          </a:solidFill>
          <a:ln w="19050">
            <a:solidFill>
              <a:srgbClr val="FFCC00"/>
            </a:solidFill>
            <a:prstDash val="solid"/>
          </a:ln>
        </p:spPr>
      </p:sp>
      <p:sp>
        <p:nvSpPr>
          <p:cNvPr id="28" name="Shape 26"/>
          <p:cNvSpPr/>
          <p:nvPr/>
        </p:nvSpPr>
        <p:spPr>
          <a:xfrm>
            <a:off x="1463040" y="3017520"/>
            <a:ext cx="6675120" cy="54864"/>
          </a:xfrm>
          <a:prstGeom prst="rect">
            <a:avLst/>
          </a:prstGeom>
          <a:solidFill>
            <a:srgbClr val="FFCC00"/>
          </a:solidFill>
          <a:ln/>
        </p:spPr>
      </p:sp>
      <p:sp>
        <p:nvSpPr>
          <p:cNvPr id="29" name="Text 27"/>
          <p:cNvSpPr/>
          <p:nvPr/>
        </p:nvSpPr>
        <p:spPr>
          <a:xfrm>
            <a:off x="1645920" y="3108960"/>
            <a:ext cx="4114800" cy="228600"/>
          </a:xfrm>
          <a:prstGeom prst="rect">
            <a:avLst/>
          </a:prstGeom>
          <a:noFill/>
          <a:ln/>
        </p:spPr>
        <p:txBody>
          <a:bodyPr wrap="square" lIns="0" tIns="0" rIns="0" bIns="0" rtlCol="0" anchor="ctr"/>
          <a:lstStyle/>
          <a:p>
            <a:pPr indent="0" marL="0">
              <a:buNone/>
            </a:pPr>
            <a:r>
              <a:rPr lang="en-US" sz="1300" b="1" dirty="0">
                <a:solidFill>
                  <a:srgbClr val="FFCC00"/>
                </a:solidFill>
                <a:latin typeface="Trebuchet MS" pitchFamily="34" charset="0"/>
                <a:ea typeface="Trebuchet MS" pitchFamily="34" charset="-122"/>
                <a:cs typeface="Trebuchet MS" pitchFamily="34" charset="-120"/>
              </a:rPr>
              <a:t>SOURCE AUTHORITY</a:t>
            </a:r>
            <a:endParaRPr lang="en-US" sz="1300" dirty="0"/>
          </a:p>
        </p:txBody>
      </p:sp>
      <p:sp>
        <p:nvSpPr>
          <p:cNvPr id="30" name="Text 28"/>
          <p:cNvSpPr/>
          <p:nvPr/>
        </p:nvSpPr>
        <p:spPr>
          <a:xfrm>
            <a:off x="1645920" y="3383280"/>
            <a:ext cx="5029200" cy="27432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Alex's analysis &gt; member data. AI needs clear attribution hierarchy.</a:t>
            </a:r>
            <a:endParaRPr lang="en-US" sz="1100" dirty="0"/>
          </a:p>
        </p:txBody>
      </p:sp>
      <p:sp>
        <p:nvSpPr>
          <p:cNvPr id="31" name="Shape 29"/>
          <p:cNvSpPr/>
          <p:nvPr/>
        </p:nvSpPr>
        <p:spPr>
          <a:xfrm>
            <a:off x="7040880" y="3246120"/>
            <a:ext cx="914400" cy="274320"/>
          </a:xfrm>
          <a:prstGeom prst="roundRect">
            <a:avLst>
              <a:gd name="adj" fmla="val 16667"/>
            </a:avLst>
          </a:prstGeom>
          <a:solidFill>
            <a:srgbClr val="FFCC00"/>
          </a:solidFill>
          <a:ln/>
        </p:spPr>
      </p:sp>
      <p:sp>
        <p:nvSpPr>
          <p:cNvPr id="32" name="Text 30"/>
          <p:cNvSpPr/>
          <p:nvPr/>
        </p:nvSpPr>
        <p:spPr>
          <a:xfrm>
            <a:off x="7040880" y="3246120"/>
            <a:ext cx="91440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MED</a:t>
            </a:r>
            <a:endParaRPr lang="en-US" sz="1000" dirty="0"/>
          </a:p>
        </p:txBody>
      </p:sp>
      <p:sp>
        <p:nvSpPr>
          <p:cNvPr id="33" name="Shape 31"/>
          <p:cNvSpPr/>
          <p:nvPr/>
        </p:nvSpPr>
        <p:spPr>
          <a:xfrm>
            <a:off x="1463040" y="3931920"/>
            <a:ext cx="6675120" cy="731520"/>
          </a:xfrm>
          <a:prstGeom prst="rect">
            <a:avLst/>
          </a:prstGeom>
          <a:solidFill>
            <a:srgbClr val="1A1A2E"/>
          </a:solidFill>
          <a:ln w="19050">
            <a:solidFill>
              <a:srgbClr val="FFCC00"/>
            </a:solidFill>
            <a:prstDash val="solid"/>
          </a:ln>
        </p:spPr>
      </p:sp>
      <p:sp>
        <p:nvSpPr>
          <p:cNvPr id="34" name="Shape 32"/>
          <p:cNvSpPr/>
          <p:nvPr/>
        </p:nvSpPr>
        <p:spPr>
          <a:xfrm>
            <a:off x="1463040" y="3931920"/>
            <a:ext cx="6675120" cy="54864"/>
          </a:xfrm>
          <a:prstGeom prst="rect">
            <a:avLst/>
          </a:prstGeom>
          <a:solidFill>
            <a:srgbClr val="FFCC00"/>
          </a:solidFill>
          <a:ln/>
        </p:spPr>
      </p:sp>
      <p:sp>
        <p:nvSpPr>
          <p:cNvPr id="35" name="Text 33"/>
          <p:cNvSpPr/>
          <p:nvPr/>
        </p:nvSpPr>
        <p:spPr>
          <a:xfrm>
            <a:off x="1645920" y="4023360"/>
            <a:ext cx="4114800" cy="228600"/>
          </a:xfrm>
          <a:prstGeom prst="rect">
            <a:avLst/>
          </a:prstGeom>
          <a:noFill/>
          <a:ln/>
        </p:spPr>
        <p:txBody>
          <a:bodyPr wrap="square" lIns="0" tIns="0" rIns="0" bIns="0" rtlCol="0" anchor="ctr"/>
          <a:lstStyle/>
          <a:p>
            <a:pPr indent="0" marL="0">
              <a:buNone/>
            </a:pPr>
            <a:r>
              <a:rPr lang="en-US" sz="1300" b="1" dirty="0">
                <a:solidFill>
                  <a:srgbClr val="FFCC00"/>
                </a:solidFill>
                <a:latin typeface="Trebuchet MS" pitchFamily="34" charset="0"/>
                <a:ea typeface="Trebuchet MS" pitchFamily="34" charset="-122"/>
                <a:cs typeface="Trebuchet MS" pitchFamily="34" charset="-120"/>
              </a:rPr>
              <a:t>HUMAN VERIFICATION</a:t>
            </a:r>
            <a:endParaRPr lang="en-US" sz="1300" dirty="0"/>
          </a:p>
        </p:txBody>
      </p:sp>
      <p:sp>
        <p:nvSpPr>
          <p:cNvPr id="36" name="Text 34"/>
          <p:cNvSpPr/>
          <p:nvPr/>
        </p:nvSpPr>
        <p:spPr>
          <a:xfrm>
            <a:off x="1645920" y="4297680"/>
            <a:ext cx="5029200" cy="27432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Claude works from images. Always verify critical fields before submit.</a:t>
            </a:r>
            <a:endParaRPr lang="en-US" sz="1100" dirty="0"/>
          </a:p>
        </p:txBody>
      </p:sp>
      <p:sp>
        <p:nvSpPr>
          <p:cNvPr id="37" name="Shape 35"/>
          <p:cNvSpPr/>
          <p:nvPr/>
        </p:nvSpPr>
        <p:spPr>
          <a:xfrm>
            <a:off x="7040880" y="4160520"/>
            <a:ext cx="914400" cy="274320"/>
          </a:xfrm>
          <a:prstGeom prst="roundRect">
            <a:avLst>
              <a:gd name="adj" fmla="val 16667"/>
            </a:avLst>
          </a:prstGeom>
          <a:solidFill>
            <a:srgbClr val="FFCC00"/>
          </a:solidFill>
          <a:ln/>
        </p:spPr>
      </p:sp>
      <p:sp>
        <p:nvSpPr>
          <p:cNvPr id="38" name="Text 36"/>
          <p:cNvSpPr/>
          <p:nvPr/>
        </p:nvSpPr>
        <p:spPr>
          <a:xfrm>
            <a:off x="7040880" y="4160520"/>
            <a:ext cx="914400" cy="274320"/>
          </a:xfrm>
          <a:prstGeom prst="rect">
            <a:avLst/>
          </a:prstGeom>
          <a:noFill/>
          <a:ln/>
        </p:spPr>
        <p:txBody>
          <a:bodyPr wrap="square" lIns="0" tIns="0" rIns="0" bIns="0" rtlCol="0" anchor="ctr"/>
          <a:lstStyle/>
          <a:p>
            <a:pPr algn="ctr" indent="0" marL="0">
              <a:buNone/>
            </a:pPr>
            <a:r>
              <a:rPr lang="en-US" sz="1000" b="1" dirty="0">
                <a:solidFill>
                  <a:srgbClr val="0A0A12"/>
                </a:solidFill>
                <a:latin typeface="Trebuchet MS" pitchFamily="34" charset="0"/>
                <a:ea typeface="Trebuchet MS" pitchFamily="34" charset="-122"/>
                <a:cs typeface="Trebuchet MS" pitchFamily="34" charset="-120"/>
              </a:rPr>
              <a:t>MED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SESSION SCORECARD</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February 10, 2026 — Final Assessment</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463040" y="1188720"/>
          <a:ext cx="7315200" cy="914400"/>
        </p:xfrm>
        <a:graphic>
          <a:graphicData uri="http://schemas.openxmlformats.org/drawingml/2006/table">
            <a:tbl>
              <a:tblPr/>
              <a:tblGrid>
                <a:gridCol w="2286000"/>
                <a:gridCol w="1188720"/>
                <a:gridCol w="3840480"/>
              </a:tblGrid>
              <a:tr h="320040">
                <a:tc>
                  <a:txBody>
                    <a:bodyPr/>
                    <a:lstStyle/>
                    <a:p>
                      <a:pPr indent="0" marL="0">
                        <a:buNone/>
                      </a:pPr>
                      <a:r>
                        <a:rPr lang="en-US" sz="1100" b="1" dirty="0">
                          <a:solidFill>
                            <a:srgbClr val="FFCC99"/>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c>
                  <a:txBody>
                    <a:bodyPr/>
                    <a:lstStyle/>
                    <a:p>
                      <a:pPr algn="ctr" indent="0" marL="0">
                        <a:buNone/>
                      </a:pPr>
                      <a:r>
                        <a:rPr lang="en-US" sz="1100" b="1" dirty="0">
                          <a:solidFill>
                            <a:srgbClr val="FFCC99"/>
                          </a:solidFill>
                          <a:latin typeface="Trebuchet MS" pitchFamily="34" charset="0"/>
                          <a:ea typeface="Trebuchet MS" pitchFamily="34" charset="-122"/>
                          <a:cs typeface="Trebuchet MS" pitchFamily="34" charset="-120"/>
                        </a:rPr>
                        <a:t>Rating</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c>
                  <a:txBody>
                    <a:bodyPr/>
                    <a:lstStyle/>
                    <a:p>
                      <a:pPr indent="0" marL="0">
                        <a:buNone/>
                      </a:pPr>
                      <a:r>
                        <a:rPr lang="en-US" sz="1100" b="1" dirty="0">
                          <a:solidFill>
                            <a:srgbClr val="FFCC99"/>
                          </a:solidFill>
                          <a:latin typeface="Trebuchet MS" pitchFamily="34" charset="0"/>
                          <a:ea typeface="Trebuchet MS" pitchFamily="34" charset="-122"/>
                          <a:cs typeface="Trebuchet MS" pitchFamily="34" charset="-120"/>
                        </a:rPr>
                        <a:t>Notes</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solidFill>
                      <a:srgbClr val="111122"/>
                    </a:solidFill>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Context Loading</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44CC66"/>
                          </a:solidFill>
                          <a:latin typeface="Trebuchet MS" pitchFamily="34" charset="0"/>
                          <a:ea typeface="Trebuchet MS" pitchFamily="34" charset="-122"/>
                          <a:cs typeface="Trebuchet MS" pitchFamily="34" charset="-120"/>
                        </a:rPr>
                        <a:t>EXCELLENT</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All phases completed, snapshot saved</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Alex Update Processing</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44CC66"/>
                          </a:solidFill>
                          <a:latin typeface="Trebuchet MS" pitchFamily="34" charset="0"/>
                          <a:ea typeface="Trebuchet MS" pitchFamily="34" charset="-122"/>
                          <a:cs typeface="Trebuchet MS" pitchFamily="34" charset="-120"/>
                        </a:rPr>
                        <a:t>EXCELLENT</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Clean conversion, proper trade plan</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Order Verification</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FFCC00"/>
                          </a:solidFill>
                          <a:latin typeface="Trebuchet MS" pitchFamily="34" charset="0"/>
                          <a:ea typeface="Trebuchet MS" pitchFamily="34" charset="-122"/>
                          <a:cs typeface="Trebuchet MS" pitchFamily="34" charset="-120"/>
                        </a:rPr>
                        <a:t>MIXED</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Caught pricing, missed quantity</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Error Recovery</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44CC66"/>
                          </a:solidFill>
                          <a:latin typeface="Trebuchet MS" pitchFamily="34" charset="0"/>
                          <a:ea typeface="Trebuchet MS" pitchFamily="34" charset="-122"/>
                          <a:cs typeface="Trebuchet MS" pitchFamily="34" charset="-120"/>
                        </a:rPr>
                        <a:t>EXCELLENT</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14 min to full resolution</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Chat Digest</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44CC66"/>
                          </a:solidFill>
                          <a:latin typeface="Trebuchet MS" pitchFamily="34" charset="0"/>
                          <a:ea typeface="Trebuchet MS" pitchFamily="34" charset="-122"/>
                          <a:cs typeface="Trebuchet MS" pitchFamily="34" charset="-120"/>
                        </a:rPr>
                        <a:t>GOOD</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Strong filtering, minor attribution</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Portfolio Metrics</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FFCC00"/>
                          </a:solidFill>
                          <a:latin typeface="Trebuchet MS" pitchFamily="34" charset="0"/>
                          <a:ea typeface="Trebuchet MS" pitchFamily="34" charset="-122"/>
                          <a:cs typeface="Trebuchet MS" pitchFamily="34" charset="-120"/>
                        </a:rPr>
                        <a:t>CORRECTED</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Wrong initially, fixed after challenge</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r h="320040">
                <a:tc>
                  <a:txBody>
                    <a:bodyPr/>
                    <a:lstStyle/>
                    <a:p>
                      <a:pPr indent="0" marL="0">
                        <a:buNone/>
                      </a:pPr>
                      <a:r>
                        <a:rPr lang="en-US" sz="1100" dirty="0">
                          <a:solidFill>
                            <a:srgbClr val="FFCC99"/>
                          </a:solidFill>
                          <a:latin typeface="Trebuchet MS" pitchFamily="34" charset="0"/>
                          <a:ea typeface="Trebuchet MS" pitchFamily="34" charset="-122"/>
                          <a:cs typeface="Trebuchet MS" pitchFamily="34" charset="-120"/>
                        </a:rPr>
                        <a:t>Documentation</a:t>
                      </a:r>
                      <a:endParaRPr lang="en-US" sz="11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algn="ctr" indent="0" marL="0">
                        <a:buNone/>
                      </a:pPr>
                      <a:r>
                        <a:rPr lang="en-US" sz="1000" b="1" dirty="0">
                          <a:solidFill>
                            <a:srgbClr val="44CC66"/>
                          </a:solidFill>
                          <a:latin typeface="Trebuchet MS" pitchFamily="34" charset="0"/>
                          <a:ea typeface="Trebuchet MS" pitchFamily="34" charset="-122"/>
                          <a:cs typeface="Trebuchet MS" pitchFamily="34" charset="-120"/>
                        </a:rPr>
                        <a:t>EXCELLENT</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c>
                  <a:txBody>
                    <a:bodyPr/>
                    <a:lstStyle/>
                    <a:p>
                      <a:pPr indent="0" marL="0">
                        <a:buNone/>
                      </a:pPr>
                      <a:r>
                        <a:rPr lang="en-US" sz="1000" dirty="0">
                          <a:solidFill>
                            <a:srgbClr val="9999AA"/>
                          </a:solidFill>
                          <a:latin typeface="Trebuchet MS" pitchFamily="34" charset="0"/>
                          <a:ea typeface="Trebuchet MS" pitchFamily="34" charset="-122"/>
                          <a:cs typeface="Trebuchet MS" pitchFamily="34" charset="-120"/>
                        </a:rPr>
                        <a:t>All trades and lessons saved</a:t>
                      </a:r>
                      <a:endParaRPr lang="en-US" sz="1000" dirty="0">
                        <a:latin typeface="Trebuchet MS" charset="0"/>
                        <a:ea typeface="Trebuchet MS" charset="0"/>
                        <a:cs typeface="Trebuchet MS" charset="0"/>
                      </a:endParaRPr>
                    </a:p>
                  </a:txBody>
                  <a:tcPr marL="76200" marR="76200" marT="50800" marB="50800">
                    <a:lnL w="6350" cap="flat" cmpd="sng" algn="ctr">
                      <a:solidFill>
                        <a:srgbClr val="9999AA"/>
                      </a:solidFill>
                      <a:prstDash val="solid"/>
                      <a:round/>
                      <a:headEnd type="none" w="med" len="med"/>
                      <a:tailEnd type="none" w="med" len="med"/>
                    </a:lnL>
                    <a:lnR w="6350" cap="flat" cmpd="sng" algn="ctr">
                      <a:solidFill>
                        <a:srgbClr val="9999AA"/>
                      </a:solidFill>
                      <a:prstDash val="solid"/>
                      <a:round/>
                      <a:headEnd type="none" w="med" len="med"/>
                      <a:tailEnd type="none" w="med" len="med"/>
                    </a:lnR>
                    <a:lnT w="6350" cap="flat" cmpd="sng" algn="ctr">
                      <a:solidFill>
                        <a:srgbClr val="9999AA"/>
                      </a:solidFill>
                      <a:prstDash val="solid"/>
                      <a:round/>
                      <a:headEnd type="none" w="med" len="med"/>
                      <a:tailEnd type="none" w="med" len="med"/>
                    </a:lnT>
                    <a:lnB w="6350" cap="flat" cmpd="sng" algn="ctr">
                      <a:solidFill>
                        <a:srgbClr val="9999AA"/>
                      </a:solidFill>
                      <a:prstDash val="solid"/>
                      <a:round/>
                      <a:headEnd type="none" w="med" len="med"/>
                      <a:tailEnd type="none" w="med" len="med"/>
                    </a:lnB>
                  </a:tcPr>
                </a:tc>
              </a:tr>
            </a:tbl>
          </a:graphicData>
        </a:graphic>
      </p:graphicFrame>
      <p:sp>
        <p:nvSpPr>
          <p:cNvPr id="16" name="Shape 13"/>
          <p:cNvSpPr/>
          <p:nvPr/>
        </p:nvSpPr>
        <p:spPr>
          <a:xfrm>
            <a:off x="1463040" y="3977640"/>
            <a:ext cx="7315200" cy="914400"/>
          </a:xfrm>
          <a:prstGeom prst="rect">
            <a:avLst/>
          </a:prstGeom>
          <a:solidFill>
            <a:srgbClr val="1A1A2E"/>
          </a:solidFill>
          <a:ln w="19050">
            <a:solidFill>
              <a:srgbClr val="FF9900"/>
            </a:solidFill>
            <a:prstDash val="solid"/>
          </a:ln>
        </p:spPr>
      </p:sp>
      <p:sp>
        <p:nvSpPr>
          <p:cNvPr id="17" name="Shape 14"/>
          <p:cNvSpPr/>
          <p:nvPr/>
        </p:nvSpPr>
        <p:spPr>
          <a:xfrm>
            <a:off x="1463040" y="3977640"/>
            <a:ext cx="7315200" cy="54864"/>
          </a:xfrm>
          <a:prstGeom prst="rect">
            <a:avLst/>
          </a:prstGeom>
          <a:solidFill>
            <a:srgbClr val="FF9900"/>
          </a:solidFill>
          <a:ln/>
        </p:spPr>
      </p:sp>
      <p:sp>
        <p:nvSpPr>
          <p:cNvPr id="18" name="Text 15"/>
          <p:cNvSpPr/>
          <p:nvPr/>
        </p:nvSpPr>
        <p:spPr>
          <a:xfrm>
            <a:off x="1645920" y="4114800"/>
            <a:ext cx="1828800" cy="274320"/>
          </a:xfrm>
          <a:prstGeom prst="rect">
            <a:avLst/>
          </a:prstGeom>
          <a:noFill/>
          <a:ln/>
        </p:spPr>
        <p:txBody>
          <a:bodyPr wrap="square" lIns="0" tIns="0" rIns="0" bIns="0" rtlCol="0" anchor="ctr"/>
          <a:lstStyle/>
          <a:p>
            <a:pPr indent="0" marL="0">
              <a:buNone/>
            </a:pPr>
            <a:r>
              <a:rPr lang="en-US" sz="1300" b="1" dirty="0">
                <a:solidFill>
                  <a:srgbClr val="FF9900"/>
                </a:solidFill>
                <a:latin typeface="Trebuchet MS" pitchFamily="34" charset="0"/>
                <a:ea typeface="Trebuchet MS" pitchFamily="34" charset="-122"/>
                <a:cs typeface="Trebuchet MS" pitchFamily="34" charset="-120"/>
              </a:rPr>
              <a:t>NET RESULT</a:t>
            </a:r>
            <a:endParaRPr lang="en-US" sz="1300" dirty="0"/>
          </a:p>
        </p:txBody>
      </p:sp>
      <p:sp>
        <p:nvSpPr>
          <p:cNvPr id="19" name="Text 16"/>
          <p:cNvSpPr/>
          <p:nvPr/>
        </p:nvSpPr>
        <p:spPr>
          <a:xfrm>
            <a:off x="1645920" y="4434840"/>
            <a:ext cx="6949440" cy="32004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10x Iron Condor  •  $712 premium  •  GTC closers working  •  All documented  •  3 lessons captured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TOOLS: CORE INFRASTRUCTURE</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The Building Blocks</a:t>
            </a:r>
            <a:endParaRPr lang="en-US" sz="2200" dirty="0"/>
          </a:p>
        </p:txBody>
      </p:sp>
      <p:sp>
        <p:nvSpPr>
          <p:cNvPr id="15" name="Shape 13"/>
          <p:cNvSpPr/>
          <p:nvPr/>
        </p:nvSpPr>
        <p:spPr>
          <a:xfrm>
            <a:off x="1463040" y="1143000"/>
            <a:ext cx="3474720" cy="1600200"/>
          </a:xfrm>
          <a:prstGeom prst="rect">
            <a:avLst/>
          </a:prstGeom>
          <a:solidFill>
            <a:srgbClr val="1A1A2E"/>
          </a:solidFill>
          <a:ln w="19050">
            <a:solidFill>
              <a:srgbClr val="FF9900"/>
            </a:solidFill>
            <a:prstDash val="solid"/>
          </a:ln>
        </p:spPr>
      </p:sp>
      <p:sp>
        <p:nvSpPr>
          <p:cNvPr id="16" name="Shape 14"/>
          <p:cNvSpPr/>
          <p:nvPr/>
        </p:nvSpPr>
        <p:spPr>
          <a:xfrm>
            <a:off x="1463040" y="1143000"/>
            <a:ext cx="3474720" cy="54864"/>
          </a:xfrm>
          <a:prstGeom prst="rect">
            <a:avLst/>
          </a:prstGeom>
          <a:solidFill>
            <a:srgbClr val="FF9900"/>
          </a:solidFill>
          <a:ln/>
        </p:spPr>
      </p:sp>
      <p:sp>
        <p:nvSpPr>
          <p:cNvPr id="17" name="Text 15"/>
          <p:cNvSpPr/>
          <p:nvPr/>
        </p:nvSpPr>
        <p:spPr>
          <a:xfrm>
            <a:off x="1645920" y="1280160"/>
            <a:ext cx="310896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CLAUDE DESKTOP PROJECT</a:t>
            </a:r>
            <a:endParaRPr lang="en-US" sz="1200" dirty="0"/>
          </a:p>
        </p:txBody>
      </p:sp>
      <p:sp>
        <p:nvSpPr>
          <p:cNvPr id="18" name="Text 16"/>
          <p:cNvSpPr/>
          <p:nvPr/>
        </p:nvSpPr>
        <p:spPr>
          <a:xfrm>
            <a:off x="1645920" y="1645920"/>
            <a:ext cx="310896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Persistent AI workspace with custom instructions, 27 reference documents, and tool connections. Retains config across sessions.</a:t>
            </a:r>
            <a:endParaRPr lang="en-US" sz="1100" dirty="0"/>
          </a:p>
        </p:txBody>
      </p:sp>
      <p:sp>
        <p:nvSpPr>
          <p:cNvPr id="19" name="Shape 17"/>
          <p:cNvSpPr/>
          <p:nvPr/>
        </p:nvSpPr>
        <p:spPr>
          <a:xfrm>
            <a:off x="5212080" y="1143000"/>
            <a:ext cx="3566160" cy="1600200"/>
          </a:xfrm>
          <a:prstGeom prst="rect">
            <a:avLst/>
          </a:prstGeom>
          <a:solidFill>
            <a:srgbClr val="1A1A2E"/>
          </a:solidFill>
          <a:ln w="19050">
            <a:solidFill>
              <a:srgbClr val="66CCCC"/>
            </a:solidFill>
            <a:prstDash val="solid"/>
          </a:ln>
        </p:spPr>
      </p:sp>
      <p:sp>
        <p:nvSpPr>
          <p:cNvPr id="20" name="Shape 18"/>
          <p:cNvSpPr/>
          <p:nvPr/>
        </p:nvSpPr>
        <p:spPr>
          <a:xfrm>
            <a:off x="5212080" y="1143000"/>
            <a:ext cx="3566160" cy="54864"/>
          </a:xfrm>
          <a:prstGeom prst="rect">
            <a:avLst/>
          </a:prstGeom>
          <a:solidFill>
            <a:srgbClr val="66CCCC"/>
          </a:solidFill>
          <a:ln/>
        </p:spPr>
      </p:sp>
      <p:sp>
        <p:nvSpPr>
          <p:cNvPr id="21" name="Text 19"/>
          <p:cNvSpPr/>
          <p:nvPr/>
        </p:nvSpPr>
        <p:spPr>
          <a:xfrm>
            <a:off x="5394960" y="1280160"/>
            <a:ext cx="3108960" cy="274320"/>
          </a:xfrm>
          <a:prstGeom prst="rect">
            <a:avLst/>
          </a:prstGeom>
          <a:noFill/>
          <a:ln/>
        </p:spPr>
        <p:txBody>
          <a:bodyPr wrap="square" lIns="0" tIns="0" rIns="0" bIns="0" rtlCol="0" anchor="ctr"/>
          <a:lstStyle/>
          <a:p>
            <a:pPr indent="0" marL="0">
              <a:buNone/>
            </a:pPr>
            <a:r>
              <a:rPr lang="en-US" sz="1200" b="1" dirty="0">
                <a:solidFill>
                  <a:srgbClr val="66CCCC"/>
                </a:solidFill>
                <a:latin typeface="Trebuchet MS" pitchFamily="34" charset="0"/>
                <a:ea typeface="Trebuchet MS" pitchFamily="34" charset="-122"/>
                <a:cs typeface="Trebuchet MS" pitchFamily="34" charset="-120"/>
              </a:rPr>
              <a:t>CONTEXT VAULT</a:t>
            </a:r>
            <a:endParaRPr lang="en-US" sz="1200" dirty="0"/>
          </a:p>
        </p:txBody>
      </p:sp>
      <p:sp>
        <p:nvSpPr>
          <p:cNvPr id="22" name="Text 20"/>
          <p:cNvSpPr/>
          <p:nvPr/>
        </p:nvSpPr>
        <p:spPr>
          <a:xfrm>
            <a:off x="5394960" y="1645920"/>
            <a:ext cx="310896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External persistent memory via MCP. Stores journals, tickets, snapshots, lessons. Searchable by tags. Survives across all conversations.</a:t>
            </a:r>
            <a:endParaRPr lang="en-US" sz="1100" dirty="0"/>
          </a:p>
        </p:txBody>
      </p:sp>
      <p:sp>
        <p:nvSpPr>
          <p:cNvPr id="23" name="Shape 21"/>
          <p:cNvSpPr/>
          <p:nvPr/>
        </p:nvSpPr>
        <p:spPr>
          <a:xfrm>
            <a:off x="1463040" y="2971800"/>
            <a:ext cx="3474720" cy="1600200"/>
          </a:xfrm>
          <a:prstGeom prst="rect">
            <a:avLst/>
          </a:prstGeom>
          <a:solidFill>
            <a:srgbClr val="1A1A2E"/>
          </a:solidFill>
          <a:ln w="19050">
            <a:solidFill>
              <a:srgbClr val="9999FF"/>
            </a:solidFill>
            <a:prstDash val="solid"/>
          </a:ln>
        </p:spPr>
      </p:sp>
      <p:sp>
        <p:nvSpPr>
          <p:cNvPr id="24" name="Shape 22"/>
          <p:cNvSpPr/>
          <p:nvPr/>
        </p:nvSpPr>
        <p:spPr>
          <a:xfrm>
            <a:off x="1463040" y="2971800"/>
            <a:ext cx="3474720" cy="54864"/>
          </a:xfrm>
          <a:prstGeom prst="rect">
            <a:avLst/>
          </a:prstGeom>
          <a:solidFill>
            <a:srgbClr val="9999FF"/>
          </a:solidFill>
          <a:ln/>
        </p:spPr>
      </p:sp>
      <p:sp>
        <p:nvSpPr>
          <p:cNvPr id="25" name="Text 23"/>
          <p:cNvSpPr/>
          <p:nvPr/>
        </p:nvSpPr>
        <p:spPr>
          <a:xfrm>
            <a:off x="1645920" y="3108960"/>
            <a:ext cx="3108960" cy="274320"/>
          </a:xfrm>
          <a:prstGeom prst="rect">
            <a:avLst/>
          </a:prstGeom>
          <a:noFill/>
          <a:ln/>
        </p:spPr>
        <p:txBody>
          <a:bodyPr wrap="square" lIns="0" tIns="0" rIns="0" bIns="0" rtlCol="0" anchor="ctr"/>
          <a:lstStyle/>
          <a:p>
            <a:pPr indent="0" marL="0">
              <a:buNone/>
            </a:pPr>
            <a:r>
              <a:rPr lang="en-US" sz="1200" b="1" dirty="0">
                <a:solidFill>
                  <a:srgbClr val="9999FF"/>
                </a:solidFill>
                <a:latin typeface="Trebuchet MS" pitchFamily="34" charset="0"/>
                <a:ea typeface="Trebuchet MS" pitchFamily="34" charset="-122"/>
                <a:cs typeface="Trebuchet MS" pitchFamily="34" charset="-120"/>
              </a:rPr>
              <a:t>NEON POSTGRESQL DATABASE</a:t>
            </a:r>
            <a:endParaRPr lang="en-US" sz="1200" dirty="0"/>
          </a:p>
        </p:txBody>
      </p:sp>
      <p:sp>
        <p:nvSpPr>
          <p:cNvPr id="26" name="Text 24"/>
          <p:cNvSpPr/>
          <p:nvPr/>
        </p:nvSpPr>
        <p:spPr>
          <a:xfrm>
            <a:off x="1645920" y="3474720"/>
            <a:ext cx="310896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Position tracking with categories: mp_core, mp_anchor, hedge, gap_insurance, ic_leg, leap. Transforms flat lists into structured portfolio.</a:t>
            </a:r>
            <a:endParaRPr lang="en-US" sz="1100" dirty="0"/>
          </a:p>
        </p:txBody>
      </p:sp>
      <p:sp>
        <p:nvSpPr>
          <p:cNvPr id="27" name="Shape 25"/>
          <p:cNvSpPr/>
          <p:nvPr/>
        </p:nvSpPr>
        <p:spPr>
          <a:xfrm>
            <a:off x="5212080" y="2971800"/>
            <a:ext cx="3566160" cy="1600200"/>
          </a:xfrm>
          <a:prstGeom prst="rect">
            <a:avLst/>
          </a:prstGeom>
          <a:solidFill>
            <a:srgbClr val="1A1A2E"/>
          </a:solidFill>
          <a:ln w="19050">
            <a:solidFill>
              <a:srgbClr val="CC99CC"/>
            </a:solidFill>
            <a:prstDash val="solid"/>
          </a:ln>
        </p:spPr>
      </p:sp>
      <p:sp>
        <p:nvSpPr>
          <p:cNvPr id="28" name="Shape 26"/>
          <p:cNvSpPr/>
          <p:nvPr/>
        </p:nvSpPr>
        <p:spPr>
          <a:xfrm>
            <a:off x="5212080" y="2971800"/>
            <a:ext cx="3566160" cy="54864"/>
          </a:xfrm>
          <a:prstGeom prst="rect">
            <a:avLst/>
          </a:prstGeom>
          <a:solidFill>
            <a:srgbClr val="CC99CC"/>
          </a:solidFill>
          <a:ln/>
        </p:spPr>
      </p:sp>
      <p:sp>
        <p:nvSpPr>
          <p:cNvPr id="29" name="Text 27"/>
          <p:cNvSpPr/>
          <p:nvPr/>
        </p:nvSpPr>
        <p:spPr>
          <a:xfrm>
            <a:off x="5394960" y="3108960"/>
            <a:ext cx="3108960" cy="274320"/>
          </a:xfrm>
          <a:prstGeom prst="rect">
            <a:avLst/>
          </a:prstGeom>
          <a:noFill/>
          <a:ln/>
        </p:spPr>
        <p:txBody>
          <a:bodyPr wrap="square" lIns="0" tIns="0" rIns="0" bIns="0" rtlCol="0" anchor="ctr"/>
          <a:lstStyle/>
          <a:p>
            <a:pPr indent="0" marL="0">
              <a:buNone/>
            </a:pPr>
            <a:r>
              <a:rPr lang="en-US" sz="1200" b="1" dirty="0">
                <a:solidFill>
                  <a:srgbClr val="CC99CC"/>
                </a:solidFill>
                <a:latin typeface="Trebuchet MS" pitchFamily="34" charset="0"/>
                <a:ea typeface="Trebuchet MS" pitchFamily="34" charset="-122"/>
                <a:cs typeface="Trebuchet MS" pitchFamily="34" charset="-120"/>
              </a:rPr>
              <a:t>TRADE TICKET SYSTEM</a:t>
            </a:r>
            <a:endParaRPr lang="en-US" sz="1200" dirty="0"/>
          </a:p>
        </p:txBody>
      </p:sp>
      <p:sp>
        <p:nvSpPr>
          <p:cNvPr id="30" name="Text 28"/>
          <p:cNvSpPr/>
          <p:nvPr/>
        </p:nvSpPr>
        <p:spPr>
          <a:xfrm>
            <a:off x="5394960" y="3474720"/>
            <a:ext cx="3108960" cy="86868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Documentation protocol in Project instructions. Numbered tickets before execution with intent, category, source. Full audit trail.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TOOLS: DATA SOURCES</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Inputs That Feed the System</a:t>
            </a:r>
            <a:endParaRPr lang="en-US" sz="2200" dirty="0"/>
          </a:p>
        </p:txBody>
      </p:sp>
      <p:sp>
        <p:nvSpPr>
          <p:cNvPr id="15" name="Shape 13"/>
          <p:cNvSpPr/>
          <p:nvPr/>
        </p:nvSpPr>
        <p:spPr>
          <a:xfrm>
            <a:off x="1463040" y="1143000"/>
            <a:ext cx="3657600" cy="1371600"/>
          </a:xfrm>
          <a:prstGeom prst="rect">
            <a:avLst/>
          </a:prstGeom>
          <a:solidFill>
            <a:srgbClr val="1A1A2E"/>
          </a:solidFill>
          <a:ln w="19050">
            <a:solidFill>
              <a:srgbClr val="FF9900"/>
            </a:solidFill>
            <a:prstDash val="solid"/>
          </a:ln>
        </p:spPr>
      </p:sp>
      <p:sp>
        <p:nvSpPr>
          <p:cNvPr id="16" name="Shape 14"/>
          <p:cNvSpPr/>
          <p:nvPr/>
        </p:nvSpPr>
        <p:spPr>
          <a:xfrm>
            <a:off x="1463040" y="1143000"/>
            <a:ext cx="3657600" cy="54864"/>
          </a:xfrm>
          <a:prstGeom prst="rect">
            <a:avLst/>
          </a:prstGeom>
          <a:solidFill>
            <a:srgbClr val="FF9900"/>
          </a:solidFill>
          <a:ln/>
        </p:spPr>
      </p:sp>
      <p:sp>
        <p:nvSpPr>
          <p:cNvPr id="17" name="Text 15"/>
          <p:cNvSpPr/>
          <p:nvPr/>
        </p:nvSpPr>
        <p:spPr>
          <a:xfrm>
            <a:off x="1645920" y="1280160"/>
            <a:ext cx="3108960" cy="274320"/>
          </a:xfrm>
          <a:prstGeom prst="rect">
            <a:avLst/>
          </a:prstGeom>
          <a:noFill/>
          <a:ln/>
        </p:spPr>
        <p:txBody>
          <a:bodyPr wrap="square" lIns="0" tIns="0" rIns="0" bIns="0" rtlCol="0" anchor="ctr"/>
          <a:lstStyle/>
          <a:p>
            <a:pPr indent="0" marL="0">
              <a:buNone/>
            </a:pPr>
            <a:r>
              <a:rPr lang="en-US" sz="1200" b="1" dirty="0">
                <a:solidFill>
                  <a:srgbClr val="FF9900"/>
                </a:solidFill>
                <a:latin typeface="Trebuchet MS" pitchFamily="34" charset="0"/>
                <a:ea typeface="Trebuchet MS" pitchFamily="34" charset="-122"/>
                <a:cs typeface="Trebuchet MS" pitchFamily="34" charset="-120"/>
              </a:rPr>
              <a:t>TASTYTRADE (BROKER)</a:t>
            </a:r>
            <a:endParaRPr lang="en-US" sz="1200" dirty="0"/>
          </a:p>
        </p:txBody>
      </p:sp>
      <p:sp>
        <p:nvSpPr>
          <p:cNvPr id="18" name="Text 16"/>
          <p:cNvSpPr/>
          <p:nvPr/>
        </p:nvSpPr>
        <p:spPr>
          <a:xfrm>
            <a:off x="1645920" y="1600200"/>
            <a:ext cx="3108960" cy="73152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Ultimate source of truth. Live positions, real-time Greeks, P/L, buying power. Two CSV types exported daily.</a:t>
            </a:r>
            <a:endParaRPr lang="en-US" sz="1100" dirty="0"/>
          </a:p>
        </p:txBody>
      </p:sp>
      <p:sp>
        <p:nvSpPr>
          <p:cNvPr id="19" name="Shape 17"/>
          <p:cNvSpPr/>
          <p:nvPr/>
        </p:nvSpPr>
        <p:spPr>
          <a:xfrm>
            <a:off x="5394960" y="1143000"/>
            <a:ext cx="3383280" cy="1371600"/>
          </a:xfrm>
          <a:prstGeom prst="rect">
            <a:avLst/>
          </a:prstGeom>
          <a:solidFill>
            <a:srgbClr val="1A1A2E"/>
          </a:solidFill>
          <a:ln w="19050">
            <a:solidFill>
              <a:srgbClr val="FFAA00"/>
            </a:solidFill>
            <a:prstDash val="solid"/>
          </a:ln>
        </p:spPr>
      </p:sp>
      <p:sp>
        <p:nvSpPr>
          <p:cNvPr id="20" name="Shape 18"/>
          <p:cNvSpPr/>
          <p:nvPr/>
        </p:nvSpPr>
        <p:spPr>
          <a:xfrm>
            <a:off x="5394960" y="1143000"/>
            <a:ext cx="3383280" cy="54864"/>
          </a:xfrm>
          <a:prstGeom prst="rect">
            <a:avLst/>
          </a:prstGeom>
          <a:solidFill>
            <a:srgbClr val="FFAA00"/>
          </a:solidFill>
          <a:ln/>
        </p:spPr>
      </p:sp>
      <p:sp>
        <p:nvSpPr>
          <p:cNvPr id="21" name="Text 19"/>
          <p:cNvSpPr/>
          <p:nvPr/>
        </p:nvSpPr>
        <p:spPr>
          <a:xfrm>
            <a:off x="5577840" y="1280160"/>
            <a:ext cx="310896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CSV UPLOADS</a:t>
            </a:r>
            <a:endParaRPr lang="en-US" sz="1200" dirty="0"/>
          </a:p>
        </p:txBody>
      </p:sp>
      <p:sp>
        <p:nvSpPr>
          <p:cNvPr id="22" name="Text 20"/>
          <p:cNvSpPr/>
          <p:nvPr/>
        </p:nvSpPr>
        <p:spPr>
          <a:xfrm>
            <a:off x="5577840" y="1600200"/>
            <a:ext cx="3108960" cy="73152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Position Report: open positions with Greeks.</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Activity Report: fills, working orders, timestamps.</a:t>
            </a:r>
            <a:endParaRPr lang="en-US" sz="1100" dirty="0"/>
          </a:p>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Do NOT persist between sessions.</a:t>
            </a:r>
            <a:endParaRPr lang="en-US" sz="1100" dirty="0"/>
          </a:p>
        </p:txBody>
      </p:sp>
      <p:sp>
        <p:nvSpPr>
          <p:cNvPr id="23" name="Shape 21"/>
          <p:cNvSpPr/>
          <p:nvPr/>
        </p:nvSpPr>
        <p:spPr>
          <a:xfrm>
            <a:off x="1463040" y="2743200"/>
            <a:ext cx="3657600" cy="1371600"/>
          </a:xfrm>
          <a:prstGeom prst="rect">
            <a:avLst/>
          </a:prstGeom>
          <a:solidFill>
            <a:srgbClr val="1A1A2E"/>
          </a:solidFill>
          <a:ln w="19050">
            <a:solidFill>
              <a:srgbClr val="66CCCC"/>
            </a:solidFill>
            <a:prstDash val="solid"/>
          </a:ln>
        </p:spPr>
      </p:sp>
      <p:sp>
        <p:nvSpPr>
          <p:cNvPr id="24" name="Shape 22"/>
          <p:cNvSpPr/>
          <p:nvPr/>
        </p:nvSpPr>
        <p:spPr>
          <a:xfrm>
            <a:off x="1463040" y="2743200"/>
            <a:ext cx="3657600" cy="54864"/>
          </a:xfrm>
          <a:prstGeom prst="rect">
            <a:avLst/>
          </a:prstGeom>
          <a:solidFill>
            <a:srgbClr val="66CCCC"/>
          </a:solidFill>
          <a:ln/>
        </p:spPr>
      </p:sp>
      <p:sp>
        <p:nvSpPr>
          <p:cNvPr id="25" name="Text 23"/>
          <p:cNvSpPr/>
          <p:nvPr/>
        </p:nvSpPr>
        <p:spPr>
          <a:xfrm>
            <a:off x="1645920" y="2880360"/>
            <a:ext cx="3108960" cy="274320"/>
          </a:xfrm>
          <a:prstGeom prst="rect">
            <a:avLst/>
          </a:prstGeom>
          <a:noFill/>
          <a:ln/>
        </p:spPr>
        <p:txBody>
          <a:bodyPr wrap="square" lIns="0" tIns="0" rIns="0" bIns="0" rtlCol="0" anchor="ctr"/>
          <a:lstStyle/>
          <a:p>
            <a:pPr indent="0" marL="0">
              <a:buNone/>
            </a:pPr>
            <a:r>
              <a:rPr lang="en-US" sz="1200" b="1" dirty="0">
                <a:solidFill>
                  <a:srgbClr val="66CCCC"/>
                </a:solidFill>
                <a:latin typeface="Trebuchet MS" pitchFamily="34" charset="0"/>
                <a:ea typeface="Trebuchet MS" pitchFamily="34" charset="-122"/>
                <a:cs typeface="Trebuchet MS" pitchFamily="34" charset="-120"/>
              </a:rPr>
              <a:t>STRATEGY GUIDE</a:t>
            </a:r>
            <a:endParaRPr lang="en-US" sz="1200" dirty="0"/>
          </a:p>
        </p:txBody>
      </p:sp>
      <p:sp>
        <p:nvSpPr>
          <p:cNvPr id="26" name="Text 24"/>
          <p:cNvSpPr/>
          <p:nvPr/>
        </p:nvSpPr>
        <p:spPr>
          <a:xfrm>
            <a:off x="1645920" y="3200400"/>
            <a:ext cx="3108960" cy="73152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Living Markdown document co-developed with Claude. Conversion rules, procedures, accumulated lessons. Updated continuously.</a:t>
            </a:r>
            <a:endParaRPr lang="en-US" sz="1100" dirty="0"/>
          </a:p>
        </p:txBody>
      </p:sp>
      <p:sp>
        <p:nvSpPr>
          <p:cNvPr id="27" name="Shape 25"/>
          <p:cNvSpPr/>
          <p:nvPr/>
        </p:nvSpPr>
        <p:spPr>
          <a:xfrm>
            <a:off x="5394960" y="2743200"/>
            <a:ext cx="3383280" cy="1371600"/>
          </a:xfrm>
          <a:prstGeom prst="rect">
            <a:avLst/>
          </a:prstGeom>
          <a:solidFill>
            <a:srgbClr val="1A1A2E"/>
          </a:solidFill>
          <a:ln w="19050">
            <a:solidFill>
              <a:srgbClr val="9999FF"/>
            </a:solidFill>
            <a:prstDash val="solid"/>
          </a:ln>
        </p:spPr>
      </p:sp>
      <p:sp>
        <p:nvSpPr>
          <p:cNvPr id="28" name="Shape 26"/>
          <p:cNvSpPr/>
          <p:nvPr/>
        </p:nvSpPr>
        <p:spPr>
          <a:xfrm>
            <a:off x="5394960" y="2743200"/>
            <a:ext cx="3383280" cy="54864"/>
          </a:xfrm>
          <a:prstGeom prst="rect">
            <a:avLst/>
          </a:prstGeom>
          <a:solidFill>
            <a:srgbClr val="9999FF"/>
          </a:solidFill>
          <a:ln/>
        </p:spPr>
      </p:sp>
      <p:sp>
        <p:nvSpPr>
          <p:cNvPr id="29" name="Text 27"/>
          <p:cNvSpPr/>
          <p:nvPr/>
        </p:nvSpPr>
        <p:spPr>
          <a:xfrm>
            <a:off x="5577840" y="2880360"/>
            <a:ext cx="3108960" cy="274320"/>
          </a:xfrm>
          <a:prstGeom prst="rect">
            <a:avLst/>
          </a:prstGeom>
          <a:noFill/>
          <a:ln/>
        </p:spPr>
        <p:txBody>
          <a:bodyPr wrap="square" lIns="0" tIns="0" rIns="0" bIns="0" rtlCol="0" anchor="ctr"/>
          <a:lstStyle/>
          <a:p>
            <a:pPr indent="0" marL="0">
              <a:buNone/>
            </a:pPr>
            <a:r>
              <a:rPr lang="en-US" sz="1200" b="1" dirty="0">
                <a:solidFill>
                  <a:srgbClr val="9999FF"/>
                </a:solidFill>
                <a:latin typeface="Trebuchet MS" pitchFamily="34" charset="0"/>
                <a:ea typeface="Trebuchet MS" pitchFamily="34" charset="-122"/>
                <a:cs typeface="Trebuchet MS" pitchFamily="34" charset="-120"/>
              </a:rPr>
              <a:t>PROJECT KNOWLEDGE</a:t>
            </a:r>
            <a:endParaRPr lang="en-US" sz="1200" dirty="0"/>
          </a:p>
        </p:txBody>
      </p:sp>
      <p:sp>
        <p:nvSpPr>
          <p:cNvPr id="30" name="Text 28"/>
          <p:cNvSpPr/>
          <p:nvPr/>
        </p:nvSpPr>
        <p:spPr>
          <a:xfrm>
            <a:off x="5577840" y="3200400"/>
            <a:ext cx="3108960" cy="731520"/>
          </a:xfrm>
          <a:prstGeom prst="rect">
            <a:avLst/>
          </a:prstGeom>
          <a:noFill/>
          <a:ln/>
        </p:spPr>
        <p:txBody>
          <a:bodyPr wrap="square" lIns="0" tIns="0" rIns="0" bIns="0" rtlCol="0" anchor="ctr"/>
          <a:lstStyle/>
          <a:p>
            <a:pPr indent="0" marL="0">
              <a:lnSpc>
                <a:spcPct val="130000"/>
              </a:lnSpc>
              <a:buNone/>
            </a:pPr>
            <a:r>
              <a:rPr lang="en-US" sz="1100" dirty="0">
                <a:solidFill>
                  <a:srgbClr val="FFCC99"/>
                </a:solidFill>
                <a:latin typeface="Trebuchet MS" pitchFamily="34" charset="0"/>
                <a:ea typeface="Trebuchet MS" pitchFamily="34" charset="-122"/>
                <a:cs typeface="Trebuchet MS" pitchFamily="34" charset="-120"/>
              </a:rPr>
              <a:t>27 reference files: Strategy Guide, FAQs, reconciliation frameworks, Alex's materials. Claude searches before answering.</a:t>
            </a:r>
            <a:endParaRPr lang="en-US" sz="1100" dirty="0"/>
          </a:p>
        </p:txBody>
      </p:sp>
      <p:sp>
        <p:nvSpPr>
          <p:cNvPr id="31" name="Shape 29"/>
          <p:cNvSpPr/>
          <p:nvPr/>
        </p:nvSpPr>
        <p:spPr>
          <a:xfrm>
            <a:off x="1463040" y="4343400"/>
            <a:ext cx="7315200" cy="640080"/>
          </a:xfrm>
          <a:prstGeom prst="rect">
            <a:avLst/>
          </a:prstGeom>
          <a:solidFill>
            <a:srgbClr val="1A1A2E"/>
          </a:solidFill>
          <a:ln w="19050">
            <a:solidFill>
              <a:srgbClr val="CC99CC"/>
            </a:solidFill>
            <a:prstDash val="solid"/>
          </a:ln>
        </p:spPr>
      </p:sp>
      <p:sp>
        <p:nvSpPr>
          <p:cNvPr id="32" name="Shape 30"/>
          <p:cNvSpPr/>
          <p:nvPr/>
        </p:nvSpPr>
        <p:spPr>
          <a:xfrm>
            <a:off x="1463040" y="4343400"/>
            <a:ext cx="7315200" cy="54864"/>
          </a:xfrm>
          <a:prstGeom prst="rect">
            <a:avLst/>
          </a:prstGeom>
          <a:solidFill>
            <a:srgbClr val="CC99CC"/>
          </a:solidFill>
          <a:ln/>
        </p:spPr>
      </p:sp>
      <p:sp>
        <p:nvSpPr>
          <p:cNvPr id="33" name="Text 31"/>
          <p:cNvSpPr/>
          <p:nvPr/>
        </p:nvSpPr>
        <p:spPr>
          <a:xfrm>
            <a:off x="1645920" y="4480560"/>
            <a:ext cx="6949440" cy="365760"/>
          </a:xfrm>
          <a:prstGeom prst="rect">
            <a:avLst/>
          </a:prstGeom>
          <a:noFill/>
          <a:ln/>
        </p:spPr>
        <p:txBody>
          <a:bodyPr wrap="square" lIns="0" tIns="0" rIns="0" bIns="0" rtlCol="0" anchor="ctr"/>
          <a:lstStyle/>
          <a:p>
            <a:pPr indent="0" marL="0">
              <a:buNone/>
            </a:pPr>
            <a:r>
              <a:rPr lang="en-US" sz="1200" dirty="0">
                <a:solidFill>
                  <a:srgbClr val="FFCC99"/>
                </a:solidFill>
                <a:latin typeface="Trebuchet MS" pitchFamily="34" charset="0"/>
                <a:ea typeface="Trebuchet MS" pitchFamily="34" charset="-122"/>
                <a:cs typeface="Trebuchet MS" pitchFamily="34" charset="-120"/>
              </a:rPr>
              <a:t>These tools work together: broker data feeds the database, the database feeds Context Vault, and the Strategy Guide informs every decision.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THE LIVING STRATEGY GUIDE</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Our Collaboratively Built Playbook</a:t>
            </a:r>
            <a:endParaRPr lang="en-US" sz="2200" dirty="0"/>
          </a:p>
        </p:txBody>
      </p:sp>
      <p:sp>
        <p:nvSpPr>
          <p:cNvPr id="15" name="Shape 13"/>
          <p:cNvSpPr/>
          <p:nvPr/>
        </p:nvSpPr>
        <p:spPr>
          <a:xfrm>
            <a:off x="1463040" y="1143000"/>
            <a:ext cx="3840480" cy="2560320"/>
          </a:xfrm>
          <a:prstGeom prst="rect">
            <a:avLst/>
          </a:prstGeom>
          <a:solidFill>
            <a:srgbClr val="1A1A2E"/>
          </a:solidFill>
          <a:ln w="19050">
            <a:solidFill>
              <a:srgbClr val="66CCCC"/>
            </a:solidFill>
            <a:prstDash val="solid"/>
          </a:ln>
        </p:spPr>
      </p:sp>
      <p:sp>
        <p:nvSpPr>
          <p:cNvPr id="16" name="Shape 14"/>
          <p:cNvSpPr/>
          <p:nvPr/>
        </p:nvSpPr>
        <p:spPr>
          <a:xfrm>
            <a:off x="1463040" y="1143000"/>
            <a:ext cx="3840480" cy="54864"/>
          </a:xfrm>
          <a:prstGeom prst="rect">
            <a:avLst/>
          </a:prstGeom>
          <a:solidFill>
            <a:srgbClr val="66CCCC"/>
          </a:solidFill>
          <a:ln/>
        </p:spPr>
      </p:sp>
      <p:sp>
        <p:nvSpPr>
          <p:cNvPr id="17" name="Text 15"/>
          <p:cNvSpPr/>
          <p:nvPr/>
        </p:nvSpPr>
        <p:spPr>
          <a:xfrm>
            <a:off x="1645920" y="1280160"/>
            <a:ext cx="3474720" cy="274320"/>
          </a:xfrm>
          <a:prstGeom prst="rect">
            <a:avLst/>
          </a:prstGeom>
          <a:noFill/>
          <a:ln/>
        </p:spPr>
        <p:txBody>
          <a:bodyPr wrap="square" lIns="0" tIns="0" rIns="0" bIns="0" rtlCol="0" anchor="ctr"/>
          <a:lstStyle/>
          <a:p>
            <a:pPr indent="0" marL="0">
              <a:buNone/>
            </a:pPr>
            <a:r>
              <a:rPr lang="en-US" sz="1200" b="1" dirty="0">
                <a:solidFill>
                  <a:srgbClr val="66CCCC"/>
                </a:solidFill>
                <a:latin typeface="Trebuchet MS" pitchFamily="34" charset="0"/>
                <a:ea typeface="Trebuchet MS" pitchFamily="34" charset="-122"/>
                <a:cs typeface="Trebuchet MS" pitchFamily="34" charset="-120"/>
              </a:rPr>
              <a:t>WHAT IT CAPTURES</a:t>
            </a:r>
            <a:endParaRPr lang="en-US" sz="1200" dirty="0"/>
          </a:p>
        </p:txBody>
      </p:sp>
      <p:sp>
        <p:nvSpPr>
          <p:cNvPr id="18" name="Text 16"/>
          <p:cNvSpPr/>
          <p:nvPr/>
        </p:nvSpPr>
        <p:spPr>
          <a:xfrm>
            <a:off x="1645920" y="1645920"/>
            <a:ext cx="3474720" cy="1828800"/>
          </a:xfrm>
          <a:prstGeom prst="rect">
            <a:avLst/>
          </a:prstGeom>
          <a:noFill/>
          <a:ln/>
        </p:spPr>
        <p:txBody>
          <a:bodyPr wrap="square" lIns="0" tIns="0" rIns="0" bIns="0" rtlCol="0" anchor="ctr"/>
          <a:lstStyle/>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SPX → XSP conversion tables &amp; rules</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MWF roll cadence procedures</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Sacred Rule: 1:1 short-to-long ratio</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Position management by category</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Gap Insurance entry/exit triggers</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Bear Call Spread sizing guidelines</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Alex's key principles &amp; quotes</a:t>
            </a:r>
            <a:endParaRPr lang="en-US" sz="1100" dirty="0"/>
          </a:p>
          <a:p>
            <a:pPr marL="342900" indent="-342900">
              <a:lnSpc>
                <a:spcPct val="125000"/>
              </a:lnSpc>
              <a:buSzPct val="100000"/>
              <a:buChar char="•"/>
            </a:pPr>
            <a:r>
              <a:rPr lang="en-US" sz="1100" dirty="0">
                <a:solidFill>
                  <a:srgbClr val="FFCC99"/>
                </a:solidFill>
                <a:latin typeface="Trebuchet MS" pitchFamily="34" charset="0"/>
                <a:ea typeface="Trebuchet MS" pitchFamily="34" charset="-122"/>
                <a:cs typeface="Trebuchet MS" pitchFamily="34" charset="-120"/>
              </a:rPr>
              <a:t>Lessons from live trading sessions</a:t>
            </a:r>
            <a:endParaRPr lang="en-US" sz="1100" dirty="0"/>
          </a:p>
        </p:txBody>
      </p:sp>
      <p:sp>
        <p:nvSpPr>
          <p:cNvPr id="19" name="Shape 17"/>
          <p:cNvSpPr/>
          <p:nvPr/>
        </p:nvSpPr>
        <p:spPr>
          <a:xfrm>
            <a:off x="5577840" y="1143000"/>
            <a:ext cx="3200400" cy="2560320"/>
          </a:xfrm>
          <a:prstGeom prst="rect">
            <a:avLst/>
          </a:prstGeom>
          <a:solidFill>
            <a:srgbClr val="1A1A2E"/>
          </a:solidFill>
          <a:ln w="19050">
            <a:solidFill>
              <a:srgbClr val="FFAA00"/>
            </a:solidFill>
            <a:prstDash val="solid"/>
          </a:ln>
        </p:spPr>
      </p:sp>
      <p:sp>
        <p:nvSpPr>
          <p:cNvPr id="20" name="Shape 18"/>
          <p:cNvSpPr/>
          <p:nvPr/>
        </p:nvSpPr>
        <p:spPr>
          <a:xfrm>
            <a:off x="5577840" y="1143000"/>
            <a:ext cx="3200400" cy="54864"/>
          </a:xfrm>
          <a:prstGeom prst="rect">
            <a:avLst/>
          </a:prstGeom>
          <a:solidFill>
            <a:srgbClr val="FFAA00"/>
          </a:solidFill>
          <a:ln/>
        </p:spPr>
      </p:sp>
      <p:sp>
        <p:nvSpPr>
          <p:cNvPr id="21" name="Text 19"/>
          <p:cNvSpPr/>
          <p:nvPr/>
        </p:nvSpPr>
        <p:spPr>
          <a:xfrm>
            <a:off x="5760720" y="1280160"/>
            <a:ext cx="2834640" cy="274320"/>
          </a:xfrm>
          <a:prstGeom prst="rect">
            <a:avLst/>
          </a:prstGeom>
          <a:noFill/>
          <a:ln/>
        </p:spPr>
        <p:txBody>
          <a:bodyPr wrap="square" lIns="0" tIns="0" rIns="0" bIns="0" rtlCol="0" anchor="ctr"/>
          <a:lstStyle/>
          <a:p>
            <a:pPr indent="0" marL="0">
              <a:buNone/>
            </a:pPr>
            <a:r>
              <a:rPr lang="en-US" sz="1200" b="1" dirty="0">
                <a:solidFill>
                  <a:srgbClr val="FFAA00"/>
                </a:solidFill>
                <a:latin typeface="Trebuchet MS" pitchFamily="34" charset="0"/>
                <a:ea typeface="Trebuchet MS" pitchFamily="34" charset="-122"/>
                <a:cs typeface="Trebuchet MS" pitchFamily="34" charset="-120"/>
              </a:rPr>
              <a:t>HOW IT EVOLVES</a:t>
            </a:r>
            <a:endParaRPr lang="en-US" sz="1200" dirty="0"/>
          </a:p>
        </p:txBody>
      </p:sp>
      <p:sp>
        <p:nvSpPr>
          <p:cNvPr id="22" name="Text 20"/>
          <p:cNvSpPr/>
          <p:nvPr/>
        </p:nvSpPr>
        <p:spPr>
          <a:xfrm>
            <a:off x="5760720" y="1645920"/>
            <a:ext cx="2834640" cy="1828800"/>
          </a:xfrm>
          <a:prstGeom prst="rect">
            <a:avLst/>
          </a:prstGeom>
          <a:noFill/>
          <a:ln/>
        </p:spPr>
        <p:txBody>
          <a:bodyPr wrap="square" lIns="0" tIns="0" rIns="0" bIns="0" rtlCol="0" anchor="ctr"/>
          <a:lstStyle/>
          <a:p>
            <a:pPr indent="0" marL="0">
              <a:lnSpc>
                <a:spcPct val="110000"/>
              </a:lnSpc>
              <a:buNone/>
            </a:pPr>
            <a:r>
              <a:rPr lang="en-US" sz="1100" b="1" dirty="0">
                <a:solidFill>
                  <a:srgbClr val="FF9900"/>
                </a:solidFill>
                <a:latin typeface="Trebuchet MS" pitchFamily="34" charset="0"/>
                <a:ea typeface="Trebuchet MS" pitchFamily="34" charset="-122"/>
                <a:cs typeface="Trebuchet MS" pitchFamily="34" charset="-120"/>
              </a:rPr>
              <a:t>Alex teaches a new concept</a:t>
            </a:r>
            <a:endParaRPr lang="en-US" sz="1100" dirty="0"/>
          </a:p>
          <a:p>
            <a:pPr indent="0" marL="0">
              <a:lnSpc>
                <a:spcPct val="110000"/>
              </a:lnSpc>
              <a:buNone/>
            </a:pPr>
            <a:r>
              <a:rPr lang="en-US" sz="1000" dirty="0">
                <a:solidFill>
                  <a:srgbClr val="9999AA"/>
                </a:solidFill>
                <a:latin typeface="Trebuchet MS" pitchFamily="34" charset="0"/>
                <a:ea typeface="Trebuchet MS" pitchFamily="34" charset="-122"/>
                <a:cs typeface="Trebuchet MS" pitchFamily="34" charset="-120"/>
              </a:rPr>
              <a:t>  ↓  We add it to the guide</a:t>
            </a:r>
            <a:endParaRPr lang="en-US" sz="1100" dirty="0"/>
          </a:p>
          <a:p>
            <a:pPr indent="0" marL="0">
              <a:lnSpc>
                <a:spcPct val="110000"/>
              </a:lnSpc>
              <a:buNone/>
            </a:pPr>
            <a:endParaRPr lang="en-US" sz="1100" dirty="0"/>
          </a:p>
          <a:p>
            <a:pPr indent="0" marL="0">
              <a:lnSpc>
                <a:spcPct val="110000"/>
              </a:lnSpc>
              <a:buNone/>
            </a:pPr>
            <a:r>
              <a:rPr lang="en-US" sz="1100" b="1" dirty="0">
                <a:solidFill>
                  <a:srgbClr val="9999FF"/>
                </a:solidFill>
                <a:latin typeface="Trebuchet MS" pitchFamily="34" charset="0"/>
                <a:ea typeface="Trebuchet MS" pitchFamily="34" charset="-122"/>
                <a:cs typeface="Trebuchet MS" pitchFamily="34" charset="-120"/>
              </a:rPr>
              <a:t>We discover a pattern</a:t>
            </a:r>
            <a:endParaRPr lang="en-US" sz="1100" dirty="0"/>
          </a:p>
          <a:p>
            <a:pPr indent="0" marL="0">
              <a:lnSpc>
                <a:spcPct val="110000"/>
              </a:lnSpc>
              <a:buNone/>
            </a:pPr>
            <a:r>
              <a:rPr lang="en-US" sz="1000" dirty="0">
                <a:solidFill>
                  <a:srgbClr val="9999AA"/>
                </a:solidFill>
                <a:latin typeface="Trebuchet MS" pitchFamily="34" charset="0"/>
                <a:ea typeface="Trebuchet MS" pitchFamily="34" charset="-122"/>
                <a:cs typeface="Trebuchet MS" pitchFamily="34" charset="-120"/>
              </a:rPr>
              <a:t>  ↓  We document the rule</a:t>
            </a:r>
            <a:endParaRPr lang="en-US" sz="1100" dirty="0"/>
          </a:p>
          <a:p>
            <a:pPr indent="0" marL="0">
              <a:lnSpc>
                <a:spcPct val="110000"/>
              </a:lnSpc>
              <a:buNone/>
            </a:pPr>
            <a:endParaRPr lang="en-US" sz="1100" dirty="0"/>
          </a:p>
          <a:p>
            <a:pPr indent="0" marL="0">
              <a:lnSpc>
                <a:spcPct val="110000"/>
              </a:lnSpc>
              <a:buNone/>
            </a:pPr>
            <a:r>
              <a:rPr lang="en-US" sz="1100" b="1" dirty="0">
                <a:solidFill>
                  <a:srgbClr val="CC4444"/>
                </a:solidFill>
                <a:latin typeface="Trebuchet MS" pitchFamily="34" charset="0"/>
                <a:ea typeface="Trebuchet MS" pitchFamily="34" charset="-122"/>
                <a:cs typeface="Trebuchet MS" pitchFamily="34" charset="-120"/>
              </a:rPr>
              <a:t>We make a mistake</a:t>
            </a:r>
            <a:endParaRPr lang="en-US" sz="1100" dirty="0"/>
          </a:p>
          <a:p>
            <a:pPr indent="0" marL="0">
              <a:lnSpc>
                <a:spcPct val="110000"/>
              </a:lnSpc>
              <a:buNone/>
            </a:pPr>
            <a:r>
              <a:rPr lang="en-US" sz="1000" dirty="0">
                <a:solidFill>
                  <a:srgbClr val="9999AA"/>
                </a:solidFill>
                <a:latin typeface="Trebuchet MS" pitchFamily="34" charset="0"/>
                <a:ea typeface="Trebuchet MS" pitchFamily="34" charset="-122"/>
                <a:cs typeface="Trebuchet MS" pitchFamily="34" charset="-120"/>
              </a:rPr>
              <a:t>  ↓  We capture the lesson</a:t>
            </a:r>
            <a:endParaRPr lang="en-US" sz="1100" dirty="0"/>
          </a:p>
          <a:p>
            <a:pPr indent="0" marL="0">
              <a:lnSpc>
                <a:spcPct val="110000"/>
              </a:lnSpc>
              <a:buNone/>
            </a:pPr>
            <a:endParaRPr lang="en-US" sz="1100" dirty="0"/>
          </a:p>
          <a:p>
            <a:pPr indent="0" marL="0">
              <a:lnSpc>
                <a:spcPct val="110000"/>
              </a:lnSpc>
              <a:buNone/>
            </a:pPr>
            <a:r>
              <a:rPr lang="en-US" sz="1100" b="1" dirty="0">
                <a:solidFill>
                  <a:srgbClr val="44CC66"/>
                </a:solidFill>
                <a:latin typeface="Trebuchet MS" pitchFamily="34" charset="0"/>
                <a:ea typeface="Trebuchet MS" pitchFamily="34" charset="-122"/>
                <a:cs typeface="Trebuchet MS" pitchFamily="34" charset="-120"/>
              </a:rPr>
              <a:t>Next session starts</a:t>
            </a:r>
            <a:endParaRPr lang="en-US" sz="1100" dirty="0"/>
          </a:p>
          <a:p>
            <a:pPr indent="0" marL="0">
              <a:lnSpc>
                <a:spcPct val="110000"/>
              </a:lnSpc>
              <a:buNone/>
            </a:pPr>
            <a:r>
              <a:rPr lang="en-US" sz="1000" dirty="0">
                <a:solidFill>
                  <a:srgbClr val="9999AA"/>
                </a:solidFill>
                <a:latin typeface="Trebuchet MS" pitchFamily="34" charset="0"/>
                <a:ea typeface="Trebuchet MS" pitchFamily="34" charset="-122"/>
                <a:cs typeface="Trebuchet MS" pitchFamily="34" charset="-120"/>
              </a:rPr>
              <a:t>  ↓  Claude references it all</a:t>
            </a:r>
            <a:endParaRPr lang="en-US" sz="1100" dirty="0"/>
          </a:p>
        </p:txBody>
      </p:sp>
      <p:sp>
        <p:nvSpPr>
          <p:cNvPr id="23" name="Shape 21"/>
          <p:cNvSpPr/>
          <p:nvPr/>
        </p:nvSpPr>
        <p:spPr>
          <a:xfrm>
            <a:off x="1463040" y="3931920"/>
            <a:ext cx="7315200" cy="914400"/>
          </a:xfrm>
          <a:prstGeom prst="rect">
            <a:avLst/>
          </a:prstGeom>
          <a:solidFill>
            <a:srgbClr val="1A1A2E"/>
          </a:solidFill>
          <a:ln w="19050">
            <a:solidFill>
              <a:srgbClr val="FF9900"/>
            </a:solidFill>
            <a:prstDash val="solid"/>
          </a:ln>
        </p:spPr>
      </p:sp>
      <p:sp>
        <p:nvSpPr>
          <p:cNvPr id="24" name="Shape 22"/>
          <p:cNvSpPr/>
          <p:nvPr/>
        </p:nvSpPr>
        <p:spPr>
          <a:xfrm>
            <a:off x="1463040" y="3931920"/>
            <a:ext cx="7315200" cy="54864"/>
          </a:xfrm>
          <a:prstGeom prst="rect">
            <a:avLst/>
          </a:prstGeom>
          <a:solidFill>
            <a:srgbClr val="FF9900"/>
          </a:solidFill>
          <a:ln/>
        </p:spPr>
      </p:sp>
      <p:sp>
        <p:nvSpPr>
          <p:cNvPr id="25" name="Text 23"/>
          <p:cNvSpPr/>
          <p:nvPr/>
        </p:nvSpPr>
        <p:spPr>
          <a:xfrm>
            <a:off x="1645920" y="4069080"/>
            <a:ext cx="6949440" cy="274320"/>
          </a:xfrm>
          <a:prstGeom prst="rect">
            <a:avLst/>
          </a:prstGeom>
          <a:noFill/>
          <a:ln/>
        </p:spPr>
        <p:txBody>
          <a:bodyPr wrap="square" lIns="0" tIns="0" rIns="0" bIns="0" rtlCol="0" anchor="ctr"/>
          <a:lstStyle/>
          <a:p>
            <a:pPr indent="0" marL="0">
              <a:buNone/>
            </a:pPr>
            <a:r>
              <a:rPr lang="en-US" sz="1400" b="1" dirty="0">
                <a:solidFill>
                  <a:srgbClr val="FF9900"/>
                </a:solidFill>
                <a:latin typeface="Trebuchet MS" pitchFamily="34" charset="0"/>
                <a:ea typeface="Trebuchet MS" pitchFamily="34" charset="-122"/>
                <a:cs typeface="Trebuchet MS" pitchFamily="34" charset="-120"/>
              </a:rPr>
              <a:t>This is how institutional knowledge gets built.</a:t>
            </a:r>
            <a:endParaRPr lang="en-US" sz="1400" dirty="0"/>
          </a:p>
        </p:txBody>
      </p:sp>
      <p:sp>
        <p:nvSpPr>
          <p:cNvPr id="26" name="Text 24"/>
          <p:cNvSpPr/>
          <p:nvPr/>
        </p:nvSpPr>
        <p:spPr>
          <a:xfrm>
            <a:off x="1645920" y="4389120"/>
            <a:ext cx="6949440" cy="365760"/>
          </a:xfrm>
          <a:prstGeom prst="rect">
            <a:avLst/>
          </a:prstGeom>
          <a:noFill/>
          <a:ln/>
        </p:spPr>
        <p:txBody>
          <a:bodyPr wrap="square" lIns="0" tIns="0" rIns="0" bIns="0" rtlCol="0" anchor="ctr"/>
          <a:lstStyle/>
          <a:p>
            <a:pPr indent="0" marL="0">
              <a:buNone/>
            </a:pPr>
            <a:r>
              <a:rPr lang="en-US" sz="1100" dirty="0">
                <a:solidFill>
                  <a:srgbClr val="FFCC99"/>
                </a:solidFill>
                <a:latin typeface="Trebuchet MS" pitchFamily="34" charset="0"/>
                <a:ea typeface="Trebuchet MS" pitchFamily="34" charset="-122"/>
                <a:cs typeface="Trebuchet MS" pitchFamily="34" charset="-120"/>
              </a:rPr>
              <a:t>Every update, every event, every correction flows into a single reference. The guide is now over 30 pages and growing.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1280160" cy="320040"/>
          </a:xfrm>
          <a:prstGeom prst="rect">
            <a:avLst/>
          </a:prstGeom>
          <a:solidFill>
            <a:srgbClr val="FF9900"/>
          </a:solidFill>
          <a:ln/>
        </p:spPr>
      </p:sp>
      <p:sp>
        <p:nvSpPr>
          <p:cNvPr id="3" name="Shape 1"/>
          <p:cNvSpPr/>
          <p:nvPr/>
        </p:nvSpPr>
        <p:spPr>
          <a:xfrm>
            <a:off x="0" y="320040"/>
            <a:ext cx="411480" cy="4503420"/>
          </a:xfrm>
          <a:prstGeom prst="rect">
            <a:avLst/>
          </a:prstGeom>
          <a:solidFill>
            <a:srgbClr val="FF9900"/>
          </a:solidFill>
          <a:ln/>
        </p:spPr>
      </p:sp>
      <p:sp>
        <p:nvSpPr>
          <p:cNvPr id="4" name="Shape 2"/>
          <p:cNvSpPr/>
          <p:nvPr/>
        </p:nvSpPr>
        <p:spPr>
          <a:xfrm>
            <a:off x="0" y="4823460"/>
            <a:ext cx="1280160" cy="320040"/>
          </a:xfrm>
          <a:prstGeom prst="rect">
            <a:avLst/>
          </a:prstGeom>
          <a:solidFill>
            <a:srgbClr val="CC99CC"/>
          </a:solidFill>
          <a:ln/>
        </p:spPr>
      </p:sp>
      <p:sp>
        <p:nvSpPr>
          <p:cNvPr id="5" name="Shape 3"/>
          <p:cNvSpPr/>
          <p:nvPr/>
        </p:nvSpPr>
        <p:spPr>
          <a:xfrm>
            <a:off x="320040" y="182880"/>
            <a:ext cx="1051560" cy="457200"/>
          </a:xfrm>
          <a:prstGeom prst="roundRect">
            <a:avLst>
              <a:gd name="adj" fmla="val 30000"/>
            </a:avLst>
          </a:prstGeom>
          <a:solidFill>
            <a:srgbClr val="0A0A12"/>
          </a:solidFill>
          <a:ln/>
        </p:spPr>
      </p:sp>
      <p:sp>
        <p:nvSpPr>
          <p:cNvPr id="6" name="Shape 4"/>
          <p:cNvSpPr/>
          <p:nvPr/>
        </p:nvSpPr>
        <p:spPr>
          <a:xfrm>
            <a:off x="320040" y="4526280"/>
            <a:ext cx="1051560" cy="457200"/>
          </a:xfrm>
          <a:prstGeom prst="roundRect">
            <a:avLst>
              <a:gd name="adj" fmla="val 30000"/>
            </a:avLst>
          </a:prstGeom>
          <a:solidFill>
            <a:srgbClr val="0A0A12"/>
          </a:solidFill>
          <a:ln/>
        </p:spPr>
      </p:sp>
      <p:sp>
        <p:nvSpPr>
          <p:cNvPr id="7" name="Shape 5"/>
          <p:cNvSpPr/>
          <p:nvPr/>
        </p:nvSpPr>
        <p:spPr>
          <a:xfrm>
            <a:off x="45720" y="1097280"/>
            <a:ext cx="320040" cy="182880"/>
          </a:xfrm>
          <a:prstGeom prst="rect">
            <a:avLst/>
          </a:prstGeom>
          <a:solidFill>
            <a:srgbClr val="FFCC99"/>
          </a:solidFill>
          <a:ln/>
        </p:spPr>
      </p:sp>
      <p:sp>
        <p:nvSpPr>
          <p:cNvPr id="8" name="Shape 6"/>
          <p:cNvSpPr/>
          <p:nvPr/>
        </p:nvSpPr>
        <p:spPr>
          <a:xfrm>
            <a:off x="45720" y="1371600"/>
            <a:ext cx="320040" cy="137160"/>
          </a:xfrm>
          <a:prstGeom prst="rect">
            <a:avLst/>
          </a:prstGeom>
          <a:solidFill>
            <a:srgbClr val="9999FF"/>
          </a:solidFill>
          <a:ln/>
        </p:spPr>
      </p:sp>
      <p:sp>
        <p:nvSpPr>
          <p:cNvPr id="9" name="Shape 7"/>
          <p:cNvSpPr/>
          <p:nvPr/>
        </p:nvSpPr>
        <p:spPr>
          <a:xfrm>
            <a:off x="45720" y="1600200"/>
            <a:ext cx="320040" cy="182880"/>
          </a:xfrm>
          <a:prstGeom prst="rect">
            <a:avLst/>
          </a:prstGeom>
          <a:solidFill>
            <a:srgbClr val="CC99CC"/>
          </a:solidFill>
          <a:ln/>
        </p:spPr>
      </p:sp>
      <p:sp>
        <p:nvSpPr>
          <p:cNvPr id="10" name="Shape 8"/>
          <p:cNvSpPr/>
          <p:nvPr/>
        </p:nvSpPr>
        <p:spPr>
          <a:xfrm>
            <a:off x="45720" y="1874520"/>
            <a:ext cx="320040" cy="91440"/>
          </a:xfrm>
          <a:prstGeom prst="rect">
            <a:avLst/>
          </a:prstGeom>
          <a:solidFill>
            <a:srgbClr val="66CCCC"/>
          </a:solidFill>
          <a:ln/>
        </p:spPr>
      </p:sp>
      <p:sp>
        <p:nvSpPr>
          <p:cNvPr id="11" name="Shape 9"/>
          <p:cNvSpPr/>
          <p:nvPr/>
        </p:nvSpPr>
        <p:spPr>
          <a:xfrm>
            <a:off x="1371600" y="0"/>
            <a:ext cx="7772400" cy="502920"/>
          </a:xfrm>
          <a:prstGeom prst="rect">
            <a:avLst/>
          </a:prstGeom>
          <a:solidFill>
            <a:srgbClr val="111122"/>
          </a:solidFill>
          <a:ln/>
        </p:spPr>
      </p:sp>
      <p:sp>
        <p:nvSpPr>
          <p:cNvPr id="12" name="Text 10"/>
          <p:cNvSpPr/>
          <p:nvPr/>
        </p:nvSpPr>
        <p:spPr>
          <a:xfrm>
            <a:off x="1463040" y="45720"/>
            <a:ext cx="5943600" cy="411480"/>
          </a:xfrm>
          <a:prstGeom prst="rect">
            <a:avLst/>
          </a:prstGeom>
          <a:noFill/>
          <a:ln/>
        </p:spPr>
        <p:txBody>
          <a:bodyPr wrap="square" lIns="0" tIns="0" rIns="0" bIns="0" rtlCol="0" anchor="ctr"/>
          <a:lstStyle/>
          <a:p>
            <a:pPr indent="0" marL="0">
              <a:buNone/>
            </a:pPr>
            <a:r>
              <a:rPr lang="en-US" sz="1800" b="1" dirty="0">
                <a:solidFill>
                  <a:srgbClr val="FF9900"/>
                </a:solidFill>
                <a:latin typeface="Trebuchet MS" pitchFamily="34" charset="0"/>
                <a:ea typeface="Trebuchet MS" pitchFamily="34" charset="-122"/>
                <a:cs typeface="Trebuchet MS" pitchFamily="34" charset="-120"/>
              </a:rPr>
              <a:t>THE BIGGER PICTURE</a:t>
            </a:r>
            <a:endParaRPr lang="en-US" sz="1800" dirty="0"/>
          </a:p>
        </p:txBody>
      </p:sp>
      <p:sp>
        <p:nvSpPr>
          <p:cNvPr id="13" name="Text 11"/>
          <p:cNvSpPr/>
          <p:nvPr/>
        </p:nvSpPr>
        <p:spPr>
          <a:xfrm>
            <a:off x="7498080" y="45720"/>
            <a:ext cx="1554480" cy="411480"/>
          </a:xfrm>
          <a:prstGeom prst="rect">
            <a:avLst/>
          </a:prstGeom>
          <a:noFill/>
          <a:ln/>
        </p:spPr>
        <p:txBody>
          <a:bodyPr wrap="square" lIns="0" tIns="0" rIns="0" bIns="0" rtlCol="0" anchor="ctr"/>
          <a:lstStyle/>
          <a:p>
            <a:pPr algn="r" indent="0" marL="0">
              <a:buNone/>
            </a:pPr>
            <a:r>
              <a:rPr lang="en-US" sz="1100" dirty="0">
                <a:solidFill>
                  <a:srgbClr val="FFCC99"/>
                </a:solidFill>
                <a:latin typeface="Trebuchet MS" pitchFamily="34" charset="0"/>
                <a:ea typeface="Trebuchet MS" pitchFamily="34" charset="-122"/>
                <a:cs typeface="Trebuchet MS" pitchFamily="34" charset="-120"/>
              </a:rPr>
              <a:t>SD 2026.041</a:t>
            </a:r>
            <a:endParaRPr lang="en-US" sz="1100" dirty="0"/>
          </a:p>
        </p:txBody>
      </p:sp>
      <p:sp>
        <p:nvSpPr>
          <p:cNvPr id="14" name="Text 12"/>
          <p:cNvSpPr/>
          <p:nvPr/>
        </p:nvSpPr>
        <p:spPr>
          <a:xfrm>
            <a:off x="1463040" y="640080"/>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 Continuously Improving System</a:t>
            </a:r>
            <a:endParaRPr lang="en-US" sz="2200" dirty="0"/>
          </a:p>
        </p:txBody>
      </p:sp>
      <p:sp>
        <p:nvSpPr>
          <p:cNvPr id="15" name="Shape 13"/>
          <p:cNvSpPr/>
          <p:nvPr/>
        </p:nvSpPr>
        <p:spPr>
          <a:xfrm>
            <a:off x="4206240" y="1188720"/>
            <a:ext cx="2011680" cy="1051560"/>
          </a:xfrm>
          <a:prstGeom prst="rect">
            <a:avLst/>
          </a:prstGeom>
          <a:solidFill>
            <a:srgbClr val="1A1A2E"/>
          </a:solidFill>
          <a:ln w="19050">
            <a:solidFill>
              <a:srgbClr val="FF9900"/>
            </a:solidFill>
            <a:prstDash val="solid"/>
          </a:ln>
        </p:spPr>
      </p:sp>
      <p:sp>
        <p:nvSpPr>
          <p:cNvPr id="16" name="Shape 14"/>
          <p:cNvSpPr/>
          <p:nvPr/>
        </p:nvSpPr>
        <p:spPr>
          <a:xfrm>
            <a:off x="4206240" y="1188720"/>
            <a:ext cx="2011680" cy="54864"/>
          </a:xfrm>
          <a:prstGeom prst="rect">
            <a:avLst/>
          </a:prstGeom>
          <a:solidFill>
            <a:srgbClr val="FF9900"/>
          </a:solidFill>
          <a:ln/>
        </p:spPr>
      </p:sp>
      <p:sp>
        <p:nvSpPr>
          <p:cNvPr id="17" name="Text 15"/>
          <p:cNvSpPr/>
          <p:nvPr/>
        </p:nvSpPr>
        <p:spPr>
          <a:xfrm>
            <a:off x="4343400" y="1325880"/>
            <a:ext cx="1737360" cy="274320"/>
          </a:xfrm>
          <a:prstGeom prst="rect">
            <a:avLst/>
          </a:prstGeom>
          <a:noFill/>
          <a:ln/>
        </p:spPr>
        <p:txBody>
          <a:bodyPr wrap="square" lIns="0" tIns="0" rIns="0" bIns="0" rtlCol="0" anchor="ctr"/>
          <a:lstStyle/>
          <a:p>
            <a:pPr indent="0" marL="0">
              <a:buNone/>
            </a:pPr>
            <a:r>
              <a:rPr lang="en-US" sz="1300" b="1" dirty="0">
                <a:solidFill>
                  <a:srgbClr val="FF9900"/>
                </a:solidFill>
                <a:latin typeface="Trebuchet MS" pitchFamily="34" charset="0"/>
                <a:ea typeface="Trebuchet MS" pitchFamily="34" charset="-122"/>
                <a:cs typeface="Trebuchet MS" pitchFamily="34" charset="-120"/>
              </a:rPr>
              <a:t>TRADE</a:t>
            </a:r>
            <a:endParaRPr lang="en-US" sz="1300" dirty="0"/>
          </a:p>
        </p:txBody>
      </p:sp>
      <p:sp>
        <p:nvSpPr>
          <p:cNvPr id="18" name="Text 16"/>
          <p:cNvSpPr/>
          <p:nvPr/>
        </p:nvSpPr>
        <p:spPr>
          <a:xfrm>
            <a:off x="4343400" y="1645920"/>
            <a:ext cx="1737360" cy="457200"/>
          </a:xfrm>
          <a:prstGeom prst="rect">
            <a:avLst/>
          </a:prstGeom>
          <a:noFill/>
          <a:ln/>
        </p:spPr>
        <p:txBody>
          <a:bodyPr wrap="square" lIns="0" tIns="0" rIns="0" bIns="0" rtlCol="0" anchor="ctr"/>
          <a:lstStyle/>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Execute with</a:t>
            </a:r>
            <a:endParaRPr lang="en-US" sz="1000" dirty="0"/>
          </a:p>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tickets &amp; verification</a:t>
            </a:r>
            <a:endParaRPr lang="en-US" sz="1000" dirty="0"/>
          </a:p>
        </p:txBody>
      </p:sp>
      <p:sp>
        <p:nvSpPr>
          <p:cNvPr id="19" name="Shape 17"/>
          <p:cNvSpPr/>
          <p:nvPr/>
        </p:nvSpPr>
        <p:spPr>
          <a:xfrm>
            <a:off x="6583680" y="2286000"/>
            <a:ext cx="2011680" cy="1051560"/>
          </a:xfrm>
          <a:prstGeom prst="rect">
            <a:avLst/>
          </a:prstGeom>
          <a:solidFill>
            <a:srgbClr val="1A1A2E"/>
          </a:solidFill>
          <a:ln w="19050">
            <a:solidFill>
              <a:srgbClr val="66CCCC"/>
            </a:solidFill>
            <a:prstDash val="solid"/>
          </a:ln>
        </p:spPr>
      </p:sp>
      <p:sp>
        <p:nvSpPr>
          <p:cNvPr id="20" name="Shape 18"/>
          <p:cNvSpPr/>
          <p:nvPr/>
        </p:nvSpPr>
        <p:spPr>
          <a:xfrm>
            <a:off x="6583680" y="2286000"/>
            <a:ext cx="2011680" cy="54864"/>
          </a:xfrm>
          <a:prstGeom prst="rect">
            <a:avLst/>
          </a:prstGeom>
          <a:solidFill>
            <a:srgbClr val="66CCCC"/>
          </a:solidFill>
          <a:ln/>
        </p:spPr>
      </p:sp>
      <p:sp>
        <p:nvSpPr>
          <p:cNvPr id="21" name="Text 19"/>
          <p:cNvSpPr/>
          <p:nvPr/>
        </p:nvSpPr>
        <p:spPr>
          <a:xfrm>
            <a:off x="6720840" y="2423160"/>
            <a:ext cx="1737360" cy="274320"/>
          </a:xfrm>
          <a:prstGeom prst="rect">
            <a:avLst/>
          </a:prstGeom>
          <a:noFill/>
          <a:ln/>
        </p:spPr>
        <p:txBody>
          <a:bodyPr wrap="square" lIns="0" tIns="0" rIns="0" bIns="0" rtlCol="0" anchor="ctr"/>
          <a:lstStyle/>
          <a:p>
            <a:pPr indent="0" marL="0">
              <a:buNone/>
            </a:pPr>
            <a:r>
              <a:rPr lang="en-US" sz="1300" b="1" dirty="0">
                <a:solidFill>
                  <a:srgbClr val="66CCCC"/>
                </a:solidFill>
                <a:latin typeface="Trebuchet MS" pitchFamily="34" charset="0"/>
                <a:ea typeface="Trebuchet MS" pitchFamily="34" charset="-122"/>
                <a:cs typeface="Trebuchet MS" pitchFamily="34" charset="-120"/>
              </a:rPr>
              <a:t>DOCUMENT</a:t>
            </a:r>
            <a:endParaRPr lang="en-US" sz="1300" dirty="0"/>
          </a:p>
        </p:txBody>
      </p:sp>
      <p:sp>
        <p:nvSpPr>
          <p:cNvPr id="22" name="Text 20"/>
          <p:cNvSpPr/>
          <p:nvPr/>
        </p:nvSpPr>
        <p:spPr>
          <a:xfrm>
            <a:off x="6720840" y="2743200"/>
            <a:ext cx="1737360" cy="457200"/>
          </a:xfrm>
          <a:prstGeom prst="rect">
            <a:avLst/>
          </a:prstGeom>
          <a:noFill/>
          <a:ln/>
        </p:spPr>
        <p:txBody>
          <a:bodyPr wrap="square" lIns="0" tIns="0" rIns="0" bIns="0" rtlCol="0" anchor="ctr"/>
          <a:lstStyle/>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Save everything to</a:t>
            </a:r>
            <a:endParaRPr lang="en-US" sz="1000" dirty="0"/>
          </a:p>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database &amp; vault</a:t>
            </a:r>
            <a:endParaRPr lang="en-US" sz="1000" dirty="0"/>
          </a:p>
        </p:txBody>
      </p:sp>
      <p:sp>
        <p:nvSpPr>
          <p:cNvPr id="23" name="Shape 21"/>
          <p:cNvSpPr/>
          <p:nvPr/>
        </p:nvSpPr>
        <p:spPr>
          <a:xfrm>
            <a:off x="5394960" y="3657600"/>
            <a:ext cx="2011680" cy="1051560"/>
          </a:xfrm>
          <a:prstGeom prst="rect">
            <a:avLst/>
          </a:prstGeom>
          <a:solidFill>
            <a:srgbClr val="1A1A2E"/>
          </a:solidFill>
          <a:ln w="19050">
            <a:solidFill>
              <a:srgbClr val="9999FF"/>
            </a:solidFill>
            <a:prstDash val="solid"/>
          </a:ln>
        </p:spPr>
      </p:sp>
      <p:sp>
        <p:nvSpPr>
          <p:cNvPr id="24" name="Shape 22"/>
          <p:cNvSpPr/>
          <p:nvPr/>
        </p:nvSpPr>
        <p:spPr>
          <a:xfrm>
            <a:off x="5394960" y="3657600"/>
            <a:ext cx="2011680" cy="54864"/>
          </a:xfrm>
          <a:prstGeom prst="rect">
            <a:avLst/>
          </a:prstGeom>
          <a:solidFill>
            <a:srgbClr val="9999FF"/>
          </a:solidFill>
          <a:ln/>
        </p:spPr>
      </p:sp>
      <p:sp>
        <p:nvSpPr>
          <p:cNvPr id="25" name="Text 23"/>
          <p:cNvSpPr/>
          <p:nvPr/>
        </p:nvSpPr>
        <p:spPr>
          <a:xfrm>
            <a:off x="5532120" y="3794760"/>
            <a:ext cx="1737360" cy="274320"/>
          </a:xfrm>
          <a:prstGeom prst="rect">
            <a:avLst/>
          </a:prstGeom>
          <a:noFill/>
          <a:ln/>
        </p:spPr>
        <p:txBody>
          <a:bodyPr wrap="square" lIns="0" tIns="0" rIns="0" bIns="0" rtlCol="0" anchor="ctr"/>
          <a:lstStyle/>
          <a:p>
            <a:pPr indent="0" marL="0">
              <a:buNone/>
            </a:pPr>
            <a:r>
              <a:rPr lang="en-US" sz="1300" b="1" dirty="0">
                <a:solidFill>
                  <a:srgbClr val="9999FF"/>
                </a:solidFill>
                <a:latin typeface="Trebuchet MS" pitchFamily="34" charset="0"/>
                <a:ea typeface="Trebuchet MS" pitchFamily="34" charset="-122"/>
                <a:cs typeface="Trebuchet MS" pitchFamily="34" charset="-120"/>
              </a:rPr>
              <a:t>LEARN</a:t>
            </a:r>
            <a:endParaRPr lang="en-US" sz="1300" dirty="0"/>
          </a:p>
        </p:txBody>
      </p:sp>
      <p:sp>
        <p:nvSpPr>
          <p:cNvPr id="26" name="Text 24"/>
          <p:cNvSpPr/>
          <p:nvPr/>
        </p:nvSpPr>
        <p:spPr>
          <a:xfrm>
            <a:off x="5532120" y="4114800"/>
            <a:ext cx="1737360" cy="457200"/>
          </a:xfrm>
          <a:prstGeom prst="rect">
            <a:avLst/>
          </a:prstGeom>
          <a:noFill/>
          <a:ln/>
        </p:spPr>
        <p:txBody>
          <a:bodyPr wrap="square" lIns="0" tIns="0" rIns="0" bIns="0" rtlCol="0" anchor="ctr"/>
          <a:lstStyle/>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Capture errors,</a:t>
            </a:r>
            <a:endParaRPr lang="en-US" sz="1000" dirty="0"/>
          </a:p>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refine rules</a:t>
            </a:r>
            <a:endParaRPr lang="en-US" sz="1000" dirty="0"/>
          </a:p>
        </p:txBody>
      </p:sp>
      <p:sp>
        <p:nvSpPr>
          <p:cNvPr id="27" name="Shape 25"/>
          <p:cNvSpPr/>
          <p:nvPr/>
        </p:nvSpPr>
        <p:spPr>
          <a:xfrm>
            <a:off x="3017520" y="3657600"/>
            <a:ext cx="2011680" cy="1051560"/>
          </a:xfrm>
          <a:prstGeom prst="rect">
            <a:avLst/>
          </a:prstGeom>
          <a:solidFill>
            <a:srgbClr val="1A1A2E"/>
          </a:solidFill>
          <a:ln w="19050">
            <a:solidFill>
              <a:srgbClr val="CC99CC"/>
            </a:solidFill>
            <a:prstDash val="solid"/>
          </a:ln>
        </p:spPr>
      </p:sp>
      <p:sp>
        <p:nvSpPr>
          <p:cNvPr id="28" name="Shape 26"/>
          <p:cNvSpPr/>
          <p:nvPr/>
        </p:nvSpPr>
        <p:spPr>
          <a:xfrm>
            <a:off x="3017520" y="3657600"/>
            <a:ext cx="2011680" cy="54864"/>
          </a:xfrm>
          <a:prstGeom prst="rect">
            <a:avLst/>
          </a:prstGeom>
          <a:solidFill>
            <a:srgbClr val="CC99CC"/>
          </a:solidFill>
          <a:ln/>
        </p:spPr>
      </p:sp>
      <p:sp>
        <p:nvSpPr>
          <p:cNvPr id="29" name="Text 27"/>
          <p:cNvSpPr/>
          <p:nvPr/>
        </p:nvSpPr>
        <p:spPr>
          <a:xfrm>
            <a:off x="3154680" y="3794760"/>
            <a:ext cx="1737360" cy="274320"/>
          </a:xfrm>
          <a:prstGeom prst="rect">
            <a:avLst/>
          </a:prstGeom>
          <a:noFill/>
          <a:ln/>
        </p:spPr>
        <p:txBody>
          <a:bodyPr wrap="square" lIns="0" tIns="0" rIns="0" bIns="0" rtlCol="0" anchor="ctr"/>
          <a:lstStyle/>
          <a:p>
            <a:pPr indent="0" marL="0">
              <a:buNone/>
            </a:pPr>
            <a:r>
              <a:rPr lang="en-US" sz="1300" b="1" dirty="0">
                <a:solidFill>
                  <a:srgbClr val="CC99CC"/>
                </a:solidFill>
                <a:latin typeface="Trebuchet MS" pitchFamily="34" charset="0"/>
                <a:ea typeface="Trebuchet MS" pitchFamily="34" charset="-122"/>
                <a:cs typeface="Trebuchet MS" pitchFamily="34" charset="-120"/>
              </a:rPr>
              <a:t>IMPROVE</a:t>
            </a:r>
            <a:endParaRPr lang="en-US" sz="1300" dirty="0"/>
          </a:p>
        </p:txBody>
      </p:sp>
      <p:sp>
        <p:nvSpPr>
          <p:cNvPr id="30" name="Text 28"/>
          <p:cNvSpPr/>
          <p:nvPr/>
        </p:nvSpPr>
        <p:spPr>
          <a:xfrm>
            <a:off x="3154680" y="4114800"/>
            <a:ext cx="1737360" cy="457200"/>
          </a:xfrm>
          <a:prstGeom prst="rect">
            <a:avLst/>
          </a:prstGeom>
          <a:noFill/>
          <a:ln/>
        </p:spPr>
        <p:txBody>
          <a:bodyPr wrap="square" lIns="0" tIns="0" rIns="0" bIns="0" rtlCol="0" anchor="ctr"/>
          <a:lstStyle/>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Update guide,</a:t>
            </a:r>
            <a:endParaRPr lang="en-US" sz="1000" dirty="0"/>
          </a:p>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instructions, process</a:t>
            </a:r>
            <a:endParaRPr lang="en-US" sz="1000" dirty="0"/>
          </a:p>
        </p:txBody>
      </p:sp>
      <p:sp>
        <p:nvSpPr>
          <p:cNvPr id="31" name="Shape 29"/>
          <p:cNvSpPr/>
          <p:nvPr/>
        </p:nvSpPr>
        <p:spPr>
          <a:xfrm>
            <a:off x="1828800" y="2286000"/>
            <a:ext cx="2011680" cy="1051560"/>
          </a:xfrm>
          <a:prstGeom prst="rect">
            <a:avLst/>
          </a:prstGeom>
          <a:solidFill>
            <a:srgbClr val="1A1A2E"/>
          </a:solidFill>
          <a:ln w="19050">
            <a:solidFill>
              <a:srgbClr val="FFAA00"/>
            </a:solidFill>
            <a:prstDash val="solid"/>
          </a:ln>
        </p:spPr>
      </p:sp>
      <p:sp>
        <p:nvSpPr>
          <p:cNvPr id="32" name="Shape 30"/>
          <p:cNvSpPr/>
          <p:nvPr/>
        </p:nvSpPr>
        <p:spPr>
          <a:xfrm>
            <a:off x="1828800" y="2286000"/>
            <a:ext cx="2011680" cy="54864"/>
          </a:xfrm>
          <a:prstGeom prst="rect">
            <a:avLst/>
          </a:prstGeom>
          <a:solidFill>
            <a:srgbClr val="FFAA00"/>
          </a:solidFill>
          <a:ln/>
        </p:spPr>
      </p:sp>
      <p:sp>
        <p:nvSpPr>
          <p:cNvPr id="33" name="Text 31"/>
          <p:cNvSpPr/>
          <p:nvPr/>
        </p:nvSpPr>
        <p:spPr>
          <a:xfrm>
            <a:off x="1965960" y="2423160"/>
            <a:ext cx="1737360" cy="274320"/>
          </a:xfrm>
          <a:prstGeom prst="rect">
            <a:avLst/>
          </a:prstGeom>
          <a:noFill/>
          <a:ln/>
        </p:spPr>
        <p:txBody>
          <a:bodyPr wrap="square" lIns="0" tIns="0" rIns="0" bIns="0" rtlCol="0" anchor="ctr"/>
          <a:lstStyle/>
          <a:p>
            <a:pPr indent="0" marL="0">
              <a:buNone/>
            </a:pPr>
            <a:r>
              <a:rPr lang="en-US" sz="1300" b="1" dirty="0">
                <a:solidFill>
                  <a:srgbClr val="FFAA00"/>
                </a:solidFill>
                <a:latin typeface="Trebuchet MS" pitchFamily="34" charset="0"/>
                <a:ea typeface="Trebuchet MS" pitchFamily="34" charset="-122"/>
                <a:cs typeface="Trebuchet MS" pitchFamily="34" charset="-120"/>
              </a:rPr>
              <a:t>APPLY</a:t>
            </a:r>
            <a:endParaRPr lang="en-US" sz="1300" dirty="0"/>
          </a:p>
        </p:txBody>
      </p:sp>
      <p:sp>
        <p:nvSpPr>
          <p:cNvPr id="34" name="Text 32"/>
          <p:cNvSpPr/>
          <p:nvPr/>
        </p:nvSpPr>
        <p:spPr>
          <a:xfrm>
            <a:off x="1965960" y="2743200"/>
            <a:ext cx="1737360" cy="457200"/>
          </a:xfrm>
          <a:prstGeom prst="rect">
            <a:avLst/>
          </a:prstGeom>
          <a:noFill/>
          <a:ln/>
        </p:spPr>
        <p:txBody>
          <a:bodyPr wrap="square" lIns="0" tIns="0" rIns="0" bIns="0" rtlCol="0" anchor="ctr"/>
          <a:lstStyle/>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Next session starts</a:t>
            </a:r>
            <a:endParaRPr lang="en-US" sz="1000" dirty="0"/>
          </a:p>
          <a:p>
            <a:pPr indent="0" marL="0">
              <a:lnSpc>
                <a:spcPct val="120000"/>
              </a:lnSpc>
              <a:buNone/>
            </a:pPr>
            <a:r>
              <a:rPr lang="en-US" sz="1000" dirty="0">
                <a:solidFill>
                  <a:srgbClr val="FFCC99"/>
                </a:solidFill>
                <a:latin typeface="Trebuchet MS" pitchFamily="34" charset="0"/>
                <a:ea typeface="Trebuchet MS" pitchFamily="34" charset="-122"/>
                <a:cs typeface="Trebuchet MS" pitchFamily="34" charset="-120"/>
              </a:rPr>
              <a:t>with all knowledge</a:t>
            </a:r>
            <a:endParaRPr lang="en-US" sz="1000" dirty="0"/>
          </a:p>
        </p:txBody>
      </p:sp>
      <p:sp>
        <p:nvSpPr>
          <p:cNvPr id="35" name="Text 33"/>
          <p:cNvSpPr/>
          <p:nvPr/>
        </p:nvSpPr>
        <p:spPr>
          <a:xfrm>
            <a:off x="6126480" y="1417320"/>
            <a:ext cx="548640" cy="457200"/>
          </a:xfrm>
          <a:prstGeom prst="rect">
            <a:avLst/>
          </a:prstGeom>
          <a:noFill/>
          <a:ln/>
        </p:spPr>
        <p:txBody>
          <a:bodyPr wrap="square" lIns="0" tIns="0" rIns="0" bIns="0" rtlCol="0" anchor="ctr"/>
          <a:lstStyle/>
          <a:p>
            <a:pPr algn="ctr" indent="0" marL="0">
              <a:buNone/>
            </a:pPr>
            <a:r>
              <a:rPr lang="en-US" sz="1600" dirty="0">
                <a:solidFill>
                  <a:srgbClr val="FF9900"/>
                </a:solidFill>
                <a:latin typeface="Trebuchet MS" pitchFamily="34" charset="0"/>
                <a:ea typeface="Trebuchet MS" pitchFamily="34" charset="-122"/>
                <a:cs typeface="Trebuchet MS" pitchFamily="34" charset="-120"/>
              </a:rPr>
              <a:t>▶</a:t>
            </a:r>
            <a:endParaRPr lang="en-US" sz="1600" dirty="0"/>
          </a:p>
        </p:txBody>
      </p:sp>
      <p:sp>
        <p:nvSpPr>
          <p:cNvPr id="36" name="Text 34"/>
          <p:cNvSpPr/>
          <p:nvPr/>
        </p:nvSpPr>
        <p:spPr>
          <a:xfrm>
            <a:off x="7406640" y="3246120"/>
            <a:ext cx="457200" cy="457200"/>
          </a:xfrm>
          <a:prstGeom prst="rect">
            <a:avLst/>
          </a:prstGeom>
          <a:noFill/>
          <a:ln/>
        </p:spPr>
        <p:txBody>
          <a:bodyPr wrap="square" lIns="0" tIns="0" rIns="0" bIns="0" rtlCol="0" anchor="ctr"/>
          <a:lstStyle/>
          <a:p>
            <a:pPr algn="ctr" indent="0" marL="0">
              <a:buNone/>
            </a:pPr>
            <a:r>
              <a:rPr lang="en-US" sz="1600" dirty="0">
                <a:solidFill>
                  <a:srgbClr val="66CCCC"/>
                </a:solidFill>
                <a:latin typeface="Trebuchet MS" pitchFamily="34" charset="0"/>
                <a:ea typeface="Trebuchet MS" pitchFamily="34" charset="-122"/>
                <a:cs typeface="Trebuchet MS" pitchFamily="34" charset="-120"/>
              </a:rPr>
              <a:t>▼</a:t>
            </a:r>
            <a:endParaRPr lang="en-US" sz="1600" dirty="0"/>
          </a:p>
        </p:txBody>
      </p:sp>
      <p:sp>
        <p:nvSpPr>
          <p:cNvPr id="37" name="Text 35"/>
          <p:cNvSpPr/>
          <p:nvPr/>
        </p:nvSpPr>
        <p:spPr>
          <a:xfrm>
            <a:off x="4937760" y="3886200"/>
            <a:ext cx="548640" cy="457200"/>
          </a:xfrm>
          <a:prstGeom prst="rect">
            <a:avLst/>
          </a:prstGeom>
          <a:noFill/>
          <a:ln/>
        </p:spPr>
        <p:txBody>
          <a:bodyPr wrap="square" lIns="0" tIns="0" rIns="0" bIns="0" rtlCol="0" anchor="ctr"/>
          <a:lstStyle/>
          <a:p>
            <a:pPr algn="ctr" indent="0" marL="0">
              <a:buNone/>
            </a:pPr>
            <a:r>
              <a:rPr lang="en-US" sz="1600" dirty="0">
                <a:solidFill>
                  <a:srgbClr val="9999FF"/>
                </a:solidFill>
                <a:latin typeface="Trebuchet MS" pitchFamily="34" charset="0"/>
                <a:ea typeface="Trebuchet MS" pitchFamily="34" charset="-122"/>
                <a:cs typeface="Trebuchet MS" pitchFamily="34" charset="-120"/>
              </a:rPr>
              <a:t>◀</a:t>
            </a:r>
            <a:endParaRPr lang="en-US" sz="1600" dirty="0"/>
          </a:p>
        </p:txBody>
      </p:sp>
      <p:sp>
        <p:nvSpPr>
          <p:cNvPr id="38" name="Text 36"/>
          <p:cNvSpPr/>
          <p:nvPr/>
        </p:nvSpPr>
        <p:spPr>
          <a:xfrm>
            <a:off x="1371600" y="3246120"/>
            <a:ext cx="457200" cy="457200"/>
          </a:xfrm>
          <a:prstGeom prst="rect">
            <a:avLst/>
          </a:prstGeom>
          <a:noFill/>
          <a:ln/>
        </p:spPr>
        <p:txBody>
          <a:bodyPr wrap="square" lIns="0" tIns="0" rIns="0" bIns="0" rtlCol="0" anchor="ctr"/>
          <a:lstStyle/>
          <a:p>
            <a:pPr algn="ctr" indent="0" marL="0">
              <a:buNone/>
            </a:pPr>
            <a:r>
              <a:rPr lang="en-US" sz="1600" dirty="0">
                <a:solidFill>
                  <a:srgbClr val="CC99CC"/>
                </a:solidFill>
                <a:latin typeface="Trebuchet MS" pitchFamily="34" charset="0"/>
                <a:ea typeface="Trebuchet MS" pitchFamily="34" charset="-122"/>
                <a:cs typeface="Trebuchet MS" pitchFamily="34" charset="-120"/>
              </a:rPr>
              <a:t>▲</a:t>
            </a:r>
            <a:endParaRPr lang="en-US" sz="1600" dirty="0"/>
          </a:p>
        </p:txBody>
      </p:sp>
      <p:sp>
        <p:nvSpPr>
          <p:cNvPr id="39" name="Text 37"/>
          <p:cNvSpPr/>
          <p:nvPr/>
        </p:nvSpPr>
        <p:spPr>
          <a:xfrm>
            <a:off x="2926080" y="1417320"/>
            <a:ext cx="548640" cy="457200"/>
          </a:xfrm>
          <a:prstGeom prst="rect">
            <a:avLst/>
          </a:prstGeom>
          <a:noFill/>
          <a:ln/>
        </p:spPr>
        <p:txBody>
          <a:bodyPr wrap="square" lIns="0" tIns="0" rIns="0" bIns="0" rtlCol="0" anchor="ctr"/>
          <a:lstStyle/>
          <a:p>
            <a:pPr algn="ctr" indent="0" marL="0">
              <a:buNone/>
            </a:pPr>
            <a:r>
              <a:rPr lang="en-US" sz="1600" dirty="0">
                <a:solidFill>
                  <a:srgbClr val="FFAA00"/>
                </a:solidFill>
                <a:latin typeface="Trebuchet MS" pitchFamily="34" charset="0"/>
                <a:ea typeface="Trebuchet MS" pitchFamily="34" charset="-122"/>
                <a:cs typeface="Trebuchet MS" pitchFamily="34" charset="-120"/>
              </a:rPr>
              <a: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12"/>
        </a:solidFill>
      </p:bgPr>
    </p:bg>
    <p:spTree>
      <p:nvGrpSpPr>
        <p:cNvPr id="1" name=""/>
        <p:cNvGrpSpPr/>
        <p:nvPr/>
      </p:nvGrpSpPr>
      <p:grpSpPr>
        <a:xfrm>
          <a:off x="0" y="0"/>
          <a:ext cx="0" cy="0"/>
          <a:chOff x="0" y="0"/>
          <a:chExt cx="0" cy="0"/>
        </a:xfrm>
      </p:grpSpPr>
      <p:sp>
        <p:nvSpPr>
          <p:cNvPr id="2" name="Shape 0"/>
          <p:cNvSpPr/>
          <p:nvPr/>
        </p:nvSpPr>
        <p:spPr>
          <a:xfrm>
            <a:off x="0" y="0"/>
            <a:ext cx="2011680" cy="548640"/>
          </a:xfrm>
          <a:prstGeom prst="rect">
            <a:avLst/>
          </a:prstGeom>
          <a:solidFill>
            <a:srgbClr val="FF9900"/>
          </a:solidFill>
          <a:ln/>
        </p:spPr>
      </p:sp>
      <p:sp>
        <p:nvSpPr>
          <p:cNvPr id="3" name="Shape 1"/>
          <p:cNvSpPr/>
          <p:nvPr/>
        </p:nvSpPr>
        <p:spPr>
          <a:xfrm>
            <a:off x="0" y="0"/>
            <a:ext cx="548640" cy="5143500"/>
          </a:xfrm>
          <a:prstGeom prst="rect">
            <a:avLst/>
          </a:prstGeom>
          <a:solidFill>
            <a:srgbClr val="FF9900"/>
          </a:solidFill>
          <a:ln/>
        </p:spPr>
      </p:sp>
      <p:sp>
        <p:nvSpPr>
          <p:cNvPr id="4" name="Shape 2"/>
          <p:cNvSpPr/>
          <p:nvPr/>
        </p:nvSpPr>
        <p:spPr>
          <a:xfrm>
            <a:off x="0" y="4594860"/>
            <a:ext cx="2011680" cy="548640"/>
          </a:xfrm>
          <a:prstGeom prst="rect">
            <a:avLst/>
          </a:prstGeom>
          <a:solidFill>
            <a:srgbClr val="CC99CC"/>
          </a:solidFill>
          <a:ln/>
        </p:spPr>
      </p:sp>
      <p:sp>
        <p:nvSpPr>
          <p:cNvPr id="5" name="Shape 3"/>
          <p:cNvSpPr/>
          <p:nvPr/>
        </p:nvSpPr>
        <p:spPr>
          <a:xfrm>
            <a:off x="457200" y="365760"/>
            <a:ext cx="1691640" cy="731520"/>
          </a:xfrm>
          <a:prstGeom prst="roundRect">
            <a:avLst>
              <a:gd name="adj" fmla="val 31250"/>
            </a:avLst>
          </a:prstGeom>
          <a:solidFill>
            <a:srgbClr val="0A0A12"/>
          </a:solidFill>
          <a:ln/>
        </p:spPr>
      </p:sp>
      <p:sp>
        <p:nvSpPr>
          <p:cNvPr id="6" name="Shape 4"/>
          <p:cNvSpPr/>
          <p:nvPr/>
        </p:nvSpPr>
        <p:spPr>
          <a:xfrm>
            <a:off x="457200" y="4069080"/>
            <a:ext cx="1691640" cy="731520"/>
          </a:xfrm>
          <a:prstGeom prst="roundRect">
            <a:avLst>
              <a:gd name="adj" fmla="val 31250"/>
            </a:avLst>
          </a:prstGeom>
          <a:solidFill>
            <a:srgbClr val="0A0A12"/>
          </a:solidFill>
          <a:ln/>
        </p:spPr>
      </p:sp>
      <p:sp>
        <p:nvSpPr>
          <p:cNvPr id="7" name="Shape 5"/>
          <p:cNvSpPr/>
          <p:nvPr/>
        </p:nvSpPr>
        <p:spPr>
          <a:xfrm>
            <a:off x="91440" y="1371600"/>
            <a:ext cx="365760" cy="228600"/>
          </a:xfrm>
          <a:prstGeom prst="rect">
            <a:avLst/>
          </a:prstGeom>
          <a:solidFill>
            <a:srgbClr val="FFCC99"/>
          </a:solidFill>
          <a:ln/>
        </p:spPr>
      </p:sp>
      <p:sp>
        <p:nvSpPr>
          <p:cNvPr id="8" name="Shape 6"/>
          <p:cNvSpPr/>
          <p:nvPr/>
        </p:nvSpPr>
        <p:spPr>
          <a:xfrm>
            <a:off x="91440" y="1691640"/>
            <a:ext cx="365760" cy="182880"/>
          </a:xfrm>
          <a:prstGeom prst="rect">
            <a:avLst/>
          </a:prstGeom>
          <a:solidFill>
            <a:srgbClr val="9999FF"/>
          </a:solidFill>
          <a:ln/>
        </p:spPr>
      </p:sp>
      <p:sp>
        <p:nvSpPr>
          <p:cNvPr id="9" name="Shape 7"/>
          <p:cNvSpPr/>
          <p:nvPr/>
        </p:nvSpPr>
        <p:spPr>
          <a:xfrm>
            <a:off x="91440" y="1965960"/>
            <a:ext cx="365760" cy="274320"/>
          </a:xfrm>
          <a:prstGeom prst="rect">
            <a:avLst/>
          </a:prstGeom>
          <a:solidFill>
            <a:srgbClr val="CC99CC"/>
          </a:solidFill>
          <a:ln/>
        </p:spPr>
      </p:sp>
      <p:sp>
        <p:nvSpPr>
          <p:cNvPr id="10" name="Shape 8"/>
          <p:cNvSpPr/>
          <p:nvPr/>
        </p:nvSpPr>
        <p:spPr>
          <a:xfrm>
            <a:off x="91440" y="2331720"/>
            <a:ext cx="365760" cy="137160"/>
          </a:xfrm>
          <a:prstGeom prst="rect">
            <a:avLst/>
          </a:prstGeom>
          <a:solidFill>
            <a:srgbClr val="66CCCC"/>
          </a:solidFill>
          <a:ln/>
        </p:spPr>
      </p:sp>
      <p:sp>
        <p:nvSpPr>
          <p:cNvPr id="11" name="Shape 9"/>
          <p:cNvSpPr/>
          <p:nvPr/>
        </p:nvSpPr>
        <p:spPr>
          <a:xfrm>
            <a:off x="91440" y="2560320"/>
            <a:ext cx="365760" cy="228600"/>
          </a:xfrm>
          <a:prstGeom prst="rect">
            <a:avLst/>
          </a:prstGeom>
          <a:solidFill>
            <a:srgbClr val="FFAA00"/>
          </a:solidFill>
          <a:ln/>
        </p:spPr>
      </p:sp>
      <p:sp>
        <p:nvSpPr>
          <p:cNvPr id="12" name="Shape 10"/>
          <p:cNvSpPr/>
          <p:nvPr/>
        </p:nvSpPr>
        <p:spPr>
          <a:xfrm>
            <a:off x="91440" y="2880360"/>
            <a:ext cx="365760" cy="182880"/>
          </a:xfrm>
          <a:prstGeom prst="rect">
            <a:avLst/>
          </a:prstGeom>
          <a:solidFill>
            <a:srgbClr val="9999FF"/>
          </a:solidFill>
          <a:ln/>
        </p:spPr>
      </p:sp>
      <p:sp>
        <p:nvSpPr>
          <p:cNvPr id="13" name="Shape 11"/>
          <p:cNvSpPr/>
          <p:nvPr/>
        </p:nvSpPr>
        <p:spPr>
          <a:xfrm>
            <a:off x="91440" y="3154680"/>
            <a:ext cx="365760" cy="137160"/>
          </a:xfrm>
          <a:prstGeom prst="rect">
            <a:avLst/>
          </a:prstGeom>
          <a:solidFill>
            <a:srgbClr val="FFCC99"/>
          </a:solidFill>
          <a:ln/>
        </p:spPr>
      </p:sp>
      <p:sp>
        <p:nvSpPr>
          <p:cNvPr id="14" name="Text 12"/>
          <p:cNvSpPr/>
          <p:nvPr/>
        </p:nvSpPr>
        <p:spPr>
          <a:xfrm>
            <a:off x="2286000" y="731520"/>
            <a:ext cx="6400800" cy="457200"/>
          </a:xfrm>
          <a:prstGeom prst="rect">
            <a:avLst/>
          </a:prstGeom>
          <a:noFill/>
          <a:ln/>
        </p:spPr>
        <p:txBody>
          <a:bodyPr wrap="square" lIns="0" tIns="0" rIns="0" bIns="0" rtlCol="0" anchor="ctr"/>
          <a:lstStyle/>
          <a:p>
            <a:pPr indent="0" marL="0">
              <a:buNone/>
            </a:pPr>
            <a:r>
              <a:rPr lang="en-US" sz="2800" b="1" dirty="0">
                <a:solidFill>
                  <a:srgbClr val="FF9900"/>
                </a:solidFill>
                <a:latin typeface="Trebuchet MS" pitchFamily="34" charset="0"/>
                <a:ea typeface="Trebuchet MS" pitchFamily="34" charset="-122"/>
                <a:cs typeface="Trebuchet MS" pitchFamily="34" charset="-120"/>
              </a:rPr>
              <a:t>KEY TAKEAWAYS</a:t>
            </a:r>
            <a:endParaRPr lang="en-US" sz="2800" dirty="0"/>
          </a:p>
        </p:txBody>
      </p:sp>
      <p:sp>
        <p:nvSpPr>
          <p:cNvPr id="15" name="Shape 13"/>
          <p:cNvSpPr/>
          <p:nvPr/>
        </p:nvSpPr>
        <p:spPr>
          <a:xfrm>
            <a:off x="2286000" y="1417320"/>
            <a:ext cx="73152" cy="365760"/>
          </a:xfrm>
          <a:prstGeom prst="rect">
            <a:avLst/>
          </a:prstGeom>
          <a:solidFill>
            <a:srgbClr val="FF9900"/>
          </a:solidFill>
          <a:ln/>
        </p:spPr>
      </p:sp>
      <p:sp>
        <p:nvSpPr>
          <p:cNvPr id="16" name="Text 14"/>
          <p:cNvSpPr/>
          <p:nvPr/>
        </p:nvSpPr>
        <p:spPr>
          <a:xfrm>
            <a:off x="2560320" y="1417320"/>
            <a:ext cx="5943600" cy="365760"/>
          </a:xfrm>
          <a:prstGeom prst="rect">
            <a:avLst/>
          </a:prstGeom>
          <a:noFill/>
          <a:ln/>
        </p:spPr>
        <p:txBody>
          <a:bodyPr wrap="square" lIns="0" tIns="0" rIns="0" bIns="0" rtlCol="0" anchor="ctr"/>
          <a:lstStyle/>
          <a:p>
            <a:pPr indent="0" marL="0">
              <a:buNone/>
            </a:pPr>
            <a:r>
              <a:rPr lang="en-US" sz="1600" dirty="0">
                <a:solidFill>
                  <a:srgbClr val="FF9900"/>
                </a:solidFill>
                <a:latin typeface="Trebuchet MS" pitchFamily="34" charset="0"/>
                <a:ea typeface="Trebuchet MS" pitchFamily="34" charset="-122"/>
                <a:cs typeface="Trebuchet MS" pitchFamily="34" charset="-120"/>
              </a:rPr>
              <a:t>The broker is always the source of truth.</a:t>
            </a:r>
            <a:endParaRPr lang="en-US" sz="1600" dirty="0"/>
          </a:p>
        </p:txBody>
      </p:sp>
      <p:sp>
        <p:nvSpPr>
          <p:cNvPr id="17" name="Shape 15"/>
          <p:cNvSpPr/>
          <p:nvPr/>
        </p:nvSpPr>
        <p:spPr>
          <a:xfrm>
            <a:off x="2286000" y="1920240"/>
            <a:ext cx="73152" cy="365760"/>
          </a:xfrm>
          <a:prstGeom prst="rect">
            <a:avLst/>
          </a:prstGeom>
          <a:solidFill>
            <a:srgbClr val="9999FF"/>
          </a:solidFill>
          <a:ln/>
        </p:spPr>
      </p:sp>
      <p:sp>
        <p:nvSpPr>
          <p:cNvPr id="18" name="Text 16"/>
          <p:cNvSpPr/>
          <p:nvPr/>
        </p:nvSpPr>
        <p:spPr>
          <a:xfrm>
            <a:off x="2560320" y="1920240"/>
            <a:ext cx="5943600" cy="365760"/>
          </a:xfrm>
          <a:prstGeom prst="rect">
            <a:avLst/>
          </a:prstGeom>
          <a:noFill/>
          <a:ln/>
        </p:spPr>
        <p:txBody>
          <a:bodyPr wrap="square" lIns="0" tIns="0" rIns="0" bIns="0" rtlCol="0" anchor="ctr"/>
          <a:lstStyle/>
          <a:p>
            <a:pPr indent="0" marL="0">
              <a:buNone/>
            </a:pPr>
            <a:r>
              <a:rPr lang="en-US" sz="1600" dirty="0">
                <a:solidFill>
                  <a:srgbClr val="9999FF"/>
                </a:solidFill>
                <a:latin typeface="Trebuchet MS" pitchFamily="34" charset="0"/>
                <a:ea typeface="Trebuchet MS" pitchFamily="34" charset="-122"/>
                <a:cs typeface="Trebuchet MS" pitchFamily="34" charset="-120"/>
              </a:rPr>
              <a:t>The database enriches what the broker can't see.</a:t>
            </a:r>
            <a:endParaRPr lang="en-US" sz="1600" dirty="0"/>
          </a:p>
        </p:txBody>
      </p:sp>
      <p:sp>
        <p:nvSpPr>
          <p:cNvPr id="19" name="Shape 17"/>
          <p:cNvSpPr/>
          <p:nvPr/>
        </p:nvSpPr>
        <p:spPr>
          <a:xfrm>
            <a:off x="2286000" y="2423160"/>
            <a:ext cx="73152" cy="365760"/>
          </a:xfrm>
          <a:prstGeom prst="rect">
            <a:avLst/>
          </a:prstGeom>
          <a:solidFill>
            <a:srgbClr val="66CCCC"/>
          </a:solidFill>
          <a:ln/>
        </p:spPr>
      </p:sp>
      <p:sp>
        <p:nvSpPr>
          <p:cNvPr id="20" name="Text 18"/>
          <p:cNvSpPr/>
          <p:nvPr/>
        </p:nvSpPr>
        <p:spPr>
          <a:xfrm>
            <a:off x="2560320" y="2423160"/>
            <a:ext cx="5943600" cy="365760"/>
          </a:xfrm>
          <a:prstGeom prst="rect">
            <a:avLst/>
          </a:prstGeom>
          <a:noFill/>
          <a:ln/>
        </p:spPr>
        <p:txBody>
          <a:bodyPr wrap="square" lIns="0" tIns="0" rIns="0" bIns="0" rtlCol="0" anchor="ctr"/>
          <a:lstStyle/>
          <a:p>
            <a:pPr indent="0" marL="0">
              <a:buNone/>
            </a:pPr>
            <a:r>
              <a:rPr lang="en-US" sz="1600" dirty="0">
                <a:solidFill>
                  <a:srgbClr val="66CCCC"/>
                </a:solidFill>
                <a:latin typeface="Trebuchet MS" pitchFamily="34" charset="0"/>
                <a:ea typeface="Trebuchet MS" pitchFamily="34" charset="-122"/>
                <a:cs typeface="Trebuchet MS" pitchFamily="34" charset="-120"/>
              </a:rPr>
              <a:t>Document intent before execution, not after.</a:t>
            </a:r>
            <a:endParaRPr lang="en-US" sz="1600" dirty="0"/>
          </a:p>
        </p:txBody>
      </p:sp>
      <p:sp>
        <p:nvSpPr>
          <p:cNvPr id="21" name="Shape 19"/>
          <p:cNvSpPr/>
          <p:nvPr/>
        </p:nvSpPr>
        <p:spPr>
          <a:xfrm>
            <a:off x="2286000" y="2926080"/>
            <a:ext cx="73152" cy="365760"/>
          </a:xfrm>
          <a:prstGeom prst="rect">
            <a:avLst/>
          </a:prstGeom>
          <a:solidFill>
            <a:srgbClr val="CC99CC"/>
          </a:solidFill>
          <a:ln/>
        </p:spPr>
      </p:sp>
      <p:sp>
        <p:nvSpPr>
          <p:cNvPr id="22" name="Text 20"/>
          <p:cNvSpPr/>
          <p:nvPr/>
        </p:nvSpPr>
        <p:spPr>
          <a:xfrm>
            <a:off x="2560320" y="2926080"/>
            <a:ext cx="5943600" cy="365760"/>
          </a:xfrm>
          <a:prstGeom prst="rect">
            <a:avLst/>
          </a:prstGeom>
          <a:noFill/>
          <a:ln/>
        </p:spPr>
        <p:txBody>
          <a:bodyPr wrap="square" lIns="0" tIns="0" rIns="0" bIns="0" rtlCol="0" anchor="ctr"/>
          <a:lstStyle/>
          <a:p>
            <a:pPr indent="0" marL="0">
              <a:buNone/>
            </a:pPr>
            <a:r>
              <a:rPr lang="en-US" sz="1600" dirty="0">
                <a:solidFill>
                  <a:srgbClr val="CC99CC"/>
                </a:solidFill>
                <a:latin typeface="Trebuchet MS" pitchFamily="34" charset="0"/>
                <a:ea typeface="Trebuchet MS" pitchFamily="34" charset="-122"/>
                <a:cs typeface="Trebuchet MS" pitchFamily="34" charset="-120"/>
              </a:rPr>
              <a:t>AI-assisted trading is dialogue, not delegation.</a:t>
            </a:r>
            <a:endParaRPr lang="en-US" sz="1600" dirty="0"/>
          </a:p>
        </p:txBody>
      </p:sp>
      <p:sp>
        <p:nvSpPr>
          <p:cNvPr id="23" name="Shape 21"/>
          <p:cNvSpPr/>
          <p:nvPr/>
        </p:nvSpPr>
        <p:spPr>
          <a:xfrm>
            <a:off x="2286000" y="3429000"/>
            <a:ext cx="73152" cy="365760"/>
          </a:xfrm>
          <a:prstGeom prst="rect">
            <a:avLst/>
          </a:prstGeom>
          <a:solidFill>
            <a:srgbClr val="FFAA00"/>
          </a:solidFill>
          <a:ln/>
        </p:spPr>
      </p:sp>
      <p:sp>
        <p:nvSpPr>
          <p:cNvPr id="24" name="Text 22"/>
          <p:cNvSpPr/>
          <p:nvPr/>
        </p:nvSpPr>
        <p:spPr>
          <a:xfrm>
            <a:off x="2560320" y="3429000"/>
            <a:ext cx="5943600" cy="365760"/>
          </a:xfrm>
          <a:prstGeom prst="rect">
            <a:avLst/>
          </a:prstGeom>
          <a:noFill/>
          <a:ln/>
        </p:spPr>
        <p:txBody>
          <a:bodyPr wrap="square" lIns="0" tIns="0" rIns="0" bIns="0" rtlCol="0" anchor="ctr"/>
          <a:lstStyle/>
          <a:p>
            <a:pPr indent="0" marL="0">
              <a:buNone/>
            </a:pPr>
            <a:r>
              <a:rPr lang="en-US" sz="1600" dirty="0">
                <a:solidFill>
                  <a:srgbClr val="FFAA00"/>
                </a:solidFill>
                <a:latin typeface="Trebuchet MS" pitchFamily="34" charset="0"/>
                <a:ea typeface="Trebuchet MS" pitchFamily="34" charset="-122"/>
                <a:cs typeface="Trebuchet MS" pitchFamily="34" charset="-120"/>
              </a:rPr>
              <a:t>Every error is a lesson that improves the system.</a:t>
            </a:r>
            <a:endParaRPr lang="en-US" sz="1600" dirty="0"/>
          </a:p>
        </p:txBody>
      </p:sp>
      <p:sp>
        <p:nvSpPr>
          <p:cNvPr id="25" name="Shape 23"/>
          <p:cNvSpPr/>
          <p:nvPr/>
        </p:nvSpPr>
        <p:spPr>
          <a:xfrm>
            <a:off x="2011680" y="4160520"/>
            <a:ext cx="7132320" cy="731520"/>
          </a:xfrm>
          <a:prstGeom prst="rect">
            <a:avLst/>
          </a:prstGeom>
          <a:solidFill>
            <a:srgbClr val="111122"/>
          </a:solidFill>
          <a:ln/>
        </p:spPr>
      </p:sp>
      <p:sp>
        <p:nvSpPr>
          <p:cNvPr id="26" name="Text 24"/>
          <p:cNvSpPr/>
          <p:nvPr/>
        </p:nvSpPr>
        <p:spPr>
          <a:xfrm>
            <a:off x="2194560" y="4206240"/>
            <a:ext cx="6766560" cy="640080"/>
          </a:xfrm>
          <a:prstGeom prst="rect">
            <a:avLst/>
          </a:prstGeom>
          <a:noFill/>
          <a:ln/>
        </p:spPr>
        <p:txBody>
          <a:bodyPr wrap="square" lIns="0" tIns="0" rIns="0" bIns="0" rtlCol="0" anchor="ctr"/>
          <a:lstStyle/>
          <a:p>
            <a:pPr algn="ctr" indent="0" marL="0">
              <a:lnSpc>
                <a:spcPct val="130000"/>
              </a:lnSpc>
              <a:buNone/>
            </a:pPr>
            <a:r>
              <a:rPr lang="en-US" sz="1300" i="1" dirty="0">
                <a:solidFill>
                  <a:srgbClr val="FFCC99"/>
                </a:solidFill>
                <a:latin typeface="Trebuchet MS" pitchFamily="34" charset="0"/>
                <a:ea typeface="Trebuchet MS" pitchFamily="34" charset="-122"/>
                <a:cs typeface="Trebuchet MS" pitchFamily="34" charset="-120"/>
              </a:rPr>
              <a:t>"The value of this system isn't perfection — it's the ability to catch mistakes,</a:t>
            </a:r>
            <a:endParaRPr lang="en-US" sz="1300" dirty="0"/>
          </a:p>
          <a:p>
            <a:pPr algn="ctr" indent="0" marL="0">
              <a:lnSpc>
                <a:spcPct val="130000"/>
              </a:lnSpc>
              <a:buNone/>
            </a:pPr>
            <a:r>
              <a:rPr lang="en-US" sz="1300" i="1" dirty="0">
                <a:solidFill>
                  <a:srgbClr val="FFCC99"/>
                </a:solidFill>
                <a:latin typeface="Trebuchet MS" pitchFamily="34" charset="0"/>
                <a:ea typeface="Trebuchet MS" pitchFamily="34" charset="-122"/>
                <a:cs typeface="Trebuchet MS" pitchFamily="34" charset="-120"/>
              </a:rPr>
              <a:t>learn from them, and continuously improve the process."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 Use Claude Projects to Manage My Options Trading</dc:title>
  <dc:subject>PptxGenJS Presentation</dc:subject>
  <dc:creator>Don</dc:creator>
  <cp:lastModifiedBy>Don</cp:lastModifiedBy>
  <cp:revision>1</cp:revision>
  <dcterms:created xsi:type="dcterms:W3CDTF">2026-02-10T17:24:14Z</dcterms:created>
  <dcterms:modified xsi:type="dcterms:W3CDTF">2026-02-10T17:24:14Z</dcterms:modified>
</cp:coreProperties>
</file>